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Project Review 1. The application has not been developed yet; this review covers problem definition, the dataset, statistical analysis, EDA and the proposed ML methodology.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Regression problem. Review 1 stops at methodology; model results come in Review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Asking price, not transaction price. Karnataka does not publish transaction prices. This is a stated limitation, not an oversight.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Weak individual correlations are themselves a finding: they justify multivariate, non-linear models.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values are invented. Preliminary experiments have been carried out; results are reserved for Review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365D"/>
        </a:solidFill>
      </p:bgPr>
    </p:bg>
    <p:spTree>
      <p:nvGrpSpPr>
        <p:cNvPr id="1" name=""/>
        <p:cNvGrpSpPr/>
        <p:nvPr/>
      </p:nvGrpSpPr>
      <p:grpSpPr>
        <a:xfrm>
          <a:off x="0" y="0"/>
          <a:ext cx="0" cy="0"/>
          <a:chOff x="0" y="0"/>
          <a:chExt cx="0" cy="0"/>
        </a:xfrm>
      </p:grpSpPr>
      <p:sp>
        <p:nvSpPr>
          <p:cNvPr id="2" name="Shape 0"/>
          <p:cNvSpPr/>
          <p:nvPr/>
        </p:nvSpPr>
        <p:spPr>
          <a:xfrm>
            <a:off x="9509760" y="-1371600"/>
            <a:ext cx="4206240" cy="4206240"/>
          </a:xfrm>
          <a:prstGeom prst="ellipse">
            <a:avLst/>
          </a:prstGeom>
          <a:solidFill>
            <a:srgbClr val="12243F"/>
          </a:solidFill>
          <a:ln w="12700">
            <a:solidFill>
              <a:srgbClr val="12243F"/>
            </a:solidFill>
            <a:prstDash val="solid"/>
          </a:ln>
        </p:spPr>
      </p:sp>
      <p:sp>
        <p:nvSpPr>
          <p:cNvPr id="3" name="Shape 1"/>
          <p:cNvSpPr/>
          <p:nvPr/>
        </p:nvSpPr>
        <p:spPr>
          <a:xfrm>
            <a:off x="10607040" y="4663440"/>
            <a:ext cx="2743200" cy="2743200"/>
          </a:xfrm>
          <a:prstGeom prst="ellipse">
            <a:avLst/>
          </a:prstGeom>
          <a:solidFill>
            <a:srgbClr val="12243F"/>
          </a:solidFill>
          <a:ln w="12700">
            <a:solidFill>
              <a:srgbClr val="12243F"/>
            </a:solidFill>
            <a:prstDash val="solid"/>
          </a:ln>
        </p:spPr>
      </p:sp>
      <p:sp>
        <p:nvSpPr>
          <p:cNvPr id="4" name="Text 2"/>
          <p:cNvSpPr/>
          <p:nvPr/>
        </p:nvSpPr>
        <p:spPr>
          <a:xfrm>
            <a:off x="566928" y="685800"/>
            <a:ext cx="10058400" cy="274320"/>
          </a:xfrm>
          <a:prstGeom prst="rect">
            <a:avLst/>
          </a:prstGeom>
          <a:noFill/>
          <a:ln/>
        </p:spPr>
        <p:txBody>
          <a:bodyPr wrap="square" lIns="0" tIns="0" rIns="0" bIns="0" rtlCol="0" anchor="ctr"/>
          <a:lstStyle/>
          <a:p>
            <a:pPr indent="0" marL="0">
              <a:buNone/>
            </a:pPr>
            <a:r>
              <a:rPr lang="en-US" sz="1250" b="1" spc="180" kern="0" dirty="0">
                <a:solidFill>
                  <a:srgbClr val="9FB3D1"/>
                </a:solidFill>
                <a:latin typeface="Calibri" pitchFamily="34" charset="0"/>
                <a:ea typeface="Calibri" pitchFamily="34" charset="-122"/>
                <a:cs typeface="Calibri" pitchFamily="34" charset="-120"/>
              </a:rPr>
              <a:t>SRM INSTITUTE OF SCIENCE AND TECHNOLOGY</a:t>
            </a:r>
            <a:endParaRPr lang="en-US" sz="1250" dirty="0"/>
          </a:p>
        </p:txBody>
      </p:sp>
      <p:sp>
        <p:nvSpPr>
          <p:cNvPr id="5" name="Text 3"/>
          <p:cNvSpPr/>
          <p:nvPr/>
        </p:nvSpPr>
        <p:spPr>
          <a:xfrm>
            <a:off x="566928" y="1417320"/>
            <a:ext cx="9509760" cy="1737360"/>
          </a:xfrm>
          <a:prstGeom prst="rect">
            <a:avLst/>
          </a:prstGeom>
          <a:noFill/>
          <a:ln/>
        </p:spPr>
        <p:txBody>
          <a:bodyPr wrap="square" lIns="0" tIns="0" rIns="0" bIns="0" rtlCol="0" anchor="ctr"/>
          <a:lstStyle/>
          <a:p>
            <a:pPr indent="0" marL="0">
              <a:lnSpc>
                <a:spcPts val="4600"/>
              </a:lnSpc>
              <a:buNone/>
            </a:pPr>
            <a:r>
              <a:rPr lang="en-US" sz="4000" b="1" dirty="0">
                <a:solidFill>
                  <a:srgbClr val="FFFFFF"/>
                </a:solidFill>
                <a:latin typeface="Cambria" pitchFamily="34" charset="0"/>
                <a:ea typeface="Cambria" pitchFamily="34" charset="-122"/>
                <a:cs typeface="Cambria" pitchFamily="34" charset="-120"/>
              </a:rPr>
              <a:t>Bengaluru AI Property &amp;</a:t>
            </a:r>
            <a:endParaRPr lang="en-US" sz="4000" dirty="0"/>
          </a:p>
          <a:p>
            <a:pPr indent="0" marL="0">
              <a:lnSpc>
                <a:spcPts val="4600"/>
              </a:lnSpc>
              <a:buNone/>
            </a:pPr>
            <a:r>
              <a:rPr lang="en-US" sz="4000" b="1" dirty="0">
                <a:solidFill>
                  <a:srgbClr val="FFFFFF"/>
                </a:solidFill>
                <a:latin typeface="Cambria" pitchFamily="34" charset="0"/>
                <a:ea typeface="Cambria" pitchFamily="34" charset="-122"/>
                <a:cs typeface="Cambria" pitchFamily="34" charset="-120"/>
              </a:rPr>
              <a:t>Urban Intelligence Platform</a:t>
            </a:r>
            <a:endParaRPr lang="en-US" sz="4000" dirty="0"/>
          </a:p>
        </p:txBody>
      </p:sp>
      <p:sp>
        <p:nvSpPr>
          <p:cNvPr id="6" name="Text 4"/>
          <p:cNvSpPr/>
          <p:nvPr/>
        </p:nvSpPr>
        <p:spPr>
          <a:xfrm>
            <a:off x="566928" y="3246120"/>
            <a:ext cx="9509760" cy="384048"/>
          </a:xfrm>
          <a:prstGeom prst="rect">
            <a:avLst/>
          </a:prstGeom>
          <a:noFill/>
          <a:ln/>
        </p:spPr>
        <p:txBody>
          <a:bodyPr wrap="square" lIns="0" tIns="0" rIns="0" bIns="0" rtlCol="0" anchor="ctr"/>
          <a:lstStyle/>
          <a:p>
            <a:pPr indent="0" marL="0">
              <a:buNone/>
            </a:pPr>
            <a:r>
              <a:rPr lang="en-US" sz="1800" i="1" dirty="0">
                <a:solidFill>
                  <a:srgbClr val="E8B98C"/>
                </a:solidFill>
                <a:latin typeface="Calibri" pitchFamily="34" charset="0"/>
                <a:ea typeface="Calibri" pitchFamily="34" charset="-122"/>
                <a:cs typeface="Calibri" pitchFamily="34" charset="-120"/>
              </a:rPr>
              <a:t>Machine Learning Based Property Price Prediction</a:t>
            </a:r>
            <a:endParaRPr lang="en-US" sz="1800" dirty="0"/>
          </a:p>
        </p:txBody>
      </p:sp>
      <p:sp>
        <p:nvSpPr>
          <p:cNvPr id="7" name="Shape 5"/>
          <p:cNvSpPr/>
          <p:nvPr/>
        </p:nvSpPr>
        <p:spPr>
          <a:xfrm>
            <a:off x="566928" y="3950208"/>
            <a:ext cx="2286000" cy="402336"/>
          </a:xfrm>
          <a:prstGeom prst="roundRect">
            <a:avLst>
              <a:gd name="adj" fmla="val 13636"/>
            </a:avLst>
          </a:prstGeom>
          <a:solidFill>
            <a:srgbClr val="FFFFFF"/>
          </a:solidFill>
          <a:ln w="12700">
            <a:solidFill>
              <a:srgbClr val="FFFFFF"/>
            </a:solidFill>
            <a:prstDash val="solid"/>
          </a:ln>
        </p:spPr>
      </p:sp>
      <p:sp>
        <p:nvSpPr>
          <p:cNvPr id="8" name="Text 6"/>
          <p:cNvSpPr/>
          <p:nvPr/>
        </p:nvSpPr>
        <p:spPr>
          <a:xfrm>
            <a:off x="566928" y="3950208"/>
            <a:ext cx="2286000" cy="402336"/>
          </a:xfrm>
          <a:prstGeom prst="rect">
            <a:avLst/>
          </a:prstGeom>
          <a:noFill/>
          <a:ln/>
        </p:spPr>
        <p:txBody>
          <a:bodyPr wrap="square" lIns="0" tIns="0" rIns="0" bIns="0" rtlCol="0" anchor="ctr"/>
          <a:lstStyle/>
          <a:p>
            <a:pPr algn="ctr" indent="0" marL="0">
              <a:buNone/>
            </a:pPr>
            <a:r>
              <a:rPr lang="en-US" sz="1150" b="1" spc="80" kern="0" dirty="0">
                <a:solidFill>
                  <a:srgbClr val="1B365D"/>
                </a:solidFill>
                <a:latin typeface="Calibri" pitchFamily="34" charset="0"/>
                <a:ea typeface="Calibri" pitchFamily="34" charset="-122"/>
                <a:cs typeface="Calibri" pitchFamily="34" charset="-120"/>
              </a:rPr>
              <a:t>PROJECT REVIEW – 1</a:t>
            </a:r>
            <a:endParaRPr lang="en-US" sz="1150" dirty="0"/>
          </a:p>
        </p:txBody>
      </p:sp>
      <p:sp>
        <p:nvSpPr>
          <p:cNvPr id="9" name="Text 7"/>
          <p:cNvSpPr/>
          <p:nvPr/>
        </p:nvSpPr>
        <p:spPr>
          <a:xfrm>
            <a:off x="566928" y="4617720"/>
            <a:ext cx="5486400" cy="640080"/>
          </a:xfrm>
          <a:prstGeom prst="rect">
            <a:avLst/>
          </a:prstGeom>
          <a:noFill/>
          <a:ln/>
        </p:spPr>
        <p:txBody>
          <a:bodyPr wrap="square" lIns="0" tIns="0" rIns="0" bIns="0" rtlCol="0" anchor="ctr"/>
          <a:lstStyle/>
          <a:p>
            <a:pPr indent="0" marL="0">
              <a:lnSpc>
                <a:spcPts val="2000"/>
              </a:lnSpc>
              <a:buNone/>
            </a:pPr>
            <a:r>
              <a:rPr lang="en-US" sz="1350" dirty="0">
                <a:solidFill>
                  <a:srgbClr val="C9D6E8"/>
                </a:solidFill>
                <a:latin typeface="Calibri" pitchFamily="34" charset="0"/>
                <a:ea typeface="Calibri" pitchFamily="34" charset="-122"/>
                <a:cs typeface="Calibri" pitchFamily="34" charset="-120"/>
              </a:rPr>
              <a:t>B.Tech — Computer Science and Engineering</a:t>
            </a:r>
            <a:endParaRPr lang="en-US" sz="1350" dirty="0"/>
          </a:p>
          <a:p>
            <a:pPr indent="0" marL="0">
              <a:lnSpc>
                <a:spcPts val="2000"/>
              </a:lnSpc>
              <a:buNone/>
            </a:pPr>
            <a:r>
              <a:rPr lang="en-US" sz="1350" dirty="0">
                <a:solidFill>
                  <a:srgbClr val="C9D6E8"/>
                </a:solidFill>
                <a:latin typeface="Calibri" pitchFamily="34" charset="0"/>
                <a:ea typeface="Calibri" pitchFamily="34" charset="-122"/>
                <a:cs typeface="Calibri" pitchFamily="34" charset="-120"/>
              </a:rPr>
              <a:t>Artificial Intelligence and Machine Learning</a:t>
            </a:r>
            <a:endParaRPr lang="en-US" sz="1350" dirty="0"/>
          </a:p>
        </p:txBody>
      </p:sp>
      <p:sp>
        <p:nvSpPr>
          <p:cNvPr id="10" name="Text 8"/>
          <p:cNvSpPr/>
          <p:nvPr/>
        </p:nvSpPr>
        <p:spPr>
          <a:xfrm>
            <a:off x="6949440" y="4590288"/>
            <a:ext cx="2377440" cy="1005840"/>
          </a:xfrm>
          <a:prstGeom prst="rect">
            <a:avLst/>
          </a:prstGeom>
          <a:noFill/>
          <a:ln/>
        </p:spPr>
        <p:txBody>
          <a:bodyPr wrap="square" lIns="0" tIns="0" rIns="0" bIns="0" rtlCol="0" anchor="ctr"/>
          <a:lstStyle/>
          <a:p>
            <a:pPr indent="0" marL="0">
              <a:buNone/>
            </a:pPr>
            <a:r>
              <a:rPr lang="en-US" sz="1050" b="1" dirty="0">
                <a:solidFill>
                  <a:srgbClr val="8FA6C4"/>
                </a:solidFill>
                <a:latin typeface="Calibri" pitchFamily="34" charset="0"/>
                <a:ea typeface="Calibri" pitchFamily="34" charset="-122"/>
                <a:cs typeface="Calibri" pitchFamily="34" charset="-120"/>
              </a:rPr>
              <a:t>Submitted by
</a:t>
            </a:r>
            <a:endParaRPr lang="en-US" sz="1050" dirty="0"/>
          </a:p>
          <a:p>
            <a:pPr indent="0" marL="0">
              <a:buNone/>
            </a:pPr>
            <a:r>
              <a:rPr lang="en-US" sz="1500" b="1" dirty="0">
                <a:solidFill>
                  <a:srgbClr val="FFFFFF"/>
                </a:solidFill>
                <a:latin typeface="Calibri" pitchFamily="34" charset="0"/>
                <a:ea typeface="Calibri" pitchFamily="34" charset="-122"/>
                <a:cs typeface="Calibri" pitchFamily="34" charset="-120"/>
              </a:rPr>
              <a:t>UJWAL M
</a:t>
            </a:r>
            <a:endParaRPr lang="en-US" sz="1050" dirty="0"/>
          </a:p>
          <a:p>
            <a:pPr indent="0" marL="0">
              <a:buNone/>
            </a:pPr>
            <a:r>
              <a:rPr lang="en-US" sz="1150" dirty="0">
                <a:solidFill>
                  <a:srgbClr val="C9D6E8"/>
                </a:solidFill>
                <a:latin typeface="Calibri" pitchFamily="34" charset="0"/>
                <a:ea typeface="Calibri" pitchFamily="34" charset="-122"/>
                <a:cs typeface="Calibri" pitchFamily="34" charset="-120"/>
              </a:rPr>
              <a:t>Register Number: [Register Number]</a:t>
            </a:r>
            <a:endParaRPr lang="en-US" sz="1050" dirty="0"/>
          </a:p>
        </p:txBody>
      </p:sp>
      <p:sp>
        <p:nvSpPr>
          <p:cNvPr id="11" name="Text 9"/>
          <p:cNvSpPr/>
          <p:nvPr/>
        </p:nvSpPr>
        <p:spPr>
          <a:xfrm>
            <a:off x="9418320" y="4590288"/>
            <a:ext cx="2194560" cy="1005840"/>
          </a:xfrm>
          <a:prstGeom prst="rect">
            <a:avLst/>
          </a:prstGeom>
          <a:noFill/>
          <a:ln/>
        </p:spPr>
        <p:txBody>
          <a:bodyPr wrap="square" lIns="0" tIns="0" rIns="0" bIns="0" rtlCol="0" anchor="ctr"/>
          <a:lstStyle/>
          <a:p>
            <a:pPr indent="0" marL="0">
              <a:buNone/>
            </a:pPr>
            <a:r>
              <a:rPr lang="en-US" sz="1050" b="1" dirty="0">
                <a:solidFill>
                  <a:srgbClr val="8FA6C4"/>
                </a:solidFill>
                <a:latin typeface="Calibri" pitchFamily="34" charset="0"/>
                <a:ea typeface="Calibri" pitchFamily="34" charset="-122"/>
                <a:cs typeface="Calibri" pitchFamily="34" charset="-120"/>
              </a:rPr>
              <a:t>Faculty Guide
</a:t>
            </a:r>
            <a:endParaRPr lang="en-US" sz="1050" dirty="0"/>
          </a:p>
          <a:p>
            <a:pPr indent="0" marL="0">
              <a:buNone/>
            </a:pPr>
            <a:r>
              <a:rPr lang="en-US" sz="1500" b="1" dirty="0">
                <a:solidFill>
                  <a:srgbClr val="FFFFFF"/>
                </a:solidFill>
                <a:latin typeface="Calibri" pitchFamily="34" charset="0"/>
                <a:ea typeface="Calibri" pitchFamily="34" charset="-122"/>
                <a:cs typeface="Calibri" pitchFamily="34" charset="-120"/>
              </a:rPr>
              <a:t>[Faculty Name]
</a:t>
            </a:r>
            <a:endParaRPr lang="en-US" sz="1050" dirty="0"/>
          </a:p>
          <a:p>
            <a:pPr indent="0" marL="0">
              <a:buNone/>
            </a:pPr>
            <a:r>
              <a:rPr lang="en-US" sz="1150" dirty="0">
                <a:solidFill>
                  <a:srgbClr val="C9D6E8"/>
                </a:solidFill>
                <a:latin typeface="Calibri" pitchFamily="34" charset="0"/>
                <a:ea typeface="Calibri" pitchFamily="34" charset="-122"/>
                <a:cs typeface="Calibri" pitchFamily="34" charset="-120"/>
              </a:rPr>
              <a:t>Department of Computing Technologies</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8229600" cy="237744"/>
          </a:xfrm>
          <a:prstGeom prst="rect">
            <a:avLst/>
          </a:prstGeom>
          <a:noFill/>
          <a:ln/>
        </p:spPr>
        <p:txBody>
          <a:bodyPr wrap="square" lIns="0" tIns="0" rIns="0" bIns="0" rtlCol="0" anchor="ctr"/>
          <a:lstStyle/>
          <a:p>
            <a:pPr indent="0" marL="0">
              <a:buNone/>
            </a:pPr>
            <a:r>
              <a:rPr lang="en-US" sz="1100" b="1" spc="160" kern="0" dirty="0">
                <a:solidFill>
                  <a:srgbClr val="C2703A"/>
                </a:solidFill>
                <a:latin typeface="Calibri" pitchFamily="34" charset="0"/>
                <a:ea typeface="Calibri" pitchFamily="34" charset="-122"/>
                <a:cs typeface="Calibri" pitchFamily="34" charset="-120"/>
              </a:rPr>
              <a:t>OVERVIEW</a:t>
            </a:r>
            <a:endParaRPr lang="en-US" sz="1100" dirty="0"/>
          </a:p>
        </p:txBody>
      </p:sp>
      <p:sp>
        <p:nvSpPr>
          <p:cNvPr id="3" name="Text 1"/>
          <p:cNvSpPr/>
          <p:nvPr/>
        </p:nvSpPr>
        <p:spPr>
          <a:xfrm>
            <a:off x="566928" y="566928"/>
            <a:ext cx="11027664" cy="566928"/>
          </a:xfrm>
          <a:prstGeom prst="rect">
            <a:avLst/>
          </a:prstGeom>
          <a:noFill/>
          <a:ln/>
        </p:spPr>
        <p:txBody>
          <a:bodyPr wrap="square" lIns="0" tIns="0" rIns="0" bIns="0" rtlCol="0" anchor="ctr"/>
          <a:lstStyle/>
          <a:p>
            <a:pPr indent="0" marL="0">
              <a:buNone/>
            </a:pPr>
            <a:r>
              <a:rPr lang="en-US" sz="3000" b="1" dirty="0">
                <a:solidFill>
                  <a:srgbClr val="1B365D"/>
                </a:solidFill>
                <a:latin typeface="Cambria" pitchFamily="34" charset="0"/>
                <a:ea typeface="Cambria" pitchFamily="34" charset="-122"/>
                <a:cs typeface="Cambria" pitchFamily="34" charset="-120"/>
              </a:rPr>
              <a:t>Introduction</a:t>
            </a:r>
            <a:endParaRPr lang="en-US" sz="3000" dirty="0"/>
          </a:p>
        </p:txBody>
      </p:sp>
      <p:sp>
        <p:nvSpPr>
          <p:cNvPr id="4" name="Text 2"/>
          <p:cNvSpPr/>
          <p:nvPr/>
        </p:nvSpPr>
        <p:spPr>
          <a:xfrm>
            <a:off x="566928" y="1371600"/>
            <a:ext cx="6492240" cy="914400"/>
          </a:xfrm>
          <a:prstGeom prst="rect">
            <a:avLst/>
          </a:prstGeom>
          <a:noFill/>
          <a:ln/>
        </p:spPr>
        <p:txBody>
          <a:bodyPr wrap="square" lIns="0" tIns="0" rIns="0" bIns="0" rtlCol="0" anchor="ctr"/>
          <a:lstStyle/>
          <a:p>
            <a:pPr indent="0" marL="0">
              <a:lnSpc>
                <a:spcPts val="2200"/>
              </a:lnSpc>
              <a:buNone/>
            </a:pPr>
            <a:r>
              <a:rPr lang="en-US" sz="1450" dirty="0">
                <a:solidFill>
                  <a:srgbClr val="1F2430"/>
                </a:solidFill>
                <a:latin typeface="Calibri" pitchFamily="34" charset="0"/>
                <a:ea typeface="Calibri" pitchFamily="34" charset="-122"/>
                <a:cs typeface="Calibri" pitchFamily="34" charset="-120"/>
              </a:rPr>
              <a:t>The proposed project applies machine learning to estimate residential property prices in Bengaluru using property characteristics together with location-related features. Property price is treated as a continuous target, making this a supervised regression problem.</a:t>
            </a:r>
            <a:endParaRPr lang="en-US" sz="1450" dirty="0"/>
          </a:p>
        </p:txBody>
      </p:sp>
      <p:sp>
        <p:nvSpPr>
          <p:cNvPr id="5" name="Text 3"/>
          <p:cNvSpPr/>
          <p:nvPr/>
        </p:nvSpPr>
        <p:spPr>
          <a:xfrm>
            <a:off x="566928" y="2395728"/>
            <a:ext cx="6492240" cy="274320"/>
          </a:xfrm>
          <a:prstGeom prst="rect">
            <a:avLst/>
          </a:prstGeom>
          <a:noFill/>
          <a:ln/>
        </p:spPr>
        <p:txBody>
          <a:bodyPr wrap="square" lIns="0" tIns="0" rIns="0" bIns="0" rtlCol="0" anchor="ctr"/>
          <a:lstStyle/>
          <a:p>
            <a:pPr indent="0" marL="0">
              <a:buNone/>
            </a:pPr>
            <a:r>
              <a:rPr lang="en-US" sz="1300" i="1" dirty="0">
                <a:solidFill>
                  <a:srgbClr val="5C6675"/>
                </a:solidFill>
                <a:latin typeface="Calibri" pitchFamily="34" charset="0"/>
                <a:ea typeface="Calibri" pitchFamily="34" charset="-122"/>
                <a:cs typeface="Calibri" pitchFamily="34" charset="-120"/>
              </a:rPr>
              <a:t>Property price is influenced simultaneously by several groups of factors:</a:t>
            </a:r>
            <a:endParaRPr lang="en-US" sz="1300" dirty="0"/>
          </a:p>
        </p:txBody>
      </p:sp>
      <p:sp>
        <p:nvSpPr>
          <p:cNvPr id="6" name="Shape 4"/>
          <p:cNvSpPr/>
          <p:nvPr/>
        </p:nvSpPr>
        <p:spPr>
          <a:xfrm>
            <a:off x="566928" y="2798064"/>
            <a:ext cx="365760" cy="365760"/>
          </a:xfrm>
          <a:prstGeom prst="ellipse">
            <a:avLst/>
          </a:prstGeom>
          <a:solidFill>
            <a:srgbClr val="1B365D"/>
          </a:solidFill>
          <a:ln w="12700">
            <a:solidFill>
              <a:srgbClr val="1B365D"/>
            </a:solidFill>
            <a:prstDash val="solid"/>
          </a:ln>
        </p:spPr>
      </p:sp>
      <p:sp>
        <p:nvSpPr>
          <p:cNvPr id="7" name="Text 5"/>
          <p:cNvSpPr/>
          <p:nvPr/>
        </p:nvSpPr>
        <p:spPr>
          <a:xfrm>
            <a:off x="566928" y="2798064"/>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8" name="Text 6"/>
          <p:cNvSpPr/>
          <p:nvPr/>
        </p:nvSpPr>
        <p:spPr>
          <a:xfrm>
            <a:off x="1097280" y="2770632"/>
            <a:ext cx="5852160" cy="237744"/>
          </a:xfrm>
          <a:prstGeom prst="rect">
            <a:avLst/>
          </a:prstGeom>
          <a:noFill/>
          <a:ln/>
        </p:spPr>
        <p:txBody>
          <a:bodyPr wrap="square" lIns="0" tIns="0" rIns="0" bIns="0" rtlCol="0" anchor="ctr"/>
          <a:lstStyle/>
          <a:p>
            <a:pPr indent="0" marL="0">
              <a:buNone/>
            </a:pPr>
            <a:r>
              <a:rPr lang="en-US" sz="1350" b="1" dirty="0">
                <a:solidFill>
                  <a:srgbClr val="1B365D"/>
                </a:solidFill>
                <a:latin typeface="Calibri" pitchFamily="34" charset="0"/>
                <a:ea typeface="Calibri" pitchFamily="34" charset="-122"/>
                <a:cs typeface="Calibri" pitchFamily="34" charset="-120"/>
              </a:rPr>
              <a:t>Physical attributes</a:t>
            </a:r>
            <a:endParaRPr lang="en-US" sz="1350" dirty="0"/>
          </a:p>
        </p:txBody>
      </p:sp>
      <p:sp>
        <p:nvSpPr>
          <p:cNvPr id="9" name="Text 7"/>
          <p:cNvSpPr/>
          <p:nvPr/>
        </p:nvSpPr>
        <p:spPr>
          <a:xfrm>
            <a:off x="1097280" y="3017520"/>
            <a:ext cx="5852160" cy="237744"/>
          </a:xfrm>
          <a:prstGeom prst="rect">
            <a:avLst/>
          </a:prstGeom>
          <a:noFill/>
          <a:ln/>
        </p:spPr>
        <p:txBody>
          <a:bodyPr wrap="square" lIns="0" tIns="0" rIns="0" bIns="0" rtlCol="0" anchor="ctr"/>
          <a:lstStyle/>
          <a:p>
            <a:pPr indent="0" marL="0">
              <a:buNone/>
            </a:pPr>
            <a:r>
              <a:rPr lang="en-US" sz="1200" dirty="0">
                <a:solidFill>
                  <a:srgbClr val="5C6675"/>
                </a:solidFill>
                <a:latin typeface="Calibri" pitchFamily="34" charset="0"/>
                <a:ea typeface="Calibri" pitchFamily="34" charset="-122"/>
                <a:cs typeface="Calibri" pitchFamily="34" charset="-120"/>
              </a:rPr>
              <a:t>Built-up area, configuration (BHK), bathrooms, balconies</a:t>
            </a:r>
            <a:endParaRPr lang="en-US" sz="1200" dirty="0"/>
          </a:p>
        </p:txBody>
      </p:sp>
      <p:sp>
        <p:nvSpPr>
          <p:cNvPr id="10" name="Shape 8"/>
          <p:cNvSpPr/>
          <p:nvPr/>
        </p:nvSpPr>
        <p:spPr>
          <a:xfrm>
            <a:off x="566928" y="3511296"/>
            <a:ext cx="365760" cy="365760"/>
          </a:xfrm>
          <a:prstGeom prst="ellipse">
            <a:avLst/>
          </a:prstGeom>
          <a:solidFill>
            <a:srgbClr val="1B365D"/>
          </a:solidFill>
          <a:ln w="12700">
            <a:solidFill>
              <a:srgbClr val="1B365D"/>
            </a:solidFill>
            <a:prstDash val="solid"/>
          </a:ln>
        </p:spPr>
      </p:sp>
      <p:sp>
        <p:nvSpPr>
          <p:cNvPr id="11" name="Text 9"/>
          <p:cNvSpPr/>
          <p:nvPr/>
        </p:nvSpPr>
        <p:spPr>
          <a:xfrm>
            <a:off x="566928" y="3511296"/>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2" name="Text 10"/>
          <p:cNvSpPr/>
          <p:nvPr/>
        </p:nvSpPr>
        <p:spPr>
          <a:xfrm>
            <a:off x="1097280" y="3483864"/>
            <a:ext cx="5852160" cy="237744"/>
          </a:xfrm>
          <a:prstGeom prst="rect">
            <a:avLst/>
          </a:prstGeom>
          <a:noFill/>
          <a:ln/>
        </p:spPr>
        <p:txBody>
          <a:bodyPr wrap="square" lIns="0" tIns="0" rIns="0" bIns="0" rtlCol="0" anchor="ctr"/>
          <a:lstStyle/>
          <a:p>
            <a:pPr indent="0" marL="0">
              <a:buNone/>
            </a:pPr>
            <a:r>
              <a:rPr lang="en-US" sz="1350" b="1" dirty="0">
                <a:solidFill>
                  <a:srgbClr val="1B365D"/>
                </a:solidFill>
                <a:latin typeface="Calibri" pitchFamily="34" charset="0"/>
                <a:ea typeface="Calibri" pitchFamily="34" charset="-122"/>
                <a:cs typeface="Calibri" pitchFamily="34" charset="-120"/>
              </a:rPr>
              <a:t>Location</a:t>
            </a:r>
            <a:endParaRPr lang="en-US" sz="1350" dirty="0"/>
          </a:p>
        </p:txBody>
      </p:sp>
      <p:sp>
        <p:nvSpPr>
          <p:cNvPr id="13" name="Text 11"/>
          <p:cNvSpPr/>
          <p:nvPr/>
        </p:nvSpPr>
        <p:spPr>
          <a:xfrm>
            <a:off x="1097280" y="3730752"/>
            <a:ext cx="5852160" cy="237744"/>
          </a:xfrm>
          <a:prstGeom prst="rect">
            <a:avLst/>
          </a:prstGeom>
          <a:noFill/>
          <a:ln/>
        </p:spPr>
        <p:txBody>
          <a:bodyPr wrap="square" lIns="0" tIns="0" rIns="0" bIns="0" rtlCol="0" anchor="ctr"/>
          <a:lstStyle/>
          <a:p>
            <a:pPr indent="0" marL="0">
              <a:buNone/>
            </a:pPr>
            <a:r>
              <a:rPr lang="en-US" sz="1200" dirty="0">
                <a:solidFill>
                  <a:srgbClr val="5C6675"/>
                </a:solidFill>
                <a:latin typeface="Calibri" pitchFamily="34" charset="0"/>
                <a:ea typeface="Calibri" pitchFamily="34" charset="-122"/>
                <a:cs typeface="Calibri" pitchFamily="34" charset="-120"/>
              </a:rPr>
              <a:t>Locality, and the market conditions specific to that locality</a:t>
            </a:r>
            <a:endParaRPr lang="en-US" sz="1200" dirty="0"/>
          </a:p>
        </p:txBody>
      </p:sp>
      <p:sp>
        <p:nvSpPr>
          <p:cNvPr id="14" name="Shape 12"/>
          <p:cNvSpPr/>
          <p:nvPr/>
        </p:nvSpPr>
        <p:spPr>
          <a:xfrm>
            <a:off x="566928" y="4224528"/>
            <a:ext cx="365760" cy="365760"/>
          </a:xfrm>
          <a:prstGeom prst="ellipse">
            <a:avLst/>
          </a:prstGeom>
          <a:solidFill>
            <a:srgbClr val="1B365D"/>
          </a:solidFill>
          <a:ln w="12700">
            <a:solidFill>
              <a:srgbClr val="1B365D"/>
            </a:solidFill>
            <a:prstDash val="solid"/>
          </a:ln>
        </p:spPr>
      </p:sp>
      <p:sp>
        <p:nvSpPr>
          <p:cNvPr id="15" name="Text 13"/>
          <p:cNvSpPr/>
          <p:nvPr/>
        </p:nvSpPr>
        <p:spPr>
          <a:xfrm>
            <a:off x="566928" y="4224528"/>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6" name="Text 14"/>
          <p:cNvSpPr/>
          <p:nvPr/>
        </p:nvSpPr>
        <p:spPr>
          <a:xfrm>
            <a:off x="1097280" y="4197096"/>
            <a:ext cx="5852160" cy="237744"/>
          </a:xfrm>
          <a:prstGeom prst="rect">
            <a:avLst/>
          </a:prstGeom>
          <a:noFill/>
          <a:ln/>
        </p:spPr>
        <p:txBody>
          <a:bodyPr wrap="square" lIns="0" tIns="0" rIns="0" bIns="0" rtlCol="0" anchor="ctr"/>
          <a:lstStyle/>
          <a:p>
            <a:pPr indent="0" marL="0">
              <a:buNone/>
            </a:pPr>
            <a:r>
              <a:rPr lang="en-US" sz="1350" b="1" dirty="0">
                <a:solidFill>
                  <a:srgbClr val="1B365D"/>
                </a:solidFill>
                <a:latin typeface="Calibri" pitchFamily="34" charset="0"/>
                <a:ea typeface="Calibri" pitchFamily="34" charset="-122"/>
                <a:cs typeface="Calibri" pitchFamily="34" charset="-120"/>
              </a:rPr>
              <a:t>Accessibility</a:t>
            </a:r>
            <a:endParaRPr lang="en-US" sz="1350" dirty="0"/>
          </a:p>
        </p:txBody>
      </p:sp>
      <p:sp>
        <p:nvSpPr>
          <p:cNvPr id="17" name="Text 15"/>
          <p:cNvSpPr/>
          <p:nvPr/>
        </p:nvSpPr>
        <p:spPr>
          <a:xfrm>
            <a:off x="1097280" y="4443984"/>
            <a:ext cx="5852160" cy="237744"/>
          </a:xfrm>
          <a:prstGeom prst="rect">
            <a:avLst/>
          </a:prstGeom>
          <a:noFill/>
          <a:ln/>
        </p:spPr>
        <p:txBody>
          <a:bodyPr wrap="square" lIns="0" tIns="0" rIns="0" bIns="0" rtlCol="0" anchor="ctr"/>
          <a:lstStyle/>
          <a:p>
            <a:pPr indent="0" marL="0">
              <a:buNone/>
            </a:pPr>
            <a:r>
              <a:rPr lang="en-US" sz="1200" dirty="0">
                <a:solidFill>
                  <a:srgbClr val="5C6675"/>
                </a:solidFill>
                <a:latin typeface="Calibri" pitchFamily="34" charset="0"/>
                <a:ea typeface="Calibri" pitchFamily="34" charset="-122"/>
                <a:cs typeface="Calibri" pitchFamily="34" charset="-120"/>
              </a:rPr>
              <a:t>Proximity to transport, healthcare, education and road network</a:t>
            </a:r>
            <a:endParaRPr lang="en-US" sz="1200" dirty="0"/>
          </a:p>
        </p:txBody>
      </p:sp>
      <p:sp>
        <p:nvSpPr>
          <p:cNvPr id="18" name="Text 16"/>
          <p:cNvSpPr/>
          <p:nvPr/>
        </p:nvSpPr>
        <p:spPr>
          <a:xfrm>
            <a:off x="566928" y="5120640"/>
            <a:ext cx="6492240" cy="548640"/>
          </a:xfrm>
          <a:prstGeom prst="rect">
            <a:avLst/>
          </a:prstGeom>
          <a:noFill/>
          <a:ln/>
        </p:spPr>
        <p:txBody>
          <a:bodyPr wrap="square" lIns="0" tIns="0" rIns="0" bIns="0" rtlCol="0" anchor="ctr"/>
          <a:lstStyle/>
          <a:p>
            <a:pPr indent="0" marL="0">
              <a:lnSpc>
                <a:spcPts val="1800"/>
              </a:lnSpc>
              <a:buNone/>
            </a:pPr>
            <a:r>
              <a:rPr lang="en-US" sz="1250" i="1" dirty="0">
                <a:solidFill>
                  <a:srgbClr val="5C6675"/>
                </a:solidFill>
                <a:latin typeface="Calibri" pitchFamily="34" charset="0"/>
                <a:ea typeface="Calibri" pitchFamily="34" charset="-122"/>
                <a:cs typeface="Calibri" pitchFamily="34" charset="-120"/>
              </a:rPr>
              <a:t>The broader intent is to combine the resulting model with location intelligence and GIS-derived information in a later stage of the project.</a:t>
            </a:r>
            <a:endParaRPr lang="en-US" sz="1250" dirty="0"/>
          </a:p>
        </p:txBody>
      </p:sp>
      <p:sp>
        <p:nvSpPr>
          <p:cNvPr id="19" name="Shape 17"/>
          <p:cNvSpPr/>
          <p:nvPr/>
        </p:nvSpPr>
        <p:spPr>
          <a:xfrm>
            <a:off x="7452360" y="1371600"/>
            <a:ext cx="4160520" cy="4114800"/>
          </a:xfrm>
          <a:prstGeom prst="roundRect">
            <a:avLst>
              <a:gd name="adj" fmla="val 1333"/>
            </a:avLst>
          </a:prstGeom>
          <a:solidFill>
            <a:srgbClr val="F4F6F9"/>
          </a:solidFill>
          <a:ln w="12700">
            <a:solidFill>
              <a:srgbClr val="D6DCE5"/>
            </a:solidFill>
            <a:prstDash val="solid"/>
          </a:ln>
        </p:spPr>
      </p:sp>
      <p:sp>
        <p:nvSpPr>
          <p:cNvPr id="20" name="Text 18"/>
          <p:cNvSpPr/>
          <p:nvPr/>
        </p:nvSpPr>
        <p:spPr>
          <a:xfrm>
            <a:off x="7726680" y="1572768"/>
            <a:ext cx="3657600" cy="274320"/>
          </a:xfrm>
          <a:prstGeom prst="rect">
            <a:avLst/>
          </a:prstGeom>
          <a:noFill/>
          <a:ln/>
        </p:spPr>
        <p:txBody>
          <a:bodyPr wrap="square" lIns="0" tIns="0" rIns="0" bIns="0" rtlCol="0" anchor="ctr"/>
          <a:lstStyle/>
          <a:p>
            <a:pPr indent="0" marL="0">
              <a:buNone/>
            </a:pPr>
            <a:r>
              <a:rPr lang="en-US" sz="1500" b="1" dirty="0">
                <a:solidFill>
                  <a:srgbClr val="1B365D"/>
                </a:solidFill>
                <a:latin typeface="Cambria" pitchFamily="34" charset="0"/>
                <a:ea typeface="Cambria" pitchFamily="34" charset="-122"/>
                <a:cs typeface="Cambria" pitchFamily="34" charset="-120"/>
              </a:rPr>
              <a:t>Scope of Review 1</a:t>
            </a:r>
            <a:endParaRPr lang="en-US" sz="1500" dirty="0"/>
          </a:p>
        </p:txBody>
      </p:sp>
      <p:sp>
        <p:nvSpPr>
          <p:cNvPr id="21" name="Text 19"/>
          <p:cNvSpPr/>
          <p:nvPr/>
        </p:nvSpPr>
        <p:spPr>
          <a:xfrm>
            <a:off x="7726680" y="1965960"/>
            <a:ext cx="3657600" cy="3291840"/>
          </a:xfrm>
          <a:prstGeom prst="rect">
            <a:avLst/>
          </a:prstGeom>
          <a:noFill/>
          <a:ln/>
        </p:spPr>
        <p:txBody>
          <a:bodyPr wrap="square" lIns="0" tIns="0" rIns="0" bIns="0" rtlCol="0" anchor="ctr"/>
          <a:lstStyle/>
          <a:p>
            <a:pPr indent="0" marL="0">
              <a:spcAft>
                <a:spcPts val="500"/>
              </a:spcAft>
              <a:buNone/>
            </a:pPr>
            <a:r>
              <a:rPr lang="en-US" sz="1200" b="1" dirty="0">
                <a:solidFill>
                  <a:srgbClr val="1B365D"/>
                </a:solidFill>
                <a:latin typeface="Calibri" pitchFamily="34" charset="0"/>
                <a:ea typeface="Calibri" pitchFamily="34" charset="-122"/>
                <a:cs typeface="Calibri" pitchFamily="34" charset="-120"/>
              </a:rPr>
              <a:t>Covered in this review</a:t>
            </a:r>
            <a:endParaRPr lang="en-US" sz="1200" dirty="0"/>
          </a:p>
          <a:p>
            <a:pPr marL="342900" indent="-342900">
              <a:spcAft>
                <a:spcPts val="500"/>
              </a:spcAft>
              <a:buSzPct val="100000"/>
              <a:buChar char="•"/>
            </a:pPr>
            <a:r>
              <a:rPr lang="en-US" sz="1200" dirty="0">
                <a:solidFill>
                  <a:srgbClr val="1F2430"/>
                </a:solidFill>
                <a:latin typeface="Calibri" pitchFamily="34" charset="0"/>
                <a:ea typeface="Calibri" pitchFamily="34" charset="-122"/>
                <a:cs typeface="Calibri" pitchFamily="34" charset="-120"/>
              </a:rPr>
              <a:t>Problem definition and objectives</a:t>
            </a:r>
            <a:endParaRPr lang="en-US" sz="1200" dirty="0"/>
          </a:p>
          <a:p>
            <a:pPr marL="342900" indent="-342900">
              <a:spcAft>
                <a:spcPts val="500"/>
              </a:spcAft>
              <a:buSzPct val="100000"/>
              <a:buChar char="•"/>
            </a:pPr>
            <a:r>
              <a:rPr lang="en-US" sz="1200" dirty="0">
                <a:solidFill>
                  <a:srgbClr val="1F2430"/>
                </a:solidFill>
                <a:latin typeface="Calibri" pitchFamily="34" charset="0"/>
                <a:ea typeface="Calibri" pitchFamily="34" charset="-122"/>
                <a:cs typeface="Calibri" pitchFamily="34" charset="-120"/>
              </a:rPr>
              <a:t>Dataset description</a:t>
            </a:r>
            <a:endParaRPr lang="en-US" sz="1200" dirty="0"/>
          </a:p>
          <a:p>
            <a:pPr marL="342900" indent="-342900">
              <a:spcAft>
                <a:spcPts val="500"/>
              </a:spcAft>
              <a:buSzPct val="100000"/>
              <a:buChar char="•"/>
            </a:pPr>
            <a:r>
              <a:rPr lang="en-US" sz="1200" dirty="0">
                <a:solidFill>
                  <a:srgbClr val="1F2430"/>
                </a:solidFill>
                <a:latin typeface="Calibri" pitchFamily="34" charset="0"/>
                <a:ea typeface="Calibri" pitchFamily="34" charset="-122"/>
                <a:cs typeface="Calibri" pitchFamily="34" charset="-120"/>
              </a:rPr>
              <a:t>Statistical analysis</a:t>
            </a:r>
            <a:endParaRPr lang="en-US" sz="1200" dirty="0"/>
          </a:p>
          <a:p>
            <a:pPr marL="342900" indent="-342900">
              <a:spcAft>
                <a:spcPts val="500"/>
              </a:spcAft>
              <a:buSzPct val="100000"/>
              <a:buChar char="•"/>
            </a:pPr>
            <a:r>
              <a:rPr lang="en-US" sz="1200" dirty="0">
                <a:solidFill>
                  <a:srgbClr val="1F2430"/>
                </a:solidFill>
                <a:latin typeface="Calibri" pitchFamily="34" charset="0"/>
                <a:ea typeface="Calibri" pitchFamily="34" charset="-122"/>
                <a:cs typeface="Calibri" pitchFamily="34" charset="-120"/>
              </a:rPr>
              <a:t>Exploratory data analysis</a:t>
            </a:r>
            <a:endParaRPr lang="en-US" sz="1200" dirty="0"/>
          </a:p>
          <a:p>
            <a:pPr marL="342900" indent="-342900">
              <a:spcAft>
                <a:spcPts val="500"/>
              </a:spcAft>
              <a:buSzPct val="100000"/>
              <a:buChar char="•"/>
            </a:pPr>
            <a:r>
              <a:rPr lang="en-US" sz="1200" dirty="0">
                <a:solidFill>
                  <a:srgbClr val="1F2430"/>
                </a:solidFill>
                <a:latin typeface="Calibri" pitchFamily="34" charset="0"/>
                <a:ea typeface="Calibri" pitchFamily="34" charset="-122"/>
                <a:cs typeface="Calibri" pitchFamily="34" charset="-120"/>
              </a:rPr>
              <a:t>Proposed ML methodology</a:t>
            </a:r>
            <a:endParaRPr lang="en-US" sz="1200" dirty="0"/>
          </a:p>
          <a:p>
            <a:pPr indent="0" marL="0">
              <a:spcAft>
                <a:spcPts val="500"/>
              </a:spcAft>
              <a:buNone/>
            </a:pPr>
            <a:endParaRPr lang="en-US" sz="1200" dirty="0"/>
          </a:p>
          <a:p>
            <a:pPr indent="0" marL="0">
              <a:spcAft>
                <a:spcPts val="500"/>
              </a:spcAft>
              <a:buNone/>
            </a:pPr>
            <a:r>
              <a:rPr lang="en-US" sz="1200" b="1" dirty="0">
                <a:solidFill>
                  <a:srgbClr val="1B365D"/>
                </a:solidFill>
                <a:latin typeface="Calibri" pitchFamily="34" charset="0"/>
                <a:ea typeface="Calibri" pitchFamily="34" charset="-122"/>
                <a:cs typeface="Calibri" pitchFamily="34" charset="-120"/>
              </a:rPr>
              <a:t>To be carried out next</a:t>
            </a:r>
            <a:endParaRPr lang="en-US" sz="1200" dirty="0"/>
          </a:p>
          <a:p>
            <a:pPr marL="342900" indent="-342900">
              <a:spcAft>
                <a:spcPts val="500"/>
              </a:spcAft>
              <a:buSzPct val="100000"/>
              <a:buChar char="•"/>
            </a:pPr>
            <a:r>
              <a:rPr lang="en-US" sz="1200" dirty="0">
                <a:solidFill>
                  <a:srgbClr val="1F2430"/>
                </a:solidFill>
                <a:latin typeface="Calibri" pitchFamily="34" charset="0"/>
                <a:ea typeface="Calibri" pitchFamily="34" charset="-122"/>
                <a:cs typeface="Calibri" pitchFamily="34" charset="-120"/>
              </a:rPr>
              <a:t>Model training and comparison</a:t>
            </a:r>
            <a:endParaRPr lang="en-US" sz="1200" dirty="0"/>
          </a:p>
          <a:p>
            <a:pPr marL="342900" indent="-342900">
              <a:spcAft>
                <a:spcPts val="500"/>
              </a:spcAft>
              <a:buSzPct val="100000"/>
              <a:buChar char="•"/>
            </a:pPr>
            <a:r>
              <a:rPr lang="en-US" sz="1200" dirty="0">
                <a:solidFill>
                  <a:srgbClr val="1F2430"/>
                </a:solidFill>
                <a:latin typeface="Calibri" pitchFamily="34" charset="0"/>
                <a:ea typeface="Calibri" pitchFamily="34" charset="-122"/>
                <a:cs typeface="Calibri" pitchFamily="34" charset="-120"/>
              </a:rPr>
              <a:t>Evaluation and tuning</a:t>
            </a:r>
            <a:endParaRPr lang="en-US" sz="1200" dirty="0"/>
          </a:p>
          <a:p>
            <a:pPr marL="342900" indent="-342900">
              <a:spcAft>
                <a:spcPts val="500"/>
              </a:spcAft>
              <a:buSzPct val="100000"/>
              <a:buChar char="•"/>
            </a:pPr>
            <a:r>
              <a:rPr lang="en-US" sz="1200" dirty="0">
                <a:solidFill>
                  <a:srgbClr val="1F2430"/>
                </a:solidFill>
                <a:latin typeface="Calibri" pitchFamily="34" charset="0"/>
                <a:ea typeface="Calibri" pitchFamily="34" charset="-122"/>
                <a:cs typeface="Calibri" pitchFamily="34" charset="-120"/>
              </a:rPr>
              <a:t>Explainability analysis</a:t>
            </a:r>
            <a:endParaRPr lang="en-US" sz="1200" dirty="0"/>
          </a:p>
          <a:p>
            <a:pPr marL="342900" indent="-342900">
              <a:spcAft>
                <a:spcPts val="500"/>
              </a:spcAft>
              <a:buSzPct val="100000"/>
              <a:buChar char="•"/>
            </a:pPr>
            <a:r>
              <a:rPr lang="en-US" sz="1200" dirty="0">
                <a:solidFill>
                  <a:srgbClr val="1F2430"/>
                </a:solidFill>
                <a:latin typeface="Calibri" pitchFamily="34" charset="0"/>
                <a:ea typeface="Calibri" pitchFamily="34" charset="-122"/>
                <a:cs typeface="Calibri" pitchFamily="34" charset="-120"/>
              </a:rPr>
              <a:t>Application interface</a:t>
            </a:r>
            <a:endParaRPr lang="en-US" sz="1200" dirty="0"/>
          </a:p>
        </p:txBody>
      </p:sp>
      <p:sp>
        <p:nvSpPr>
          <p:cNvPr id="23" name="Text 20"/>
          <p:cNvSpPr/>
          <p:nvPr/>
        </p:nvSpPr>
        <p:spPr>
          <a:xfrm>
            <a:off x="11045952" y="6419088"/>
            <a:ext cx="548640" cy="256032"/>
          </a:xfrm>
          <a:prstGeom prst="rect">
            <a:avLst/>
          </a:prstGeom>
          <a:noFill/>
          <a:ln/>
        </p:spPr>
        <p:txBody>
          <a:bodyPr wrap="square" lIns="0" tIns="0" rIns="0" bIns="0" rtlCol="0" anchor="ctr"/>
          <a:lstStyle/>
          <a:p>
            <a:pPr algn="r" indent="0" marL="0">
              <a:buNone/>
            </a:pPr>
            <a:r>
              <a:rPr lang="en-US" sz="1000" dirty="0">
                <a:solidFill>
                  <a:srgbClr val="5C6675"/>
                </a:solidFill>
                <a:latin typeface="Calibri" pitchFamily="34" charset="0"/>
                <a:ea typeface="Calibri" pitchFamily="34" charset="-122"/>
                <a:cs typeface="Calibri" pitchFamily="34" charset="-120"/>
              </a:rPr>
              <a:t>2</a:t>
            </a:r>
            <a:endParaRPr lang="en-US" sz="1000" dirty="0"/>
          </a:p>
        </p:txBody>
      </p:sp>
      <p:sp>
        <p:nvSpPr>
          <p:cNvPr id="24" name="Text 21"/>
          <p:cNvSpPr/>
          <p:nvPr/>
        </p:nvSpPr>
        <p:spPr>
          <a:xfrm>
            <a:off x="566928" y="6419088"/>
            <a:ext cx="7315200" cy="256032"/>
          </a:xfrm>
          <a:prstGeom prst="rect">
            <a:avLst/>
          </a:prstGeom>
          <a:noFill/>
          <a:ln/>
        </p:spPr>
        <p:txBody>
          <a:bodyPr wrap="square" lIns="0" tIns="0" rIns="0" bIns="0" rtlCol="0" anchor="ctr"/>
          <a:lstStyle/>
          <a:p>
            <a:pPr indent="0" marL="0">
              <a:buNone/>
            </a:pPr>
            <a:r>
              <a:rPr lang="en-US" sz="1000" dirty="0">
                <a:solidFill>
                  <a:srgbClr val="5C6675"/>
                </a:solidFill>
                <a:latin typeface="Calibri" pitchFamily="34" charset="0"/>
                <a:ea typeface="Calibri" pitchFamily="34" charset="-122"/>
                <a:cs typeface="Calibri" pitchFamily="34" charset="-120"/>
              </a:rPr>
              <a:t>Project Review 1  ·  B.Tech CSE (AI &amp; ML)  ·  SRMIST</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8229600" cy="237744"/>
          </a:xfrm>
          <a:prstGeom prst="rect">
            <a:avLst/>
          </a:prstGeom>
          <a:noFill/>
          <a:ln/>
        </p:spPr>
        <p:txBody>
          <a:bodyPr wrap="square" lIns="0" tIns="0" rIns="0" bIns="0" rtlCol="0" anchor="ctr"/>
          <a:lstStyle/>
          <a:p>
            <a:pPr indent="0" marL="0">
              <a:buNone/>
            </a:pPr>
            <a:r>
              <a:rPr lang="en-US" sz="1100" b="1" spc="160" kern="0" dirty="0">
                <a:solidFill>
                  <a:srgbClr val="C2703A"/>
                </a:solidFill>
                <a:latin typeface="Calibri" pitchFamily="34" charset="0"/>
                <a:ea typeface="Calibri" pitchFamily="34" charset="-122"/>
                <a:cs typeface="Calibri" pitchFamily="34" charset="-120"/>
              </a:rPr>
              <a:t>MOTIVATION</a:t>
            </a:r>
            <a:endParaRPr lang="en-US" sz="1100" dirty="0"/>
          </a:p>
        </p:txBody>
      </p:sp>
      <p:sp>
        <p:nvSpPr>
          <p:cNvPr id="3" name="Text 1"/>
          <p:cNvSpPr/>
          <p:nvPr/>
        </p:nvSpPr>
        <p:spPr>
          <a:xfrm>
            <a:off x="566928" y="566928"/>
            <a:ext cx="11027664" cy="566928"/>
          </a:xfrm>
          <a:prstGeom prst="rect">
            <a:avLst/>
          </a:prstGeom>
          <a:noFill/>
          <a:ln/>
        </p:spPr>
        <p:txBody>
          <a:bodyPr wrap="square" lIns="0" tIns="0" rIns="0" bIns="0" rtlCol="0" anchor="ctr"/>
          <a:lstStyle/>
          <a:p>
            <a:pPr indent="0" marL="0">
              <a:buNone/>
            </a:pPr>
            <a:r>
              <a:rPr lang="en-US" sz="3000" b="1" dirty="0">
                <a:solidFill>
                  <a:srgbClr val="1B365D"/>
                </a:solidFill>
                <a:latin typeface="Cambria" pitchFamily="34" charset="0"/>
                <a:ea typeface="Cambria" pitchFamily="34" charset="-122"/>
                <a:cs typeface="Cambria" pitchFamily="34" charset="-120"/>
              </a:rPr>
              <a:t>Understanding the Problem</a:t>
            </a:r>
            <a:endParaRPr lang="en-US" sz="3000" dirty="0"/>
          </a:p>
        </p:txBody>
      </p:sp>
      <p:sp>
        <p:nvSpPr>
          <p:cNvPr id="4" name="Text 2"/>
          <p:cNvSpPr/>
          <p:nvPr/>
        </p:nvSpPr>
        <p:spPr>
          <a:xfrm>
            <a:off x="566928" y="1371600"/>
            <a:ext cx="11027664" cy="685800"/>
          </a:xfrm>
          <a:prstGeom prst="rect">
            <a:avLst/>
          </a:prstGeom>
          <a:noFill/>
          <a:ln/>
        </p:spPr>
        <p:txBody>
          <a:bodyPr wrap="square" lIns="0" tIns="0" rIns="0" bIns="0" rtlCol="0" anchor="ctr"/>
          <a:lstStyle/>
          <a:p>
            <a:pPr indent="0" marL="0">
              <a:lnSpc>
                <a:spcPts val="2100"/>
              </a:lnSpc>
              <a:buNone/>
            </a:pPr>
            <a:r>
              <a:rPr lang="en-US" sz="1400" dirty="0">
                <a:solidFill>
                  <a:srgbClr val="1F2430"/>
                </a:solidFill>
                <a:latin typeface="Calibri" pitchFamily="34" charset="0"/>
                <a:ea typeface="Calibri" pitchFamily="34" charset="-122"/>
                <a:cs typeface="Calibri" pitchFamily="34" charset="-120"/>
              </a:rPr>
              <a:t>A prospective buyer typically knows the asking price, the built-up area, the configuration and the locality. Judging whether that asking price is reasonable requires comparing the property against a large number of historical records across several variables at once.</a:t>
            </a:r>
            <a:endParaRPr lang="en-US" sz="1400" dirty="0"/>
          </a:p>
        </p:txBody>
      </p:sp>
      <p:sp>
        <p:nvSpPr>
          <p:cNvPr id="5" name="Shape 3"/>
          <p:cNvSpPr/>
          <p:nvPr/>
        </p:nvSpPr>
        <p:spPr>
          <a:xfrm>
            <a:off x="566928" y="2286000"/>
            <a:ext cx="2523744" cy="1051560"/>
          </a:xfrm>
          <a:prstGeom prst="roundRect">
            <a:avLst>
              <a:gd name="adj" fmla="val 5217"/>
            </a:avLst>
          </a:prstGeom>
          <a:solidFill>
            <a:srgbClr val="F4F6F9"/>
          </a:solidFill>
          <a:ln w="12700">
            <a:solidFill>
              <a:srgbClr val="D6DCE5"/>
            </a:solidFill>
            <a:prstDash val="solid"/>
          </a:ln>
        </p:spPr>
      </p:sp>
      <p:sp>
        <p:nvSpPr>
          <p:cNvPr id="6" name="Text 4"/>
          <p:cNvSpPr/>
          <p:nvPr/>
        </p:nvSpPr>
        <p:spPr>
          <a:xfrm>
            <a:off x="713232" y="2432304"/>
            <a:ext cx="2231136" cy="274320"/>
          </a:xfrm>
          <a:prstGeom prst="rect">
            <a:avLst/>
          </a:prstGeom>
          <a:noFill/>
          <a:ln/>
        </p:spPr>
        <p:txBody>
          <a:bodyPr wrap="square" lIns="0" tIns="0" rIns="0" bIns="0" rtlCol="0" anchor="ctr"/>
          <a:lstStyle/>
          <a:p>
            <a:pPr indent="0" marL="0">
              <a:buNone/>
            </a:pPr>
            <a:r>
              <a:rPr lang="en-US" sz="1350" b="1" dirty="0">
                <a:solidFill>
                  <a:srgbClr val="1B365D"/>
                </a:solidFill>
                <a:latin typeface="Calibri" pitchFamily="34" charset="0"/>
                <a:ea typeface="Calibri" pitchFamily="34" charset="-122"/>
                <a:cs typeface="Calibri" pitchFamily="34" charset="-120"/>
              </a:rPr>
              <a:t>Property Data</a:t>
            </a:r>
            <a:endParaRPr lang="en-US" sz="1350" dirty="0"/>
          </a:p>
        </p:txBody>
      </p:sp>
      <p:sp>
        <p:nvSpPr>
          <p:cNvPr id="7" name="Text 5"/>
          <p:cNvSpPr/>
          <p:nvPr/>
        </p:nvSpPr>
        <p:spPr>
          <a:xfrm>
            <a:off x="713232" y="2724912"/>
            <a:ext cx="2231136" cy="548640"/>
          </a:xfrm>
          <a:prstGeom prst="rect">
            <a:avLst/>
          </a:prstGeom>
          <a:noFill/>
          <a:ln/>
        </p:spPr>
        <p:txBody>
          <a:bodyPr wrap="square" lIns="0" tIns="0" rIns="0" bIns="0" rtlCol="0" anchor="ctr"/>
          <a:lstStyle/>
          <a:p>
            <a:pPr indent="0" marL="0">
              <a:lnSpc>
                <a:spcPts val="1500"/>
              </a:lnSpc>
              <a:buNone/>
            </a:pPr>
            <a:r>
              <a:rPr lang="en-US" sz="1150" dirty="0">
                <a:solidFill>
                  <a:srgbClr val="5C6675"/>
                </a:solidFill>
                <a:latin typeface="Calibri" pitchFamily="34" charset="0"/>
                <a:ea typeface="Calibri" pitchFamily="34" charset="-122"/>
                <a:cs typeface="Calibri" pitchFamily="34" charset="-120"/>
              </a:rPr>
              <a:t>Area, BHK, bathrooms,</a:t>
            </a:r>
            <a:endParaRPr lang="en-US" sz="1150" dirty="0"/>
          </a:p>
          <a:p>
            <a:pPr indent="0" marL="0">
              <a:lnSpc>
                <a:spcPts val="1500"/>
              </a:lnSpc>
              <a:buNone/>
            </a:pPr>
            <a:r>
              <a:rPr lang="en-US" sz="1150" dirty="0">
                <a:solidFill>
                  <a:srgbClr val="5C6675"/>
                </a:solidFill>
                <a:latin typeface="Calibri" pitchFamily="34" charset="0"/>
                <a:ea typeface="Calibri" pitchFamily="34" charset="-122"/>
                <a:cs typeface="Calibri" pitchFamily="34" charset="-120"/>
              </a:rPr>
              <a:t>balcony, property type</a:t>
            </a:r>
            <a:endParaRPr lang="en-US" sz="1150" dirty="0"/>
          </a:p>
        </p:txBody>
      </p:sp>
      <p:sp>
        <p:nvSpPr>
          <p:cNvPr id="8" name="Shape 6"/>
          <p:cNvSpPr/>
          <p:nvPr/>
        </p:nvSpPr>
        <p:spPr>
          <a:xfrm>
            <a:off x="3364992" y="2286000"/>
            <a:ext cx="2523744" cy="1051560"/>
          </a:xfrm>
          <a:prstGeom prst="roundRect">
            <a:avLst>
              <a:gd name="adj" fmla="val 5217"/>
            </a:avLst>
          </a:prstGeom>
          <a:solidFill>
            <a:srgbClr val="F4F6F9"/>
          </a:solidFill>
          <a:ln w="12700">
            <a:solidFill>
              <a:srgbClr val="D6DCE5"/>
            </a:solidFill>
            <a:prstDash val="solid"/>
          </a:ln>
        </p:spPr>
      </p:sp>
      <p:sp>
        <p:nvSpPr>
          <p:cNvPr id="9" name="Text 7"/>
          <p:cNvSpPr/>
          <p:nvPr/>
        </p:nvSpPr>
        <p:spPr>
          <a:xfrm>
            <a:off x="3511296" y="2432304"/>
            <a:ext cx="2231136" cy="274320"/>
          </a:xfrm>
          <a:prstGeom prst="rect">
            <a:avLst/>
          </a:prstGeom>
          <a:noFill/>
          <a:ln/>
        </p:spPr>
        <p:txBody>
          <a:bodyPr wrap="square" lIns="0" tIns="0" rIns="0" bIns="0" rtlCol="0" anchor="ctr"/>
          <a:lstStyle/>
          <a:p>
            <a:pPr indent="0" marL="0">
              <a:buNone/>
            </a:pPr>
            <a:r>
              <a:rPr lang="en-US" sz="1350" b="1" dirty="0">
                <a:solidFill>
                  <a:srgbClr val="1B365D"/>
                </a:solidFill>
                <a:latin typeface="Calibri" pitchFamily="34" charset="0"/>
                <a:ea typeface="Calibri" pitchFamily="34" charset="-122"/>
                <a:cs typeface="Calibri" pitchFamily="34" charset="-120"/>
              </a:rPr>
              <a:t>Location Data</a:t>
            </a:r>
            <a:endParaRPr lang="en-US" sz="1350" dirty="0"/>
          </a:p>
        </p:txBody>
      </p:sp>
      <p:sp>
        <p:nvSpPr>
          <p:cNvPr id="10" name="Text 8"/>
          <p:cNvSpPr/>
          <p:nvPr/>
        </p:nvSpPr>
        <p:spPr>
          <a:xfrm>
            <a:off x="3511296" y="2724912"/>
            <a:ext cx="2231136" cy="548640"/>
          </a:xfrm>
          <a:prstGeom prst="rect">
            <a:avLst/>
          </a:prstGeom>
          <a:noFill/>
          <a:ln/>
        </p:spPr>
        <p:txBody>
          <a:bodyPr wrap="square" lIns="0" tIns="0" rIns="0" bIns="0" rtlCol="0" anchor="ctr"/>
          <a:lstStyle/>
          <a:p>
            <a:pPr indent="0" marL="0">
              <a:lnSpc>
                <a:spcPts val="1500"/>
              </a:lnSpc>
              <a:buNone/>
            </a:pPr>
            <a:r>
              <a:rPr lang="en-US" sz="1150" dirty="0">
                <a:solidFill>
                  <a:srgbClr val="5C6675"/>
                </a:solidFill>
                <a:latin typeface="Calibri" pitchFamily="34" charset="0"/>
                <a:ea typeface="Calibri" pitchFamily="34" charset="-122"/>
                <a:cs typeface="Calibri" pitchFamily="34" charset="-120"/>
              </a:rPr>
              <a:t>Locality and</a:t>
            </a:r>
            <a:endParaRPr lang="en-US" sz="1150" dirty="0"/>
          </a:p>
          <a:p>
            <a:pPr indent="0" marL="0">
              <a:lnSpc>
                <a:spcPts val="1500"/>
              </a:lnSpc>
              <a:buNone/>
            </a:pPr>
            <a:r>
              <a:rPr lang="en-US" sz="1150" dirty="0">
                <a:solidFill>
                  <a:srgbClr val="5C6675"/>
                </a:solidFill>
                <a:latin typeface="Calibri" pitchFamily="34" charset="0"/>
                <a:ea typeface="Calibri" pitchFamily="34" charset="-122"/>
                <a:cs typeface="Calibri" pitchFamily="34" charset="-120"/>
              </a:rPr>
              <a:t>geographic position</a:t>
            </a:r>
            <a:endParaRPr lang="en-US" sz="1150" dirty="0"/>
          </a:p>
        </p:txBody>
      </p:sp>
      <p:sp>
        <p:nvSpPr>
          <p:cNvPr id="11" name="Shape 9"/>
          <p:cNvSpPr/>
          <p:nvPr/>
        </p:nvSpPr>
        <p:spPr>
          <a:xfrm>
            <a:off x="6163056" y="2286000"/>
            <a:ext cx="2523744" cy="1051560"/>
          </a:xfrm>
          <a:prstGeom prst="roundRect">
            <a:avLst>
              <a:gd name="adj" fmla="val 5217"/>
            </a:avLst>
          </a:prstGeom>
          <a:solidFill>
            <a:srgbClr val="F4F6F9"/>
          </a:solidFill>
          <a:ln w="12700">
            <a:solidFill>
              <a:srgbClr val="D6DCE5"/>
            </a:solidFill>
            <a:prstDash val="solid"/>
          </a:ln>
        </p:spPr>
      </p:sp>
      <p:sp>
        <p:nvSpPr>
          <p:cNvPr id="12" name="Text 10"/>
          <p:cNvSpPr/>
          <p:nvPr/>
        </p:nvSpPr>
        <p:spPr>
          <a:xfrm>
            <a:off x="6309360" y="2432304"/>
            <a:ext cx="2231136" cy="274320"/>
          </a:xfrm>
          <a:prstGeom prst="rect">
            <a:avLst/>
          </a:prstGeom>
          <a:noFill/>
          <a:ln/>
        </p:spPr>
        <p:txBody>
          <a:bodyPr wrap="square" lIns="0" tIns="0" rIns="0" bIns="0" rtlCol="0" anchor="ctr"/>
          <a:lstStyle/>
          <a:p>
            <a:pPr indent="0" marL="0">
              <a:buNone/>
            </a:pPr>
            <a:r>
              <a:rPr lang="en-US" sz="1350" b="1" dirty="0">
                <a:solidFill>
                  <a:srgbClr val="1B365D"/>
                </a:solidFill>
                <a:latin typeface="Calibri" pitchFamily="34" charset="0"/>
                <a:ea typeface="Calibri" pitchFamily="34" charset="-122"/>
                <a:cs typeface="Calibri" pitchFamily="34" charset="-120"/>
              </a:rPr>
              <a:t>Infrastructure Data</a:t>
            </a:r>
            <a:endParaRPr lang="en-US" sz="1350" dirty="0"/>
          </a:p>
        </p:txBody>
      </p:sp>
      <p:sp>
        <p:nvSpPr>
          <p:cNvPr id="13" name="Text 11"/>
          <p:cNvSpPr/>
          <p:nvPr/>
        </p:nvSpPr>
        <p:spPr>
          <a:xfrm>
            <a:off x="6309360" y="2724912"/>
            <a:ext cx="2231136" cy="548640"/>
          </a:xfrm>
          <a:prstGeom prst="rect">
            <a:avLst/>
          </a:prstGeom>
          <a:noFill/>
          <a:ln/>
        </p:spPr>
        <p:txBody>
          <a:bodyPr wrap="square" lIns="0" tIns="0" rIns="0" bIns="0" rtlCol="0" anchor="ctr"/>
          <a:lstStyle/>
          <a:p>
            <a:pPr indent="0" marL="0">
              <a:lnSpc>
                <a:spcPts val="1500"/>
              </a:lnSpc>
              <a:buNone/>
            </a:pPr>
            <a:r>
              <a:rPr lang="en-US" sz="1150" dirty="0">
                <a:solidFill>
                  <a:srgbClr val="5C6675"/>
                </a:solidFill>
                <a:latin typeface="Calibri" pitchFamily="34" charset="0"/>
                <a:ea typeface="Calibri" pitchFamily="34" charset="-122"/>
                <a:cs typeface="Calibri" pitchFamily="34" charset="-120"/>
              </a:rPr>
              <a:t>Transport, healthcare,</a:t>
            </a:r>
            <a:endParaRPr lang="en-US" sz="1150" dirty="0"/>
          </a:p>
          <a:p>
            <a:pPr indent="0" marL="0">
              <a:lnSpc>
                <a:spcPts val="1500"/>
              </a:lnSpc>
              <a:buNone/>
            </a:pPr>
            <a:r>
              <a:rPr lang="en-US" sz="1150" dirty="0">
                <a:solidFill>
                  <a:srgbClr val="5C6675"/>
                </a:solidFill>
                <a:latin typeface="Calibri" pitchFamily="34" charset="0"/>
                <a:ea typeface="Calibri" pitchFamily="34" charset="-122"/>
                <a:cs typeface="Calibri" pitchFamily="34" charset="-120"/>
              </a:rPr>
              <a:t>education, road access</a:t>
            </a:r>
            <a:endParaRPr lang="en-US" sz="1150" dirty="0"/>
          </a:p>
        </p:txBody>
      </p:sp>
      <p:sp>
        <p:nvSpPr>
          <p:cNvPr id="14" name="Shape 12"/>
          <p:cNvSpPr/>
          <p:nvPr/>
        </p:nvSpPr>
        <p:spPr>
          <a:xfrm>
            <a:off x="3090672" y="2807208"/>
            <a:ext cx="274320" cy="0"/>
          </a:xfrm>
          <a:prstGeom prst="line">
            <a:avLst/>
          </a:prstGeom>
          <a:noFill/>
          <a:ln w="19050">
            <a:solidFill>
              <a:srgbClr val="D6DCE5"/>
            </a:solidFill>
            <a:prstDash val="solid"/>
          </a:ln>
        </p:spPr>
      </p:sp>
      <p:sp>
        <p:nvSpPr>
          <p:cNvPr id="15" name="Shape 13"/>
          <p:cNvSpPr/>
          <p:nvPr/>
        </p:nvSpPr>
        <p:spPr>
          <a:xfrm>
            <a:off x="5888736" y="2807208"/>
            <a:ext cx="274320" cy="0"/>
          </a:xfrm>
          <a:prstGeom prst="line">
            <a:avLst/>
          </a:prstGeom>
          <a:noFill/>
          <a:ln w="19050">
            <a:solidFill>
              <a:srgbClr val="D6DCE5"/>
            </a:solidFill>
            <a:prstDash val="solid"/>
          </a:ln>
        </p:spPr>
      </p:sp>
      <p:sp>
        <p:nvSpPr>
          <p:cNvPr id="16" name="Shape 14"/>
          <p:cNvSpPr/>
          <p:nvPr/>
        </p:nvSpPr>
        <p:spPr>
          <a:xfrm>
            <a:off x="3657600" y="3337560"/>
            <a:ext cx="0" cy="457200"/>
          </a:xfrm>
          <a:prstGeom prst="line">
            <a:avLst/>
          </a:prstGeom>
          <a:noFill/>
          <a:ln w="19050">
            <a:solidFill>
              <a:srgbClr val="5C6675"/>
            </a:solidFill>
            <a:prstDash val="solid"/>
            <a:tailEnd type="triangle"/>
          </a:ln>
        </p:spPr>
      </p:sp>
      <p:sp>
        <p:nvSpPr>
          <p:cNvPr id="17" name="Shape 15"/>
          <p:cNvSpPr/>
          <p:nvPr/>
        </p:nvSpPr>
        <p:spPr>
          <a:xfrm>
            <a:off x="566928" y="3877056"/>
            <a:ext cx="8119872" cy="786384"/>
          </a:xfrm>
          <a:prstGeom prst="roundRect">
            <a:avLst>
              <a:gd name="adj" fmla="val 6977"/>
            </a:avLst>
          </a:prstGeom>
          <a:solidFill>
            <a:srgbClr val="1B365D"/>
          </a:solidFill>
          <a:ln w="12700">
            <a:solidFill>
              <a:srgbClr val="1B365D"/>
            </a:solidFill>
            <a:prstDash val="solid"/>
          </a:ln>
        </p:spPr>
      </p:sp>
      <p:sp>
        <p:nvSpPr>
          <p:cNvPr id="18" name="Text 16"/>
          <p:cNvSpPr/>
          <p:nvPr/>
        </p:nvSpPr>
        <p:spPr>
          <a:xfrm>
            <a:off x="566928" y="3877056"/>
            <a:ext cx="8119872" cy="786384"/>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Machine Learning  —  Supervised Regression</a:t>
            </a:r>
            <a:endParaRPr lang="en-US" sz="1700" dirty="0"/>
          </a:p>
        </p:txBody>
      </p:sp>
      <p:sp>
        <p:nvSpPr>
          <p:cNvPr id="19" name="Shape 17"/>
          <p:cNvSpPr/>
          <p:nvPr/>
        </p:nvSpPr>
        <p:spPr>
          <a:xfrm>
            <a:off x="3657600" y="4718304"/>
            <a:ext cx="0" cy="402336"/>
          </a:xfrm>
          <a:prstGeom prst="line">
            <a:avLst/>
          </a:prstGeom>
          <a:noFill/>
          <a:ln w="19050">
            <a:solidFill>
              <a:srgbClr val="5C6675"/>
            </a:solidFill>
            <a:prstDash val="solid"/>
            <a:tailEnd type="triangle"/>
          </a:ln>
        </p:spPr>
      </p:sp>
      <p:sp>
        <p:nvSpPr>
          <p:cNvPr id="20" name="Shape 18"/>
          <p:cNvSpPr/>
          <p:nvPr/>
        </p:nvSpPr>
        <p:spPr>
          <a:xfrm>
            <a:off x="566928" y="5193792"/>
            <a:ext cx="8119872" cy="640080"/>
          </a:xfrm>
          <a:prstGeom prst="roundRect">
            <a:avLst>
              <a:gd name="adj" fmla="val 8571"/>
            </a:avLst>
          </a:prstGeom>
          <a:solidFill>
            <a:srgbClr val="FFFFFF"/>
          </a:solidFill>
          <a:ln w="20320">
            <a:solidFill>
              <a:srgbClr val="C2703A"/>
            </a:solidFill>
            <a:prstDash val="solid"/>
          </a:ln>
        </p:spPr>
      </p:sp>
      <p:sp>
        <p:nvSpPr>
          <p:cNvPr id="21" name="Text 19"/>
          <p:cNvSpPr/>
          <p:nvPr/>
        </p:nvSpPr>
        <p:spPr>
          <a:xfrm>
            <a:off x="566928" y="5193792"/>
            <a:ext cx="8119872" cy="640080"/>
          </a:xfrm>
          <a:prstGeom prst="rect">
            <a:avLst/>
          </a:prstGeom>
          <a:noFill/>
          <a:ln/>
        </p:spPr>
        <p:txBody>
          <a:bodyPr wrap="square" lIns="0" tIns="0" rIns="0" bIns="0" rtlCol="0" anchor="ctr"/>
          <a:lstStyle/>
          <a:p>
            <a:pPr algn="ctr" indent="0" marL="0">
              <a:buNone/>
            </a:pPr>
            <a:r>
              <a:rPr lang="en-US" sz="1600" b="1" dirty="0">
                <a:solidFill>
                  <a:srgbClr val="C2703A"/>
                </a:solidFill>
                <a:latin typeface="Cambria" pitchFamily="34" charset="0"/>
                <a:ea typeface="Cambria" pitchFamily="34" charset="-122"/>
                <a:cs typeface="Cambria" pitchFamily="34" charset="-120"/>
              </a:rPr>
              <a:t>Estimated Property Price</a:t>
            </a:r>
            <a:endParaRPr lang="en-US" sz="1600" dirty="0"/>
          </a:p>
        </p:txBody>
      </p:sp>
      <p:sp>
        <p:nvSpPr>
          <p:cNvPr id="22" name="Shape 20"/>
          <p:cNvSpPr/>
          <p:nvPr/>
        </p:nvSpPr>
        <p:spPr>
          <a:xfrm>
            <a:off x="9052560" y="2286000"/>
            <a:ext cx="2542032" cy="3547872"/>
          </a:xfrm>
          <a:prstGeom prst="roundRect">
            <a:avLst>
              <a:gd name="adj" fmla="val 2158"/>
            </a:avLst>
          </a:prstGeom>
          <a:solidFill>
            <a:srgbClr val="F4F6F9"/>
          </a:solidFill>
          <a:ln w="12700">
            <a:solidFill>
              <a:srgbClr val="D6DCE5"/>
            </a:solidFill>
            <a:prstDash val="solid"/>
          </a:ln>
        </p:spPr>
      </p:sp>
      <p:sp>
        <p:nvSpPr>
          <p:cNvPr id="23" name="Text 21"/>
          <p:cNvSpPr/>
          <p:nvPr/>
        </p:nvSpPr>
        <p:spPr>
          <a:xfrm>
            <a:off x="9253728" y="2468880"/>
            <a:ext cx="2194560" cy="274320"/>
          </a:xfrm>
          <a:prstGeom prst="rect">
            <a:avLst/>
          </a:prstGeom>
          <a:noFill/>
          <a:ln/>
        </p:spPr>
        <p:txBody>
          <a:bodyPr wrap="square" lIns="0" tIns="0" rIns="0" bIns="0" rtlCol="0" anchor="ctr"/>
          <a:lstStyle/>
          <a:p>
            <a:pPr indent="0" marL="0">
              <a:buNone/>
            </a:pPr>
            <a:r>
              <a:rPr lang="en-US" sz="1350" b="1" dirty="0">
                <a:solidFill>
                  <a:srgbClr val="1B365D"/>
                </a:solidFill>
                <a:latin typeface="Cambria" pitchFamily="34" charset="0"/>
                <a:ea typeface="Cambria" pitchFamily="34" charset="-122"/>
                <a:cs typeface="Cambria" pitchFamily="34" charset="-120"/>
              </a:rPr>
              <a:t>Why an ML problem?</a:t>
            </a:r>
            <a:endParaRPr lang="en-US" sz="1350" dirty="0"/>
          </a:p>
        </p:txBody>
      </p:sp>
      <p:sp>
        <p:nvSpPr>
          <p:cNvPr id="24" name="Text 22"/>
          <p:cNvSpPr/>
          <p:nvPr/>
        </p:nvSpPr>
        <p:spPr>
          <a:xfrm>
            <a:off x="9253728" y="2852928"/>
            <a:ext cx="2157984" cy="2834640"/>
          </a:xfrm>
          <a:prstGeom prst="rect">
            <a:avLst/>
          </a:prstGeom>
          <a:noFill/>
          <a:ln/>
        </p:spPr>
        <p:txBody>
          <a:bodyPr wrap="square" lIns="0" tIns="0" rIns="0" bIns="0" rtlCol="0" anchor="ctr"/>
          <a:lstStyle/>
          <a:p>
            <a:pPr marL="342900" indent="-342900">
              <a:spcAft>
                <a:spcPts val="700"/>
              </a:spcAft>
              <a:buSzPct val="100000"/>
              <a:buChar char="•"/>
            </a:pPr>
            <a:r>
              <a:rPr lang="en-US" sz="1150" dirty="0">
                <a:solidFill>
                  <a:srgbClr val="1F2430"/>
                </a:solidFill>
                <a:latin typeface="Calibri" pitchFamily="34" charset="0"/>
                <a:ea typeface="Calibri" pitchFamily="34" charset="-122"/>
                <a:cs typeface="Calibri" pitchFamily="34" charset="-120"/>
              </a:rPr>
              <a:t>The target is continuous</a:t>
            </a:r>
            <a:endParaRPr lang="en-US" sz="1150" dirty="0"/>
          </a:p>
          <a:p>
            <a:pPr marL="342900" indent="-342900">
              <a:spcAft>
                <a:spcPts val="700"/>
              </a:spcAft>
              <a:buSzPct val="100000"/>
              <a:buChar char="•"/>
            </a:pPr>
            <a:r>
              <a:rPr lang="en-US" sz="1150" dirty="0">
                <a:solidFill>
                  <a:srgbClr val="1F2430"/>
                </a:solidFill>
                <a:latin typeface="Calibri" pitchFamily="34" charset="0"/>
                <a:ea typeface="Calibri" pitchFamily="34" charset="-122"/>
                <a:cs typeface="Calibri" pitchFamily="34" charset="-120"/>
              </a:rPr>
              <a:t>Many predictors act together</a:t>
            </a:r>
            <a:endParaRPr lang="en-US" sz="1150" dirty="0"/>
          </a:p>
          <a:p>
            <a:pPr marL="342900" indent="-342900">
              <a:spcAft>
                <a:spcPts val="700"/>
              </a:spcAft>
              <a:buSzPct val="100000"/>
              <a:buChar char="•"/>
            </a:pPr>
            <a:r>
              <a:rPr lang="en-US" sz="1150" dirty="0">
                <a:solidFill>
                  <a:srgbClr val="1F2430"/>
                </a:solidFill>
                <a:latin typeface="Calibri" pitchFamily="34" charset="0"/>
                <a:ea typeface="Calibri" pitchFamily="34" charset="-122"/>
                <a:cs typeface="Calibri" pitchFamily="34" charset="-120"/>
              </a:rPr>
              <a:t>Relationships are not purely linear</a:t>
            </a:r>
            <a:endParaRPr lang="en-US" sz="1150" dirty="0"/>
          </a:p>
          <a:p>
            <a:pPr marL="342900" indent="-342900">
              <a:spcAft>
                <a:spcPts val="700"/>
              </a:spcAft>
              <a:buSzPct val="100000"/>
              <a:buChar char="•"/>
            </a:pPr>
            <a:r>
              <a:rPr lang="en-US" sz="1150" dirty="0">
                <a:solidFill>
                  <a:srgbClr val="1F2430"/>
                </a:solidFill>
                <a:latin typeface="Calibri" pitchFamily="34" charset="0"/>
                <a:ea typeface="Calibri" pitchFamily="34" charset="-122"/>
                <a:cs typeface="Calibri" pitchFamily="34" charset="-120"/>
              </a:rPr>
              <a:t>Historical labelled records are available</a:t>
            </a:r>
            <a:endParaRPr lang="en-US" sz="1150" dirty="0"/>
          </a:p>
          <a:p>
            <a:pPr marL="342900" indent="-342900">
              <a:spcAft>
                <a:spcPts val="700"/>
              </a:spcAft>
              <a:buSzPct val="100000"/>
              <a:buChar char="•"/>
            </a:pPr>
            <a:r>
              <a:rPr lang="en-US" sz="1150" dirty="0">
                <a:solidFill>
                  <a:srgbClr val="1F2430"/>
                </a:solidFill>
                <a:latin typeface="Calibri" pitchFamily="34" charset="0"/>
                <a:ea typeface="Calibri" pitchFamily="34" charset="-122"/>
                <a:cs typeface="Calibri" pitchFamily="34" charset="-120"/>
              </a:rPr>
              <a:t>Patterns can be learned rather than hand-coded</a:t>
            </a:r>
            <a:endParaRPr lang="en-US" sz="1150" dirty="0"/>
          </a:p>
        </p:txBody>
      </p:sp>
      <p:sp>
        <p:nvSpPr>
          <p:cNvPr id="25" name="Text 23"/>
          <p:cNvSpPr/>
          <p:nvPr/>
        </p:nvSpPr>
        <p:spPr>
          <a:xfrm>
            <a:off x="11045952" y="6419088"/>
            <a:ext cx="548640" cy="256032"/>
          </a:xfrm>
          <a:prstGeom prst="rect">
            <a:avLst/>
          </a:prstGeom>
          <a:noFill/>
          <a:ln/>
        </p:spPr>
        <p:txBody>
          <a:bodyPr wrap="square" lIns="0" tIns="0" rIns="0" bIns="0" rtlCol="0" anchor="ctr"/>
          <a:lstStyle/>
          <a:p>
            <a:pPr algn="r" indent="0" marL="0">
              <a:buNone/>
            </a:pPr>
            <a:r>
              <a:rPr lang="en-US" sz="1000" dirty="0">
                <a:solidFill>
                  <a:srgbClr val="5C6675"/>
                </a:solidFill>
                <a:latin typeface="Calibri" pitchFamily="34" charset="0"/>
                <a:ea typeface="Calibri" pitchFamily="34" charset="-122"/>
                <a:cs typeface="Calibri" pitchFamily="34" charset="-120"/>
              </a:rPr>
              <a:t>3</a:t>
            </a:r>
            <a:endParaRPr lang="en-US" sz="1000" dirty="0"/>
          </a:p>
        </p:txBody>
      </p:sp>
      <p:sp>
        <p:nvSpPr>
          <p:cNvPr id="26" name="Text 24"/>
          <p:cNvSpPr/>
          <p:nvPr/>
        </p:nvSpPr>
        <p:spPr>
          <a:xfrm>
            <a:off x="566928" y="6419088"/>
            <a:ext cx="7315200" cy="256032"/>
          </a:xfrm>
          <a:prstGeom prst="rect">
            <a:avLst/>
          </a:prstGeom>
          <a:noFill/>
          <a:ln/>
        </p:spPr>
        <p:txBody>
          <a:bodyPr wrap="square" lIns="0" tIns="0" rIns="0" bIns="0" rtlCol="0" anchor="ctr"/>
          <a:lstStyle/>
          <a:p>
            <a:pPr indent="0" marL="0">
              <a:buNone/>
            </a:pPr>
            <a:r>
              <a:rPr lang="en-US" sz="1000" dirty="0">
                <a:solidFill>
                  <a:srgbClr val="5C6675"/>
                </a:solidFill>
                <a:latin typeface="Calibri" pitchFamily="34" charset="0"/>
                <a:ea typeface="Calibri" pitchFamily="34" charset="-122"/>
                <a:cs typeface="Calibri" pitchFamily="34" charset="-120"/>
              </a:rPr>
              <a:t>Project Review 1  ·  B.Tech CSE (AI &amp; ML)  ·  SRMIST</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8229600" cy="237744"/>
          </a:xfrm>
          <a:prstGeom prst="rect">
            <a:avLst/>
          </a:prstGeom>
          <a:noFill/>
          <a:ln/>
        </p:spPr>
        <p:txBody>
          <a:bodyPr wrap="square" lIns="0" tIns="0" rIns="0" bIns="0" rtlCol="0" anchor="ctr"/>
          <a:lstStyle/>
          <a:p>
            <a:pPr indent="0" marL="0">
              <a:buNone/>
            </a:pPr>
            <a:r>
              <a:rPr lang="en-US" sz="1100" b="1" spc="160" kern="0" dirty="0">
                <a:solidFill>
                  <a:srgbClr val="C2703A"/>
                </a:solidFill>
                <a:latin typeface="Calibri" pitchFamily="34" charset="0"/>
                <a:ea typeface="Calibri" pitchFamily="34" charset="-122"/>
                <a:cs typeface="Calibri" pitchFamily="34" charset="-120"/>
              </a:rPr>
              <a:t>DEFINITION</a:t>
            </a:r>
            <a:endParaRPr lang="en-US" sz="1100" dirty="0"/>
          </a:p>
        </p:txBody>
      </p:sp>
      <p:sp>
        <p:nvSpPr>
          <p:cNvPr id="3" name="Text 1"/>
          <p:cNvSpPr/>
          <p:nvPr/>
        </p:nvSpPr>
        <p:spPr>
          <a:xfrm>
            <a:off x="566928" y="566928"/>
            <a:ext cx="11027664" cy="566928"/>
          </a:xfrm>
          <a:prstGeom prst="rect">
            <a:avLst/>
          </a:prstGeom>
          <a:noFill/>
          <a:ln/>
        </p:spPr>
        <p:txBody>
          <a:bodyPr wrap="square" lIns="0" tIns="0" rIns="0" bIns="0" rtlCol="0" anchor="ctr"/>
          <a:lstStyle/>
          <a:p>
            <a:pPr indent="0" marL="0">
              <a:buNone/>
            </a:pPr>
            <a:r>
              <a:rPr lang="en-US" sz="3000" b="1" dirty="0">
                <a:solidFill>
                  <a:srgbClr val="1B365D"/>
                </a:solidFill>
                <a:latin typeface="Cambria" pitchFamily="34" charset="0"/>
                <a:ea typeface="Cambria" pitchFamily="34" charset="-122"/>
                <a:cs typeface="Cambria" pitchFamily="34" charset="-120"/>
              </a:rPr>
              <a:t>Problem Statement</a:t>
            </a:r>
            <a:endParaRPr lang="en-US" sz="3000" dirty="0"/>
          </a:p>
        </p:txBody>
      </p:sp>
      <p:sp>
        <p:nvSpPr>
          <p:cNvPr id="4" name="Shape 2"/>
          <p:cNvSpPr/>
          <p:nvPr/>
        </p:nvSpPr>
        <p:spPr>
          <a:xfrm>
            <a:off x="566928" y="1371600"/>
            <a:ext cx="11027664" cy="1298448"/>
          </a:xfrm>
          <a:prstGeom prst="roundRect">
            <a:avLst>
              <a:gd name="adj" fmla="val 4225"/>
            </a:avLst>
          </a:prstGeom>
          <a:solidFill>
            <a:srgbClr val="1B365D"/>
          </a:solidFill>
          <a:ln w="12700">
            <a:solidFill>
              <a:srgbClr val="1B365D"/>
            </a:solidFill>
            <a:prstDash val="solid"/>
          </a:ln>
        </p:spPr>
      </p:sp>
      <p:sp>
        <p:nvSpPr>
          <p:cNvPr id="5" name="Text 3"/>
          <p:cNvSpPr/>
          <p:nvPr/>
        </p:nvSpPr>
        <p:spPr>
          <a:xfrm>
            <a:off x="886968" y="1371600"/>
            <a:ext cx="10387584" cy="1298448"/>
          </a:xfrm>
          <a:prstGeom prst="rect">
            <a:avLst/>
          </a:prstGeom>
          <a:noFill/>
          <a:ln/>
        </p:spPr>
        <p:txBody>
          <a:bodyPr wrap="square" lIns="0" tIns="0" rIns="0" bIns="0" rtlCol="0" anchor="ctr"/>
          <a:lstStyle/>
          <a:p>
            <a:pPr indent="0" marL="0">
              <a:lnSpc>
                <a:spcPts val="2600"/>
              </a:lnSpc>
              <a:buNone/>
            </a:pPr>
            <a:r>
              <a:rPr lang="en-US" sz="1700" i="1" dirty="0">
                <a:solidFill>
                  <a:srgbClr val="FFFFFF"/>
                </a:solidFill>
                <a:latin typeface="Cambria" pitchFamily="34" charset="0"/>
                <a:ea typeface="Cambria" pitchFamily="34" charset="-122"/>
                <a:cs typeface="Cambria" pitchFamily="34" charset="-120"/>
              </a:rPr>
              <a:t>“To develop a machine learning based system that can estimate residential property prices using property characteristics and location-related features, while identifying the factors that influence the prediction.”</a:t>
            </a:r>
            <a:endParaRPr lang="en-US" sz="1700" dirty="0"/>
          </a:p>
        </p:txBody>
      </p:sp>
      <p:sp>
        <p:nvSpPr>
          <p:cNvPr id="6" name="Shape 4"/>
          <p:cNvSpPr/>
          <p:nvPr/>
        </p:nvSpPr>
        <p:spPr>
          <a:xfrm>
            <a:off x="566928" y="2944368"/>
            <a:ext cx="365760" cy="365760"/>
          </a:xfrm>
          <a:prstGeom prst="ellipse">
            <a:avLst/>
          </a:prstGeom>
          <a:solidFill>
            <a:srgbClr val="1B365D"/>
          </a:solidFill>
          <a:ln w="12700">
            <a:solidFill>
              <a:srgbClr val="1B365D"/>
            </a:solidFill>
            <a:prstDash val="solid"/>
          </a:ln>
        </p:spPr>
      </p:sp>
      <p:sp>
        <p:nvSpPr>
          <p:cNvPr id="7" name="Text 5"/>
          <p:cNvSpPr/>
          <p:nvPr/>
        </p:nvSpPr>
        <p:spPr>
          <a:xfrm>
            <a:off x="566928" y="2944368"/>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8" name="Text 6"/>
          <p:cNvSpPr/>
          <p:nvPr/>
        </p:nvSpPr>
        <p:spPr>
          <a:xfrm>
            <a:off x="1115568" y="2907792"/>
            <a:ext cx="10332720" cy="246888"/>
          </a:xfrm>
          <a:prstGeom prst="rect">
            <a:avLst/>
          </a:prstGeom>
          <a:noFill/>
          <a:ln/>
        </p:spPr>
        <p:txBody>
          <a:bodyPr wrap="square" lIns="0" tIns="0" rIns="0" bIns="0" rtlCol="0" anchor="ctr"/>
          <a:lstStyle/>
          <a:p>
            <a:pPr indent="0" marL="0">
              <a:buNone/>
            </a:pPr>
            <a:r>
              <a:rPr lang="en-US" sz="1350" b="1" dirty="0">
                <a:solidFill>
                  <a:srgbClr val="1B365D"/>
                </a:solidFill>
                <a:latin typeface="Calibri" pitchFamily="34" charset="0"/>
                <a:ea typeface="Calibri" pitchFamily="34" charset="-122"/>
                <a:cs typeface="Calibri" pitchFamily="34" charset="-120"/>
              </a:rPr>
              <a:t>Multiple influencing variables</a:t>
            </a:r>
            <a:endParaRPr lang="en-US" sz="1350" dirty="0"/>
          </a:p>
        </p:txBody>
      </p:sp>
      <p:sp>
        <p:nvSpPr>
          <p:cNvPr id="9" name="Text 7"/>
          <p:cNvSpPr/>
          <p:nvPr/>
        </p:nvSpPr>
        <p:spPr>
          <a:xfrm>
            <a:off x="1115568" y="3154680"/>
            <a:ext cx="10332720" cy="246888"/>
          </a:xfrm>
          <a:prstGeom prst="rect">
            <a:avLst/>
          </a:prstGeom>
          <a:noFill/>
          <a:ln/>
        </p:spPr>
        <p:txBody>
          <a:bodyPr wrap="square" lIns="0" tIns="0" rIns="0" bIns="0" rtlCol="0" anchor="ctr"/>
          <a:lstStyle/>
          <a:p>
            <a:pPr indent="0" marL="0">
              <a:buNone/>
            </a:pPr>
            <a:r>
              <a:rPr lang="en-US" sz="1180" dirty="0">
                <a:solidFill>
                  <a:srgbClr val="5C6675"/>
                </a:solidFill>
                <a:latin typeface="Calibri" pitchFamily="34" charset="0"/>
                <a:ea typeface="Calibri" pitchFamily="34" charset="-122"/>
                <a:cs typeface="Calibri" pitchFamily="34" charset="-120"/>
              </a:rPr>
              <a:t>Price depends on area, configuration, locality and accessibility acting together rather than in isolation.</a:t>
            </a:r>
            <a:endParaRPr lang="en-US" sz="1180" dirty="0"/>
          </a:p>
        </p:txBody>
      </p:sp>
      <p:sp>
        <p:nvSpPr>
          <p:cNvPr id="10" name="Shape 8"/>
          <p:cNvSpPr/>
          <p:nvPr/>
        </p:nvSpPr>
        <p:spPr>
          <a:xfrm>
            <a:off x="566928" y="3602736"/>
            <a:ext cx="365760" cy="365760"/>
          </a:xfrm>
          <a:prstGeom prst="ellipse">
            <a:avLst/>
          </a:prstGeom>
          <a:solidFill>
            <a:srgbClr val="1B365D"/>
          </a:solidFill>
          <a:ln w="12700">
            <a:solidFill>
              <a:srgbClr val="1B365D"/>
            </a:solidFill>
            <a:prstDash val="solid"/>
          </a:ln>
        </p:spPr>
      </p:sp>
      <p:sp>
        <p:nvSpPr>
          <p:cNvPr id="11" name="Text 9"/>
          <p:cNvSpPr/>
          <p:nvPr/>
        </p:nvSpPr>
        <p:spPr>
          <a:xfrm>
            <a:off x="566928" y="3602736"/>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2" name="Text 10"/>
          <p:cNvSpPr/>
          <p:nvPr/>
        </p:nvSpPr>
        <p:spPr>
          <a:xfrm>
            <a:off x="1115568" y="3566160"/>
            <a:ext cx="10332720" cy="246888"/>
          </a:xfrm>
          <a:prstGeom prst="rect">
            <a:avLst/>
          </a:prstGeom>
          <a:noFill/>
          <a:ln/>
        </p:spPr>
        <p:txBody>
          <a:bodyPr wrap="square" lIns="0" tIns="0" rIns="0" bIns="0" rtlCol="0" anchor="ctr"/>
          <a:lstStyle/>
          <a:p>
            <a:pPr indent="0" marL="0">
              <a:buNone/>
            </a:pPr>
            <a:r>
              <a:rPr lang="en-US" sz="1350" b="1" dirty="0">
                <a:solidFill>
                  <a:srgbClr val="1B365D"/>
                </a:solidFill>
                <a:latin typeface="Calibri" pitchFamily="34" charset="0"/>
                <a:ea typeface="Calibri" pitchFamily="34" charset="-122"/>
                <a:cs typeface="Calibri" pitchFamily="34" charset="-120"/>
              </a:rPr>
              <a:t>Non-linear relationships</a:t>
            </a:r>
            <a:endParaRPr lang="en-US" sz="1350" dirty="0"/>
          </a:p>
        </p:txBody>
      </p:sp>
      <p:sp>
        <p:nvSpPr>
          <p:cNvPr id="13" name="Text 11"/>
          <p:cNvSpPr/>
          <p:nvPr/>
        </p:nvSpPr>
        <p:spPr>
          <a:xfrm>
            <a:off x="1115568" y="3813048"/>
            <a:ext cx="10332720" cy="246888"/>
          </a:xfrm>
          <a:prstGeom prst="rect">
            <a:avLst/>
          </a:prstGeom>
          <a:noFill/>
          <a:ln/>
        </p:spPr>
        <p:txBody>
          <a:bodyPr wrap="square" lIns="0" tIns="0" rIns="0" bIns="0" rtlCol="0" anchor="ctr"/>
          <a:lstStyle/>
          <a:p>
            <a:pPr indent="0" marL="0">
              <a:buNone/>
            </a:pPr>
            <a:r>
              <a:rPr lang="en-US" sz="1180" dirty="0">
                <a:solidFill>
                  <a:srgbClr val="5C6675"/>
                </a:solidFill>
                <a:latin typeface="Calibri" pitchFamily="34" charset="0"/>
                <a:ea typeface="Calibri" pitchFamily="34" charset="-122"/>
                <a:cs typeface="Calibri" pitchFamily="34" charset="-120"/>
              </a:rPr>
              <a:t>The effect of one variable may change depending on the value of another, which limits simple linear estimation.</a:t>
            </a:r>
            <a:endParaRPr lang="en-US" sz="1180" dirty="0"/>
          </a:p>
        </p:txBody>
      </p:sp>
      <p:sp>
        <p:nvSpPr>
          <p:cNvPr id="14" name="Shape 12"/>
          <p:cNvSpPr/>
          <p:nvPr/>
        </p:nvSpPr>
        <p:spPr>
          <a:xfrm>
            <a:off x="566928" y="4261104"/>
            <a:ext cx="365760" cy="365760"/>
          </a:xfrm>
          <a:prstGeom prst="ellipse">
            <a:avLst/>
          </a:prstGeom>
          <a:solidFill>
            <a:srgbClr val="1B365D"/>
          </a:solidFill>
          <a:ln w="12700">
            <a:solidFill>
              <a:srgbClr val="1B365D"/>
            </a:solidFill>
            <a:prstDash val="solid"/>
          </a:ln>
        </p:spPr>
      </p:sp>
      <p:sp>
        <p:nvSpPr>
          <p:cNvPr id="15" name="Text 13"/>
          <p:cNvSpPr/>
          <p:nvPr/>
        </p:nvSpPr>
        <p:spPr>
          <a:xfrm>
            <a:off x="566928" y="4261104"/>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6" name="Text 14"/>
          <p:cNvSpPr/>
          <p:nvPr/>
        </p:nvSpPr>
        <p:spPr>
          <a:xfrm>
            <a:off x="1115568" y="4224528"/>
            <a:ext cx="10332720" cy="246888"/>
          </a:xfrm>
          <a:prstGeom prst="rect">
            <a:avLst/>
          </a:prstGeom>
          <a:noFill/>
          <a:ln/>
        </p:spPr>
        <p:txBody>
          <a:bodyPr wrap="square" lIns="0" tIns="0" rIns="0" bIns="0" rtlCol="0" anchor="ctr"/>
          <a:lstStyle/>
          <a:p>
            <a:pPr indent="0" marL="0">
              <a:buNone/>
            </a:pPr>
            <a:r>
              <a:rPr lang="en-US" sz="1350" b="1" dirty="0">
                <a:solidFill>
                  <a:srgbClr val="1B365D"/>
                </a:solidFill>
                <a:latin typeface="Calibri" pitchFamily="34" charset="0"/>
                <a:ea typeface="Calibri" pitchFamily="34" charset="-122"/>
                <a:cs typeface="Calibri" pitchFamily="34" charset="-120"/>
              </a:rPr>
              <a:t>Difficulty of manual estimation</a:t>
            </a:r>
            <a:endParaRPr lang="en-US" sz="1350" dirty="0"/>
          </a:p>
        </p:txBody>
      </p:sp>
      <p:sp>
        <p:nvSpPr>
          <p:cNvPr id="17" name="Text 15"/>
          <p:cNvSpPr/>
          <p:nvPr/>
        </p:nvSpPr>
        <p:spPr>
          <a:xfrm>
            <a:off x="1115568" y="4471416"/>
            <a:ext cx="10332720" cy="246888"/>
          </a:xfrm>
          <a:prstGeom prst="rect">
            <a:avLst/>
          </a:prstGeom>
          <a:noFill/>
          <a:ln/>
        </p:spPr>
        <p:txBody>
          <a:bodyPr wrap="square" lIns="0" tIns="0" rIns="0" bIns="0" rtlCol="0" anchor="ctr"/>
          <a:lstStyle/>
          <a:p>
            <a:pPr indent="0" marL="0">
              <a:buNone/>
            </a:pPr>
            <a:r>
              <a:rPr lang="en-US" sz="1180" dirty="0">
                <a:solidFill>
                  <a:srgbClr val="5C6675"/>
                </a:solidFill>
                <a:latin typeface="Calibri" pitchFamily="34" charset="0"/>
                <a:ea typeface="Calibri" pitchFamily="34" charset="-122"/>
                <a:cs typeface="Calibri" pitchFamily="34" charset="-120"/>
              </a:rPr>
              <a:t>Comparing a property against thousands of historical records by hand is impractical for an individual buyer.</a:t>
            </a:r>
            <a:endParaRPr lang="en-US" sz="1180" dirty="0"/>
          </a:p>
        </p:txBody>
      </p:sp>
      <p:sp>
        <p:nvSpPr>
          <p:cNvPr id="18" name="Shape 16"/>
          <p:cNvSpPr/>
          <p:nvPr/>
        </p:nvSpPr>
        <p:spPr>
          <a:xfrm>
            <a:off x="566928" y="4919472"/>
            <a:ext cx="365760" cy="365760"/>
          </a:xfrm>
          <a:prstGeom prst="ellipse">
            <a:avLst/>
          </a:prstGeom>
          <a:solidFill>
            <a:srgbClr val="1B365D"/>
          </a:solidFill>
          <a:ln w="12700">
            <a:solidFill>
              <a:srgbClr val="1B365D"/>
            </a:solidFill>
            <a:prstDash val="solid"/>
          </a:ln>
        </p:spPr>
      </p:sp>
      <p:sp>
        <p:nvSpPr>
          <p:cNvPr id="19" name="Text 17"/>
          <p:cNvSpPr/>
          <p:nvPr/>
        </p:nvSpPr>
        <p:spPr>
          <a:xfrm>
            <a:off x="566928" y="4919472"/>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0" name="Text 18"/>
          <p:cNvSpPr/>
          <p:nvPr/>
        </p:nvSpPr>
        <p:spPr>
          <a:xfrm>
            <a:off x="1115568" y="4882896"/>
            <a:ext cx="10332720" cy="246888"/>
          </a:xfrm>
          <a:prstGeom prst="rect">
            <a:avLst/>
          </a:prstGeom>
          <a:noFill/>
          <a:ln/>
        </p:spPr>
        <p:txBody>
          <a:bodyPr wrap="square" lIns="0" tIns="0" rIns="0" bIns="0" rtlCol="0" anchor="ctr"/>
          <a:lstStyle/>
          <a:p>
            <a:pPr indent="0" marL="0">
              <a:buNone/>
            </a:pPr>
            <a:r>
              <a:rPr lang="en-US" sz="1350" b="1" dirty="0">
                <a:solidFill>
                  <a:srgbClr val="1B365D"/>
                </a:solidFill>
                <a:latin typeface="Calibri" pitchFamily="34" charset="0"/>
                <a:ea typeface="Calibri" pitchFamily="34" charset="-122"/>
                <a:cs typeface="Calibri" pitchFamily="34" charset="-120"/>
              </a:rPr>
              <a:t>Learning from historical data</a:t>
            </a:r>
            <a:endParaRPr lang="en-US" sz="1350" dirty="0"/>
          </a:p>
        </p:txBody>
      </p:sp>
      <p:sp>
        <p:nvSpPr>
          <p:cNvPr id="21" name="Text 19"/>
          <p:cNvSpPr/>
          <p:nvPr/>
        </p:nvSpPr>
        <p:spPr>
          <a:xfrm>
            <a:off x="1115568" y="5129784"/>
            <a:ext cx="10332720" cy="246888"/>
          </a:xfrm>
          <a:prstGeom prst="rect">
            <a:avLst/>
          </a:prstGeom>
          <a:noFill/>
          <a:ln/>
        </p:spPr>
        <p:txBody>
          <a:bodyPr wrap="square" lIns="0" tIns="0" rIns="0" bIns="0" rtlCol="0" anchor="ctr"/>
          <a:lstStyle/>
          <a:p>
            <a:pPr indent="0" marL="0">
              <a:buNone/>
            </a:pPr>
            <a:r>
              <a:rPr lang="en-US" sz="1180" dirty="0">
                <a:solidFill>
                  <a:srgbClr val="5C6675"/>
                </a:solidFill>
                <a:latin typeface="Calibri" pitchFamily="34" charset="0"/>
                <a:ea typeface="Calibri" pitchFamily="34" charset="-122"/>
                <a:cs typeface="Calibri" pitchFamily="34" charset="-120"/>
              </a:rPr>
              <a:t>A regression model can learn these patterns from labelled records and generalise to unseen properties.</a:t>
            </a:r>
            <a:endParaRPr lang="en-US" sz="1180" dirty="0"/>
          </a:p>
        </p:txBody>
      </p:sp>
      <p:sp>
        <p:nvSpPr>
          <p:cNvPr id="22" name="Shape 20"/>
          <p:cNvSpPr/>
          <p:nvPr/>
        </p:nvSpPr>
        <p:spPr>
          <a:xfrm>
            <a:off x="566928" y="5577840"/>
            <a:ext cx="365760" cy="365760"/>
          </a:xfrm>
          <a:prstGeom prst="ellipse">
            <a:avLst/>
          </a:prstGeom>
          <a:solidFill>
            <a:srgbClr val="1B365D"/>
          </a:solidFill>
          <a:ln w="12700">
            <a:solidFill>
              <a:srgbClr val="1B365D"/>
            </a:solidFill>
            <a:prstDash val="solid"/>
          </a:ln>
        </p:spPr>
      </p:sp>
      <p:sp>
        <p:nvSpPr>
          <p:cNvPr id="23" name="Text 21"/>
          <p:cNvSpPr/>
          <p:nvPr/>
        </p:nvSpPr>
        <p:spPr>
          <a:xfrm>
            <a:off x="566928" y="557784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4" name="Text 22"/>
          <p:cNvSpPr/>
          <p:nvPr/>
        </p:nvSpPr>
        <p:spPr>
          <a:xfrm>
            <a:off x="1115568" y="5541264"/>
            <a:ext cx="10332720" cy="246888"/>
          </a:xfrm>
          <a:prstGeom prst="rect">
            <a:avLst/>
          </a:prstGeom>
          <a:noFill/>
          <a:ln/>
        </p:spPr>
        <p:txBody>
          <a:bodyPr wrap="square" lIns="0" tIns="0" rIns="0" bIns="0" rtlCol="0" anchor="ctr"/>
          <a:lstStyle/>
          <a:p>
            <a:pPr indent="0" marL="0">
              <a:buNone/>
            </a:pPr>
            <a:r>
              <a:rPr lang="en-US" sz="1350" b="1" dirty="0">
                <a:solidFill>
                  <a:srgbClr val="1B365D"/>
                </a:solidFill>
                <a:latin typeface="Calibri" pitchFamily="34" charset="0"/>
                <a:ea typeface="Calibri" pitchFamily="34" charset="-122"/>
                <a:cs typeface="Calibri" pitchFamily="34" charset="-120"/>
              </a:rPr>
              <a:t>Interpretability requirement</a:t>
            </a:r>
            <a:endParaRPr lang="en-US" sz="1350" dirty="0"/>
          </a:p>
        </p:txBody>
      </p:sp>
      <p:sp>
        <p:nvSpPr>
          <p:cNvPr id="25" name="Text 23"/>
          <p:cNvSpPr/>
          <p:nvPr/>
        </p:nvSpPr>
        <p:spPr>
          <a:xfrm>
            <a:off x="1115568" y="5788152"/>
            <a:ext cx="10332720" cy="246888"/>
          </a:xfrm>
          <a:prstGeom prst="rect">
            <a:avLst/>
          </a:prstGeom>
          <a:noFill/>
          <a:ln/>
        </p:spPr>
        <p:txBody>
          <a:bodyPr wrap="square" lIns="0" tIns="0" rIns="0" bIns="0" rtlCol="0" anchor="ctr"/>
          <a:lstStyle/>
          <a:p>
            <a:pPr indent="0" marL="0">
              <a:buNone/>
            </a:pPr>
            <a:r>
              <a:rPr lang="en-US" sz="1180" dirty="0">
                <a:solidFill>
                  <a:srgbClr val="5C6675"/>
                </a:solidFill>
                <a:latin typeface="Calibri" pitchFamily="34" charset="0"/>
                <a:ea typeface="Calibri" pitchFamily="34" charset="-122"/>
                <a:cs typeface="Calibri" pitchFamily="34" charset="-120"/>
              </a:rPr>
              <a:t>The system should indicate which features influenced a prediction, not only produce a number.</a:t>
            </a:r>
            <a:endParaRPr lang="en-US" sz="1180" dirty="0"/>
          </a:p>
        </p:txBody>
      </p:sp>
      <p:sp>
        <p:nvSpPr>
          <p:cNvPr id="26" name="Text 24"/>
          <p:cNvSpPr/>
          <p:nvPr/>
        </p:nvSpPr>
        <p:spPr>
          <a:xfrm>
            <a:off x="11045952" y="6419088"/>
            <a:ext cx="548640" cy="256032"/>
          </a:xfrm>
          <a:prstGeom prst="rect">
            <a:avLst/>
          </a:prstGeom>
          <a:noFill/>
          <a:ln/>
        </p:spPr>
        <p:txBody>
          <a:bodyPr wrap="square" lIns="0" tIns="0" rIns="0" bIns="0" rtlCol="0" anchor="ctr"/>
          <a:lstStyle/>
          <a:p>
            <a:pPr algn="r" indent="0" marL="0">
              <a:buNone/>
            </a:pPr>
            <a:r>
              <a:rPr lang="en-US" sz="1000" dirty="0">
                <a:solidFill>
                  <a:srgbClr val="5C6675"/>
                </a:solidFill>
                <a:latin typeface="Calibri" pitchFamily="34" charset="0"/>
                <a:ea typeface="Calibri" pitchFamily="34" charset="-122"/>
                <a:cs typeface="Calibri" pitchFamily="34" charset="-120"/>
              </a:rPr>
              <a:t>4</a:t>
            </a:r>
            <a:endParaRPr lang="en-US" sz="1000" dirty="0"/>
          </a:p>
        </p:txBody>
      </p:sp>
      <p:sp>
        <p:nvSpPr>
          <p:cNvPr id="27" name="Text 25"/>
          <p:cNvSpPr/>
          <p:nvPr/>
        </p:nvSpPr>
        <p:spPr>
          <a:xfrm>
            <a:off x="566928" y="6419088"/>
            <a:ext cx="7315200" cy="256032"/>
          </a:xfrm>
          <a:prstGeom prst="rect">
            <a:avLst/>
          </a:prstGeom>
          <a:noFill/>
          <a:ln/>
        </p:spPr>
        <p:txBody>
          <a:bodyPr wrap="square" lIns="0" tIns="0" rIns="0" bIns="0" rtlCol="0" anchor="ctr"/>
          <a:lstStyle/>
          <a:p>
            <a:pPr indent="0" marL="0">
              <a:buNone/>
            </a:pPr>
            <a:r>
              <a:rPr lang="en-US" sz="1000" dirty="0">
                <a:solidFill>
                  <a:srgbClr val="5C6675"/>
                </a:solidFill>
                <a:latin typeface="Calibri" pitchFamily="34" charset="0"/>
                <a:ea typeface="Calibri" pitchFamily="34" charset="-122"/>
                <a:cs typeface="Calibri" pitchFamily="34" charset="-120"/>
              </a:rPr>
              <a:t>Project Review 1  ·  B.Tech CSE (AI &amp; ML)  ·  SRMIST</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8229600" cy="237744"/>
          </a:xfrm>
          <a:prstGeom prst="rect">
            <a:avLst/>
          </a:prstGeom>
          <a:noFill/>
          <a:ln/>
        </p:spPr>
        <p:txBody>
          <a:bodyPr wrap="square" lIns="0" tIns="0" rIns="0" bIns="0" rtlCol="0" anchor="ctr"/>
          <a:lstStyle/>
          <a:p>
            <a:pPr indent="0" marL="0">
              <a:buNone/>
            </a:pPr>
            <a:r>
              <a:rPr lang="en-US" sz="1100" b="1" spc="160" kern="0" dirty="0">
                <a:solidFill>
                  <a:srgbClr val="C2703A"/>
                </a:solidFill>
                <a:latin typeface="Calibri" pitchFamily="34" charset="0"/>
                <a:ea typeface="Calibri" pitchFamily="34" charset="-122"/>
                <a:cs typeface="Calibri" pitchFamily="34" charset="-120"/>
              </a:rPr>
              <a:t>AIM AND SCOPE</a:t>
            </a:r>
            <a:endParaRPr lang="en-US" sz="1100" dirty="0"/>
          </a:p>
        </p:txBody>
      </p:sp>
      <p:sp>
        <p:nvSpPr>
          <p:cNvPr id="3" name="Text 1"/>
          <p:cNvSpPr/>
          <p:nvPr/>
        </p:nvSpPr>
        <p:spPr>
          <a:xfrm>
            <a:off x="566928" y="566928"/>
            <a:ext cx="11027664" cy="566928"/>
          </a:xfrm>
          <a:prstGeom prst="rect">
            <a:avLst/>
          </a:prstGeom>
          <a:noFill/>
          <a:ln/>
        </p:spPr>
        <p:txBody>
          <a:bodyPr wrap="square" lIns="0" tIns="0" rIns="0" bIns="0" rtlCol="0" anchor="ctr"/>
          <a:lstStyle/>
          <a:p>
            <a:pPr indent="0" marL="0">
              <a:buNone/>
            </a:pPr>
            <a:r>
              <a:rPr lang="en-US" sz="3000" b="1" dirty="0">
                <a:solidFill>
                  <a:srgbClr val="1B365D"/>
                </a:solidFill>
                <a:latin typeface="Cambria" pitchFamily="34" charset="0"/>
                <a:ea typeface="Cambria" pitchFamily="34" charset="-122"/>
                <a:cs typeface="Cambria" pitchFamily="34" charset="-120"/>
              </a:rPr>
              <a:t>Objectives</a:t>
            </a:r>
            <a:endParaRPr lang="en-US" sz="3000" dirty="0"/>
          </a:p>
        </p:txBody>
      </p:sp>
      <p:sp>
        <p:nvSpPr>
          <p:cNvPr id="4" name="Shape 2"/>
          <p:cNvSpPr/>
          <p:nvPr/>
        </p:nvSpPr>
        <p:spPr>
          <a:xfrm>
            <a:off x="566928" y="1353312"/>
            <a:ext cx="11027664" cy="713232"/>
          </a:xfrm>
          <a:prstGeom prst="roundRect">
            <a:avLst>
              <a:gd name="adj" fmla="val 7692"/>
            </a:avLst>
          </a:prstGeom>
          <a:solidFill>
            <a:srgbClr val="F4F6F9"/>
          </a:solidFill>
          <a:ln w="17780">
            <a:solidFill>
              <a:srgbClr val="C2703A"/>
            </a:solidFill>
            <a:prstDash val="solid"/>
          </a:ln>
        </p:spPr>
      </p:sp>
      <p:sp>
        <p:nvSpPr>
          <p:cNvPr id="5" name="Text 3"/>
          <p:cNvSpPr/>
          <p:nvPr/>
        </p:nvSpPr>
        <p:spPr>
          <a:xfrm>
            <a:off x="841248" y="1353312"/>
            <a:ext cx="10479024" cy="713232"/>
          </a:xfrm>
          <a:prstGeom prst="rect">
            <a:avLst/>
          </a:prstGeom>
          <a:noFill/>
          <a:ln/>
        </p:spPr>
        <p:txBody>
          <a:bodyPr wrap="square" lIns="0" tIns="0" rIns="0" bIns="0" rtlCol="0" anchor="ctr"/>
          <a:lstStyle/>
          <a:p>
            <a:pPr indent="0" marL="0">
              <a:buNone/>
            </a:pPr>
            <a:r>
              <a:rPr lang="en-US" sz="1400" b="1" dirty="0">
                <a:solidFill>
                  <a:srgbClr val="C2703A"/>
                </a:solidFill>
                <a:latin typeface="Calibri" pitchFamily="34" charset="0"/>
                <a:ea typeface="Calibri" pitchFamily="34" charset="-122"/>
                <a:cs typeface="Calibri" pitchFamily="34" charset="-120"/>
              </a:rPr>
              <a:t>Primary objective:  </a:t>
            </a:r>
            <a:pPr indent="0" marL="0">
              <a:buNone/>
            </a:pPr>
            <a:r>
              <a:rPr lang="en-US" sz="1400" dirty="0">
                <a:solidFill>
                  <a:srgbClr val="1F2430"/>
                </a:solidFill>
                <a:latin typeface="Calibri" pitchFamily="34" charset="0"/>
                <a:ea typeface="Calibri" pitchFamily="34" charset="-122"/>
                <a:cs typeface="Calibri" pitchFamily="34" charset="-120"/>
              </a:rPr>
              <a:t>to develop and evaluate a machine learning model for residential property price prediction.</a:t>
            </a:r>
            <a:endParaRPr lang="en-US" sz="1400" dirty="0"/>
          </a:p>
        </p:txBody>
      </p:sp>
      <p:sp>
        <p:nvSpPr>
          <p:cNvPr id="6" name="Shape 4"/>
          <p:cNvSpPr/>
          <p:nvPr/>
        </p:nvSpPr>
        <p:spPr>
          <a:xfrm>
            <a:off x="566928" y="2395728"/>
            <a:ext cx="365760" cy="365760"/>
          </a:xfrm>
          <a:prstGeom prst="ellipse">
            <a:avLst/>
          </a:prstGeom>
          <a:solidFill>
            <a:srgbClr val="1B365D"/>
          </a:solidFill>
          <a:ln w="12700">
            <a:solidFill>
              <a:srgbClr val="1B365D"/>
            </a:solidFill>
            <a:prstDash val="solid"/>
          </a:ln>
        </p:spPr>
      </p:sp>
      <p:sp>
        <p:nvSpPr>
          <p:cNvPr id="7" name="Text 5"/>
          <p:cNvSpPr/>
          <p:nvPr/>
        </p:nvSpPr>
        <p:spPr>
          <a:xfrm>
            <a:off x="566928" y="2395728"/>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8" name="Text 6"/>
          <p:cNvSpPr/>
          <p:nvPr/>
        </p:nvSpPr>
        <p:spPr>
          <a:xfrm>
            <a:off x="1097280" y="2377440"/>
            <a:ext cx="4846320" cy="475488"/>
          </a:xfrm>
          <a:prstGeom prst="rect">
            <a:avLst/>
          </a:prstGeom>
          <a:noFill/>
          <a:ln/>
        </p:spPr>
        <p:txBody>
          <a:bodyPr wrap="square" lIns="0" tIns="0" rIns="0" bIns="0" rtlCol="0" anchor="ctr"/>
          <a:lstStyle/>
          <a:p>
            <a:pPr indent="0" marL="0">
              <a:lnSpc>
                <a:spcPts val="1600"/>
              </a:lnSpc>
              <a:buNone/>
            </a:pPr>
            <a:r>
              <a:rPr lang="en-US" sz="1250" dirty="0">
                <a:solidFill>
                  <a:srgbClr val="1F2430"/>
                </a:solidFill>
                <a:latin typeface="Calibri" pitchFamily="34" charset="0"/>
                <a:ea typeface="Calibri" pitchFamily="34" charset="-122"/>
                <a:cs typeface="Calibri" pitchFamily="34" charset="-120"/>
              </a:rPr>
              <a:t>Understand and preprocess the selected dataset.</a:t>
            </a:r>
            <a:endParaRPr lang="en-US" sz="1250" dirty="0"/>
          </a:p>
        </p:txBody>
      </p:sp>
      <p:sp>
        <p:nvSpPr>
          <p:cNvPr id="9" name="Shape 7"/>
          <p:cNvSpPr/>
          <p:nvPr/>
        </p:nvSpPr>
        <p:spPr>
          <a:xfrm>
            <a:off x="566928" y="3072384"/>
            <a:ext cx="365760" cy="365760"/>
          </a:xfrm>
          <a:prstGeom prst="ellipse">
            <a:avLst/>
          </a:prstGeom>
          <a:solidFill>
            <a:srgbClr val="1B365D"/>
          </a:solidFill>
          <a:ln w="12700">
            <a:solidFill>
              <a:srgbClr val="1B365D"/>
            </a:solidFill>
            <a:prstDash val="solid"/>
          </a:ln>
        </p:spPr>
      </p:sp>
      <p:sp>
        <p:nvSpPr>
          <p:cNvPr id="10" name="Text 8"/>
          <p:cNvSpPr/>
          <p:nvPr/>
        </p:nvSpPr>
        <p:spPr>
          <a:xfrm>
            <a:off x="566928" y="3072384"/>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1" name="Text 9"/>
          <p:cNvSpPr/>
          <p:nvPr/>
        </p:nvSpPr>
        <p:spPr>
          <a:xfrm>
            <a:off x="1097280" y="3054096"/>
            <a:ext cx="4846320" cy="475488"/>
          </a:xfrm>
          <a:prstGeom prst="rect">
            <a:avLst/>
          </a:prstGeom>
          <a:noFill/>
          <a:ln/>
        </p:spPr>
        <p:txBody>
          <a:bodyPr wrap="square" lIns="0" tIns="0" rIns="0" bIns="0" rtlCol="0" anchor="ctr"/>
          <a:lstStyle/>
          <a:p>
            <a:pPr indent="0" marL="0">
              <a:lnSpc>
                <a:spcPts val="1600"/>
              </a:lnSpc>
              <a:buNone/>
            </a:pPr>
            <a:r>
              <a:rPr lang="en-US" sz="1250" dirty="0">
                <a:solidFill>
                  <a:srgbClr val="1F2430"/>
                </a:solidFill>
                <a:latin typeface="Calibri" pitchFamily="34" charset="0"/>
                <a:ea typeface="Calibri" pitchFamily="34" charset="-122"/>
                <a:cs typeface="Calibri" pitchFamily="34" charset="-120"/>
              </a:rPr>
              <a:t>Perform statistical analysis and exploratory data analysis.</a:t>
            </a:r>
            <a:endParaRPr lang="en-US" sz="1250" dirty="0"/>
          </a:p>
        </p:txBody>
      </p:sp>
      <p:sp>
        <p:nvSpPr>
          <p:cNvPr id="12" name="Shape 10"/>
          <p:cNvSpPr/>
          <p:nvPr/>
        </p:nvSpPr>
        <p:spPr>
          <a:xfrm>
            <a:off x="566928" y="3749040"/>
            <a:ext cx="365760" cy="365760"/>
          </a:xfrm>
          <a:prstGeom prst="ellipse">
            <a:avLst/>
          </a:prstGeom>
          <a:solidFill>
            <a:srgbClr val="1B365D"/>
          </a:solidFill>
          <a:ln w="12700">
            <a:solidFill>
              <a:srgbClr val="1B365D"/>
            </a:solidFill>
            <a:prstDash val="solid"/>
          </a:ln>
        </p:spPr>
      </p:sp>
      <p:sp>
        <p:nvSpPr>
          <p:cNvPr id="13" name="Text 11"/>
          <p:cNvSpPr/>
          <p:nvPr/>
        </p:nvSpPr>
        <p:spPr>
          <a:xfrm>
            <a:off x="566928" y="374904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4" name="Text 12"/>
          <p:cNvSpPr/>
          <p:nvPr/>
        </p:nvSpPr>
        <p:spPr>
          <a:xfrm>
            <a:off x="1097280" y="3730752"/>
            <a:ext cx="4846320" cy="475488"/>
          </a:xfrm>
          <a:prstGeom prst="rect">
            <a:avLst/>
          </a:prstGeom>
          <a:noFill/>
          <a:ln/>
        </p:spPr>
        <p:txBody>
          <a:bodyPr wrap="square" lIns="0" tIns="0" rIns="0" bIns="0" rtlCol="0" anchor="ctr"/>
          <a:lstStyle/>
          <a:p>
            <a:pPr indent="0" marL="0">
              <a:lnSpc>
                <a:spcPts val="1600"/>
              </a:lnSpc>
              <a:buNone/>
            </a:pPr>
            <a:r>
              <a:rPr lang="en-US" sz="1250" dirty="0">
                <a:solidFill>
                  <a:srgbClr val="1F2430"/>
                </a:solidFill>
                <a:latin typeface="Calibri" pitchFamily="34" charset="0"/>
                <a:ea typeface="Calibri" pitchFamily="34" charset="-122"/>
                <a:cs typeface="Calibri" pitchFamily="34" charset="-120"/>
              </a:rPr>
              <a:t>Identify the features that influence property price.</a:t>
            </a:r>
            <a:endParaRPr lang="en-US" sz="1250" dirty="0"/>
          </a:p>
        </p:txBody>
      </p:sp>
      <p:sp>
        <p:nvSpPr>
          <p:cNvPr id="15" name="Shape 13"/>
          <p:cNvSpPr/>
          <p:nvPr/>
        </p:nvSpPr>
        <p:spPr>
          <a:xfrm>
            <a:off x="566928" y="4425696"/>
            <a:ext cx="365760" cy="365760"/>
          </a:xfrm>
          <a:prstGeom prst="ellipse">
            <a:avLst/>
          </a:prstGeom>
          <a:solidFill>
            <a:srgbClr val="1B365D"/>
          </a:solidFill>
          <a:ln w="12700">
            <a:solidFill>
              <a:srgbClr val="1B365D"/>
            </a:solidFill>
            <a:prstDash val="solid"/>
          </a:ln>
        </p:spPr>
      </p:sp>
      <p:sp>
        <p:nvSpPr>
          <p:cNvPr id="16" name="Text 14"/>
          <p:cNvSpPr/>
          <p:nvPr/>
        </p:nvSpPr>
        <p:spPr>
          <a:xfrm>
            <a:off x="566928" y="4425696"/>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7" name="Text 15"/>
          <p:cNvSpPr/>
          <p:nvPr/>
        </p:nvSpPr>
        <p:spPr>
          <a:xfrm>
            <a:off x="1097280" y="4407408"/>
            <a:ext cx="4846320" cy="475488"/>
          </a:xfrm>
          <a:prstGeom prst="rect">
            <a:avLst/>
          </a:prstGeom>
          <a:noFill/>
          <a:ln/>
        </p:spPr>
        <p:txBody>
          <a:bodyPr wrap="square" lIns="0" tIns="0" rIns="0" bIns="0" rtlCol="0" anchor="ctr"/>
          <a:lstStyle/>
          <a:p>
            <a:pPr indent="0" marL="0">
              <a:lnSpc>
                <a:spcPts val="1600"/>
              </a:lnSpc>
              <a:buNone/>
            </a:pPr>
            <a:r>
              <a:rPr lang="en-US" sz="1250" dirty="0">
                <a:solidFill>
                  <a:srgbClr val="1F2430"/>
                </a:solidFill>
                <a:latin typeface="Calibri" pitchFamily="34" charset="0"/>
                <a:ea typeface="Calibri" pitchFamily="34" charset="-122"/>
                <a:cs typeface="Calibri" pitchFamily="34" charset="-120"/>
              </a:rPr>
              <a:t>Engineer property-level and location-level features.</a:t>
            </a:r>
            <a:endParaRPr lang="en-US" sz="1250" dirty="0"/>
          </a:p>
        </p:txBody>
      </p:sp>
      <p:sp>
        <p:nvSpPr>
          <p:cNvPr id="18" name="Shape 16"/>
          <p:cNvSpPr/>
          <p:nvPr/>
        </p:nvSpPr>
        <p:spPr>
          <a:xfrm>
            <a:off x="566928" y="5102352"/>
            <a:ext cx="365760" cy="365760"/>
          </a:xfrm>
          <a:prstGeom prst="ellipse">
            <a:avLst/>
          </a:prstGeom>
          <a:solidFill>
            <a:srgbClr val="1B365D"/>
          </a:solidFill>
          <a:ln w="12700">
            <a:solidFill>
              <a:srgbClr val="1B365D"/>
            </a:solidFill>
            <a:prstDash val="solid"/>
          </a:ln>
        </p:spPr>
      </p:sp>
      <p:sp>
        <p:nvSpPr>
          <p:cNvPr id="19" name="Text 17"/>
          <p:cNvSpPr/>
          <p:nvPr/>
        </p:nvSpPr>
        <p:spPr>
          <a:xfrm>
            <a:off x="566928" y="5102352"/>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0" name="Text 18"/>
          <p:cNvSpPr/>
          <p:nvPr/>
        </p:nvSpPr>
        <p:spPr>
          <a:xfrm>
            <a:off x="1097280" y="5084064"/>
            <a:ext cx="4846320" cy="475488"/>
          </a:xfrm>
          <a:prstGeom prst="rect">
            <a:avLst/>
          </a:prstGeom>
          <a:noFill/>
          <a:ln/>
        </p:spPr>
        <p:txBody>
          <a:bodyPr wrap="square" lIns="0" tIns="0" rIns="0" bIns="0" rtlCol="0" anchor="ctr"/>
          <a:lstStyle/>
          <a:p>
            <a:pPr indent="0" marL="0">
              <a:lnSpc>
                <a:spcPts val="1600"/>
              </a:lnSpc>
              <a:buNone/>
            </a:pPr>
            <a:r>
              <a:rPr lang="en-US" sz="1250" dirty="0">
                <a:solidFill>
                  <a:srgbClr val="1F2430"/>
                </a:solidFill>
                <a:latin typeface="Calibri" pitchFamily="34" charset="0"/>
                <a:ea typeface="Calibri" pitchFamily="34" charset="-122"/>
                <a:cs typeface="Calibri" pitchFamily="34" charset="-120"/>
              </a:rPr>
              <a:t>Train several regression models on the prepared data.</a:t>
            </a:r>
            <a:endParaRPr lang="en-US" sz="1250" dirty="0"/>
          </a:p>
        </p:txBody>
      </p:sp>
      <p:sp>
        <p:nvSpPr>
          <p:cNvPr id="21" name="Shape 19"/>
          <p:cNvSpPr/>
          <p:nvPr/>
        </p:nvSpPr>
        <p:spPr>
          <a:xfrm>
            <a:off x="6190488" y="2395728"/>
            <a:ext cx="365760" cy="365760"/>
          </a:xfrm>
          <a:prstGeom prst="ellipse">
            <a:avLst/>
          </a:prstGeom>
          <a:solidFill>
            <a:srgbClr val="1B365D"/>
          </a:solidFill>
          <a:ln w="12700">
            <a:solidFill>
              <a:srgbClr val="1B365D"/>
            </a:solidFill>
            <a:prstDash val="solid"/>
          </a:ln>
        </p:spPr>
      </p:sp>
      <p:sp>
        <p:nvSpPr>
          <p:cNvPr id="22" name="Text 20"/>
          <p:cNvSpPr/>
          <p:nvPr/>
        </p:nvSpPr>
        <p:spPr>
          <a:xfrm>
            <a:off x="6190488" y="2395728"/>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23" name="Text 21"/>
          <p:cNvSpPr/>
          <p:nvPr/>
        </p:nvSpPr>
        <p:spPr>
          <a:xfrm>
            <a:off x="6720840" y="2377440"/>
            <a:ext cx="4846320" cy="475488"/>
          </a:xfrm>
          <a:prstGeom prst="rect">
            <a:avLst/>
          </a:prstGeom>
          <a:noFill/>
          <a:ln/>
        </p:spPr>
        <p:txBody>
          <a:bodyPr wrap="square" lIns="0" tIns="0" rIns="0" bIns="0" rtlCol="0" anchor="ctr"/>
          <a:lstStyle/>
          <a:p>
            <a:pPr indent="0" marL="0">
              <a:lnSpc>
                <a:spcPts val="1600"/>
              </a:lnSpc>
              <a:buNone/>
            </a:pPr>
            <a:r>
              <a:rPr lang="en-US" sz="1250" dirty="0">
                <a:solidFill>
                  <a:srgbClr val="1F2430"/>
                </a:solidFill>
                <a:latin typeface="Calibri" pitchFamily="34" charset="0"/>
                <a:ea typeface="Calibri" pitchFamily="34" charset="-122"/>
                <a:cs typeface="Calibri" pitchFamily="34" charset="-120"/>
              </a:rPr>
              <a:t>Compare model performance under a common evaluation protocol.</a:t>
            </a:r>
            <a:endParaRPr lang="en-US" sz="1250" dirty="0"/>
          </a:p>
        </p:txBody>
      </p:sp>
      <p:sp>
        <p:nvSpPr>
          <p:cNvPr id="24" name="Shape 22"/>
          <p:cNvSpPr/>
          <p:nvPr/>
        </p:nvSpPr>
        <p:spPr>
          <a:xfrm>
            <a:off x="6190488" y="3072384"/>
            <a:ext cx="365760" cy="365760"/>
          </a:xfrm>
          <a:prstGeom prst="ellipse">
            <a:avLst/>
          </a:prstGeom>
          <a:solidFill>
            <a:srgbClr val="1B365D"/>
          </a:solidFill>
          <a:ln w="12700">
            <a:solidFill>
              <a:srgbClr val="1B365D"/>
            </a:solidFill>
            <a:prstDash val="solid"/>
          </a:ln>
        </p:spPr>
      </p:sp>
      <p:sp>
        <p:nvSpPr>
          <p:cNvPr id="25" name="Text 23"/>
          <p:cNvSpPr/>
          <p:nvPr/>
        </p:nvSpPr>
        <p:spPr>
          <a:xfrm>
            <a:off x="6190488" y="3072384"/>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7</a:t>
            </a:r>
            <a:endParaRPr lang="en-US" sz="1300" dirty="0"/>
          </a:p>
        </p:txBody>
      </p:sp>
      <p:sp>
        <p:nvSpPr>
          <p:cNvPr id="26" name="Text 24"/>
          <p:cNvSpPr/>
          <p:nvPr/>
        </p:nvSpPr>
        <p:spPr>
          <a:xfrm>
            <a:off x="6720840" y="3054096"/>
            <a:ext cx="4846320" cy="475488"/>
          </a:xfrm>
          <a:prstGeom prst="rect">
            <a:avLst/>
          </a:prstGeom>
          <a:noFill/>
          <a:ln/>
        </p:spPr>
        <p:txBody>
          <a:bodyPr wrap="square" lIns="0" tIns="0" rIns="0" bIns="0" rtlCol="0" anchor="ctr"/>
          <a:lstStyle/>
          <a:p>
            <a:pPr indent="0" marL="0">
              <a:lnSpc>
                <a:spcPts val="1600"/>
              </a:lnSpc>
              <a:buNone/>
            </a:pPr>
            <a:r>
              <a:rPr lang="en-US" sz="1250" dirty="0">
                <a:solidFill>
                  <a:srgbClr val="1F2430"/>
                </a:solidFill>
                <a:latin typeface="Calibri" pitchFamily="34" charset="0"/>
                <a:ea typeface="Calibri" pitchFamily="34" charset="-122"/>
                <a:cs typeface="Calibri" pitchFamily="34" charset="-120"/>
              </a:rPr>
              <a:t>Evaluate predictions using MAE, RMSE and R².</a:t>
            </a:r>
            <a:endParaRPr lang="en-US" sz="1250" dirty="0"/>
          </a:p>
        </p:txBody>
      </p:sp>
      <p:sp>
        <p:nvSpPr>
          <p:cNvPr id="27" name="Shape 25"/>
          <p:cNvSpPr/>
          <p:nvPr/>
        </p:nvSpPr>
        <p:spPr>
          <a:xfrm>
            <a:off x="6190488" y="3749040"/>
            <a:ext cx="365760" cy="365760"/>
          </a:xfrm>
          <a:prstGeom prst="ellipse">
            <a:avLst/>
          </a:prstGeom>
          <a:solidFill>
            <a:srgbClr val="1B365D"/>
          </a:solidFill>
          <a:ln w="12700">
            <a:solidFill>
              <a:srgbClr val="1B365D"/>
            </a:solidFill>
            <a:prstDash val="solid"/>
          </a:ln>
        </p:spPr>
      </p:sp>
      <p:sp>
        <p:nvSpPr>
          <p:cNvPr id="28" name="Text 26"/>
          <p:cNvSpPr/>
          <p:nvPr/>
        </p:nvSpPr>
        <p:spPr>
          <a:xfrm>
            <a:off x="6190488" y="374904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8</a:t>
            </a:r>
            <a:endParaRPr lang="en-US" sz="1300" dirty="0"/>
          </a:p>
        </p:txBody>
      </p:sp>
      <p:sp>
        <p:nvSpPr>
          <p:cNvPr id="29" name="Text 27"/>
          <p:cNvSpPr/>
          <p:nvPr/>
        </p:nvSpPr>
        <p:spPr>
          <a:xfrm>
            <a:off x="6720840" y="3730752"/>
            <a:ext cx="4846320" cy="475488"/>
          </a:xfrm>
          <a:prstGeom prst="rect">
            <a:avLst/>
          </a:prstGeom>
          <a:noFill/>
          <a:ln/>
        </p:spPr>
        <p:txBody>
          <a:bodyPr wrap="square" lIns="0" tIns="0" rIns="0" bIns="0" rtlCol="0" anchor="ctr"/>
          <a:lstStyle/>
          <a:p>
            <a:pPr indent="0" marL="0">
              <a:lnSpc>
                <a:spcPts val="1600"/>
              </a:lnSpc>
              <a:buNone/>
            </a:pPr>
            <a:r>
              <a:rPr lang="en-US" sz="1250" dirty="0">
                <a:solidFill>
                  <a:srgbClr val="1F2430"/>
                </a:solidFill>
                <a:latin typeface="Calibri" pitchFamily="34" charset="0"/>
                <a:ea typeface="Calibri" pitchFamily="34" charset="-122"/>
                <a:cs typeface="Calibri" pitchFamily="34" charset="-120"/>
              </a:rPr>
              <a:t>Analyse feature importance for the selected model.</a:t>
            </a:r>
            <a:endParaRPr lang="en-US" sz="1250" dirty="0"/>
          </a:p>
        </p:txBody>
      </p:sp>
      <p:sp>
        <p:nvSpPr>
          <p:cNvPr id="30" name="Shape 28"/>
          <p:cNvSpPr/>
          <p:nvPr/>
        </p:nvSpPr>
        <p:spPr>
          <a:xfrm>
            <a:off x="6190488" y="4425696"/>
            <a:ext cx="365760" cy="365760"/>
          </a:xfrm>
          <a:prstGeom prst="ellipse">
            <a:avLst/>
          </a:prstGeom>
          <a:solidFill>
            <a:srgbClr val="1B365D"/>
          </a:solidFill>
          <a:ln w="12700">
            <a:solidFill>
              <a:srgbClr val="1B365D"/>
            </a:solidFill>
            <a:prstDash val="solid"/>
          </a:ln>
        </p:spPr>
      </p:sp>
      <p:sp>
        <p:nvSpPr>
          <p:cNvPr id="31" name="Text 29"/>
          <p:cNvSpPr/>
          <p:nvPr/>
        </p:nvSpPr>
        <p:spPr>
          <a:xfrm>
            <a:off x="6190488" y="4425696"/>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9</a:t>
            </a:r>
            <a:endParaRPr lang="en-US" sz="1300" dirty="0"/>
          </a:p>
        </p:txBody>
      </p:sp>
      <p:sp>
        <p:nvSpPr>
          <p:cNvPr id="32" name="Text 30"/>
          <p:cNvSpPr/>
          <p:nvPr/>
        </p:nvSpPr>
        <p:spPr>
          <a:xfrm>
            <a:off x="6720840" y="4407408"/>
            <a:ext cx="4846320" cy="475488"/>
          </a:xfrm>
          <a:prstGeom prst="rect">
            <a:avLst/>
          </a:prstGeom>
          <a:noFill/>
          <a:ln/>
        </p:spPr>
        <p:txBody>
          <a:bodyPr wrap="square" lIns="0" tIns="0" rIns="0" bIns="0" rtlCol="0" anchor="ctr"/>
          <a:lstStyle/>
          <a:p>
            <a:pPr indent="0" marL="0">
              <a:lnSpc>
                <a:spcPts val="1600"/>
              </a:lnSpc>
              <a:buNone/>
            </a:pPr>
            <a:r>
              <a:rPr lang="en-US" sz="1250" dirty="0">
                <a:solidFill>
                  <a:srgbClr val="1F2430"/>
                </a:solidFill>
                <a:latin typeface="Calibri" pitchFamily="34" charset="0"/>
                <a:ea typeface="Calibri" pitchFamily="34" charset="-122"/>
                <a:cs typeface="Calibri" pitchFamily="34" charset="-120"/>
              </a:rPr>
              <a:t>Explore explainable AI methods for interpreting predictions.</a:t>
            </a:r>
            <a:endParaRPr lang="en-US" sz="1250" dirty="0"/>
          </a:p>
        </p:txBody>
      </p:sp>
      <p:sp>
        <p:nvSpPr>
          <p:cNvPr id="33" name="Shape 31"/>
          <p:cNvSpPr/>
          <p:nvPr/>
        </p:nvSpPr>
        <p:spPr>
          <a:xfrm>
            <a:off x="6190488" y="5102352"/>
            <a:ext cx="365760" cy="365760"/>
          </a:xfrm>
          <a:prstGeom prst="ellipse">
            <a:avLst/>
          </a:prstGeom>
          <a:solidFill>
            <a:srgbClr val="1B365D"/>
          </a:solidFill>
          <a:ln w="12700">
            <a:solidFill>
              <a:srgbClr val="1B365D"/>
            </a:solidFill>
            <a:prstDash val="solid"/>
          </a:ln>
        </p:spPr>
      </p:sp>
      <p:sp>
        <p:nvSpPr>
          <p:cNvPr id="34" name="Text 32"/>
          <p:cNvSpPr/>
          <p:nvPr/>
        </p:nvSpPr>
        <p:spPr>
          <a:xfrm>
            <a:off x="6190488" y="5102352"/>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10</a:t>
            </a:r>
            <a:endParaRPr lang="en-US" sz="1300" dirty="0"/>
          </a:p>
        </p:txBody>
      </p:sp>
      <p:sp>
        <p:nvSpPr>
          <p:cNvPr id="35" name="Text 33"/>
          <p:cNvSpPr/>
          <p:nvPr/>
        </p:nvSpPr>
        <p:spPr>
          <a:xfrm>
            <a:off x="6720840" y="5084064"/>
            <a:ext cx="4846320" cy="475488"/>
          </a:xfrm>
          <a:prstGeom prst="rect">
            <a:avLst/>
          </a:prstGeom>
          <a:noFill/>
          <a:ln/>
        </p:spPr>
        <p:txBody>
          <a:bodyPr wrap="square" lIns="0" tIns="0" rIns="0" bIns="0" rtlCol="0" anchor="ctr"/>
          <a:lstStyle/>
          <a:p>
            <a:pPr indent="0" marL="0">
              <a:lnSpc>
                <a:spcPts val="1600"/>
              </a:lnSpc>
              <a:buNone/>
            </a:pPr>
            <a:r>
              <a:rPr lang="en-US" sz="1250" dirty="0">
                <a:solidFill>
                  <a:srgbClr val="1F2430"/>
                </a:solidFill>
                <a:latin typeface="Calibri" pitchFamily="34" charset="0"/>
                <a:ea typeface="Calibri" pitchFamily="34" charset="-122"/>
                <a:cs typeface="Calibri" pitchFamily="34" charset="-120"/>
              </a:rPr>
              <a:t>Use the resulting model as the basis for a future application.</a:t>
            </a:r>
            <a:endParaRPr lang="en-US" sz="1250" dirty="0"/>
          </a:p>
        </p:txBody>
      </p:sp>
      <p:sp>
        <p:nvSpPr>
          <p:cNvPr id="36" name="Text 34"/>
          <p:cNvSpPr/>
          <p:nvPr/>
        </p:nvSpPr>
        <p:spPr>
          <a:xfrm>
            <a:off x="11045952" y="6419088"/>
            <a:ext cx="548640" cy="256032"/>
          </a:xfrm>
          <a:prstGeom prst="rect">
            <a:avLst/>
          </a:prstGeom>
          <a:noFill/>
          <a:ln/>
        </p:spPr>
        <p:txBody>
          <a:bodyPr wrap="square" lIns="0" tIns="0" rIns="0" bIns="0" rtlCol="0" anchor="ctr"/>
          <a:lstStyle/>
          <a:p>
            <a:pPr algn="r" indent="0" marL="0">
              <a:buNone/>
            </a:pPr>
            <a:r>
              <a:rPr lang="en-US" sz="1000" dirty="0">
                <a:solidFill>
                  <a:srgbClr val="5C6675"/>
                </a:solidFill>
                <a:latin typeface="Calibri" pitchFamily="34" charset="0"/>
                <a:ea typeface="Calibri" pitchFamily="34" charset="-122"/>
                <a:cs typeface="Calibri" pitchFamily="34" charset="-120"/>
              </a:rPr>
              <a:t>5</a:t>
            </a:r>
            <a:endParaRPr lang="en-US" sz="1000" dirty="0"/>
          </a:p>
        </p:txBody>
      </p:sp>
      <p:sp>
        <p:nvSpPr>
          <p:cNvPr id="37" name="Text 35"/>
          <p:cNvSpPr/>
          <p:nvPr/>
        </p:nvSpPr>
        <p:spPr>
          <a:xfrm>
            <a:off x="566928" y="6419088"/>
            <a:ext cx="7315200" cy="256032"/>
          </a:xfrm>
          <a:prstGeom prst="rect">
            <a:avLst/>
          </a:prstGeom>
          <a:noFill/>
          <a:ln/>
        </p:spPr>
        <p:txBody>
          <a:bodyPr wrap="square" lIns="0" tIns="0" rIns="0" bIns="0" rtlCol="0" anchor="ctr"/>
          <a:lstStyle/>
          <a:p>
            <a:pPr indent="0" marL="0">
              <a:buNone/>
            </a:pPr>
            <a:r>
              <a:rPr lang="en-US" sz="1000" dirty="0">
                <a:solidFill>
                  <a:srgbClr val="5C6675"/>
                </a:solidFill>
                <a:latin typeface="Calibri" pitchFamily="34" charset="0"/>
                <a:ea typeface="Calibri" pitchFamily="34" charset="-122"/>
                <a:cs typeface="Calibri" pitchFamily="34" charset="-120"/>
              </a:rPr>
              <a:t>Project Review 1  ·  B.Tech CSE (AI &amp; ML)  ·  SRMIST</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8229600" cy="237744"/>
          </a:xfrm>
          <a:prstGeom prst="rect">
            <a:avLst/>
          </a:prstGeom>
          <a:noFill/>
          <a:ln/>
        </p:spPr>
        <p:txBody>
          <a:bodyPr wrap="square" lIns="0" tIns="0" rIns="0" bIns="0" rtlCol="0" anchor="ctr"/>
          <a:lstStyle/>
          <a:p>
            <a:pPr indent="0" marL="0">
              <a:buNone/>
            </a:pPr>
            <a:r>
              <a:rPr lang="en-US" sz="1100" b="1" spc="160" kern="0" dirty="0">
                <a:solidFill>
                  <a:srgbClr val="C2703A"/>
                </a:solidFill>
                <a:latin typeface="Calibri" pitchFamily="34" charset="0"/>
                <a:ea typeface="Calibri" pitchFamily="34" charset="-122"/>
                <a:cs typeface="Calibri" pitchFamily="34" charset="-120"/>
              </a:rPr>
              <a:t>DATA</a:t>
            </a:r>
            <a:endParaRPr lang="en-US" sz="1100" dirty="0"/>
          </a:p>
        </p:txBody>
      </p:sp>
      <p:sp>
        <p:nvSpPr>
          <p:cNvPr id="3" name="Text 1"/>
          <p:cNvSpPr/>
          <p:nvPr/>
        </p:nvSpPr>
        <p:spPr>
          <a:xfrm>
            <a:off x="566928" y="566928"/>
            <a:ext cx="11027664" cy="566928"/>
          </a:xfrm>
          <a:prstGeom prst="rect">
            <a:avLst/>
          </a:prstGeom>
          <a:noFill/>
          <a:ln/>
        </p:spPr>
        <p:txBody>
          <a:bodyPr wrap="square" lIns="0" tIns="0" rIns="0" bIns="0" rtlCol="0" anchor="ctr"/>
          <a:lstStyle/>
          <a:p>
            <a:pPr indent="0" marL="0">
              <a:buNone/>
            </a:pPr>
            <a:r>
              <a:rPr lang="en-US" sz="3000" b="1" dirty="0">
                <a:solidFill>
                  <a:srgbClr val="1B365D"/>
                </a:solidFill>
                <a:latin typeface="Cambria" pitchFamily="34" charset="0"/>
                <a:ea typeface="Cambria" pitchFamily="34" charset="-122"/>
                <a:cs typeface="Cambria" pitchFamily="34" charset="-120"/>
              </a:rPr>
              <a:t>Dataset Description</a:t>
            </a:r>
            <a:endParaRPr lang="en-US" sz="30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66928" y="1371600"/>
          <a:ext cx="6858000" cy="914400"/>
        </p:xfrm>
        <a:graphic>
          <a:graphicData uri="http://schemas.openxmlformats.org/drawingml/2006/table">
            <a:tbl>
              <a:tblPr/>
              <a:tblGrid>
                <a:gridCol w="2286000"/>
                <a:gridCol w="4572000"/>
              </a:tblGrid>
              <a:tr h="306324">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Parameter</a:t>
                      </a:r>
                      <a:endParaRPr lang="en-US" sz="120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solidFill>
                      <a:srgbClr val="1B365D"/>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Details</a:t>
                      </a:r>
                      <a:endParaRPr lang="en-US" sz="120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solidFill>
                      <a:srgbClr val="1B365D"/>
                    </a:solidFill>
                  </a:tcPr>
                </a:tc>
              </a:tr>
              <a:tr h="306324">
                <a:tc>
                  <a:txBody>
                    <a:bodyPr/>
                    <a:lstStyle/>
                    <a:p>
                      <a:pPr algn="l" indent="0" marL="0">
                        <a:buNone/>
                      </a:pPr>
                      <a:r>
                        <a:rPr lang="en-US" sz="1200" dirty="0">
                          <a:solidFill>
                            <a:srgbClr val="1F2430"/>
                          </a:solidFill>
                          <a:latin typeface="Calibri" pitchFamily="34" charset="0"/>
                          <a:ea typeface="Calibri" pitchFamily="34" charset="-122"/>
                          <a:cs typeface="Calibri" pitchFamily="34" charset="-120"/>
                        </a:rPr>
                        <a:t>Dataset</a:t>
                      </a:r>
                      <a:endParaRPr lang="en-US" sz="120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tcPr>
                </a:tc>
                <a:tc>
                  <a:txBody>
                    <a:bodyPr/>
                    <a:lstStyle/>
                    <a:p>
                      <a:pPr algn="l" indent="0" marL="0">
                        <a:buNone/>
                      </a:pPr>
                      <a:r>
                        <a:rPr lang="en-US" sz="1200" dirty="0">
                          <a:solidFill>
                            <a:srgbClr val="1F2430"/>
                          </a:solidFill>
                          <a:latin typeface="Calibri" pitchFamily="34" charset="0"/>
                          <a:ea typeface="Calibri" pitchFamily="34" charset="-122"/>
                          <a:cs typeface="Calibri" pitchFamily="34" charset="-120"/>
                        </a:rPr>
                        <a:t>Bengaluru House Price dataset (public, tabular)</a:t>
                      </a:r>
                      <a:endParaRPr lang="en-US" sz="120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tcPr>
                </a:tc>
              </a:tr>
              <a:tr h="306324">
                <a:tc>
                  <a:txBody>
                    <a:bodyPr/>
                    <a:lstStyle/>
                    <a:p>
                      <a:pPr algn="l" indent="0" marL="0">
                        <a:buNone/>
                      </a:pPr>
                      <a:r>
                        <a:rPr lang="en-US" sz="1200" dirty="0">
                          <a:solidFill>
                            <a:srgbClr val="1F2430"/>
                          </a:solidFill>
                          <a:latin typeface="Calibri" pitchFamily="34" charset="0"/>
                          <a:ea typeface="Calibri" pitchFamily="34" charset="-122"/>
                          <a:cs typeface="Calibri" pitchFamily="34" charset="-120"/>
                        </a:rPr>
                        <a:t>Source</a:t>
                      </a:r>
                      <a:endParaRPr lang="en-US" sz="120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tcPr>
                </a:tc>
                <a:tc>
                  <a:txBody>
                    <a:bodyPr/>
                    <a:lstStyle/>
                    <a:p>
                      <a:pPr algn="l" indent="0" marL="0">
                        <a:buNone/>
                      </a:pPr>
                      <a:r>
                        <a:rPr lang="en-US" sz="1200" dirty="0">
                          <a:solidFill>
                            <a:srgbClr val="1F2430"/>
                          </a:solidFill>
                          <a:latin typeface="Calibri" pitchFamily="34" charset="0"/>
                          <a:ea typeface="Calibri" pitchFamily="34" charset="-122"/>
                          <a:cs typeface="Calibri" pitchFamily="34" charset="-120"/>
                        </a:rPr>
                        <a:t>Publicly mirrored CSV (GitHub); licence unconfirmed</a:t>
                      </a:r>
                      <a:endParaRPr lang="en-US" sz="120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tcPr>
                </a:tc>
              </a:tr>
              <a:tr h="306324">
                <a:tc>
                  <a:txBody>
                    <a:bodyPr/>
                    <a:lstStyle/>
                    <a:p>
                      <a:pPr algn="l" indent="0" marL="0">
                        <a:buNone/>
                      </a:pPr>
                      <a:r>
                        <a:rPr lang="en-US" sz="1200" dirty="0">
                          <a:solidFill>
                            <a:srgbClr val="1F2430"/>
                          </a:solidFill>
                          <a:latin typeface="Calibri" pitchFamily="34" charset="0"/>
                          <a:ea typeface="Calibri" pitchFamily="34" charset="-122"/>
                          <a:cs typeface="Calibri" pitchFamily="34" charset="-120"/>
                        </a:rPr>
                        <a:t>Records (raw)</a:t>
                      </a:r>
                      <a:endParaRPr lang="en-US" sz="120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tcPr>
                </a:tc>
                <a:tc>
                  <a:txBody>
                    <a:bodyPr/>
                    <a:lstStyle/>
                    <a:p>
                      <a:pPr algn="l" indent="0" marL="0">
                        <a:buNone/>
                      </a:pPr>
                      <a:r>
                        <a:rPr lang="en-US" sz="1200" dirty="0">
                          <a:solidFill>
                            <a:srgbClr val="1F2430"/>
                          </a:solidFill>
                          <a:latin typeface="Calibri" pitchFamily="34" charset="0"/>
                          <a:ea typeface="Calibri" pitchFamily="34" charset="-122"/>
                          <a:cs typeface="Calibri" pitchFamily="34" charset="-120"/>
                        </a:rPr>
                        <a:t>13,320 rows</a:t>
                      </a:r>
                      <a:endParaRPr lang="en-US" sz="120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tcPr>
                </a:tc>
              </a:tr>
              <a:tr h="306324">
                <a:tc>
                  <a:txBody>
                    <a:bodyPr/>
                    <a:lstStyle/>
                    <a:p>
                      <a:pPr algn="l" indent="0" marL="0">
                        <a:buNone/>
                      </a:pPr>
                      <a:r>
                        <a:rPr lang="en-US" sz="1200" dirty="0">
                          <a:solidFill>
                            <a:srgbClr val="1F2430"/>
                          </a:solidFill>
                          <a:latin typeface="Calibri" pitchFamily="34" charset="0"/>
                          <a:ea typeface="Calibri" pitchFamily="34" charset="-122"/>
                          <a:cs typeface="Calibri" pitchFamily="34" charset="-120"/>
                        </a:rPr>
                        <a:t>Attributes (raw)</a:t>
                      </a:r>
                      <a:endParaRPr lang="en-US" sz="120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tcPr>
                </a:tc>
                <a:tc>
                  <a:txBody>
                    <a:bodyPr/>
                    <a:lstStyle/>
                    <a:p>
                      <a:pPr algn="l" indent="0" marL="0">
                        <a:buNone/>
                      </a:pPr>
                      <a:r>
                        <a:rPr lang="en-US" sz="1200" dirty="0">
                          <a:solidFill>
                            <a:srgbClr val="1F2430"/>
                          </a:solidFill>
                          <a:latin typeface="Calibri" pitchFamily="34" charset="0"/>
                          <a:ea typeface="Calibri" pitchFamily="34" charset="-122"/>
                          <a:cs typeface="Calibri" pitchFamily="34" charset="-120"/>
                        </a:rPr>
                        <a:t>9 columns</a:t>
                      </a:r>
                      <a:endParaRPr lang="en-US" sz="120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tcPr>
                </a:tc>
              </a:tr>
              <a:tr h="306324">
                <a:tc>
                  <a:txBody>
                    <a:bodyPr/>
                    <a:lstStyle/>
                    <a:p>
                      <a:pPr algn="l" indent="0" marL="0">
                        <a:buNone/>
                      </a:pPr>
                      <a:r>
                        <a:rPr lang="en-US" sz="1200" dirty="0">
                          <a:solidFill>
                            <a:srgbClr val="1F2430"/>
                          </a:solidFill>
                          <a:latin typeface="Calibri" pitchFamily="34" charset="0"/>
                          <a:ea typeface="Calibri" pitchFamily="34" charset="-122"/>
                          <a:cs typeface="Calibri" pitchFamily="34" charset="-120"/>
                        </a:rPr>
                        <a:t>Records after cleaning</a:t>
                      </a:r>
                      <a:endParaRPr lang="en-US" sz="120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tcPr>
                </a:tc>
                <a:tc>
                  <a:txBody>
                    <a:bodyPr/>
                    <a:lstStyle/>
                    <a:p>
                      <a:pPr algn="l" indent="0" marL="0">
                        <a:buNone/>
                      </a:pPr>
                      <a:r>
                        <a:rPr lang="en-US" sz="1200" dirty="0">
                          <a:solidFill>
                            <a:srgbClr val="1F2430"/>
                          </a:solidFill>
                          <a:latin typeface="Calibri" pitchFamily="34" charset="0"/>
                          <a:ea typeface="Calibri" pitchFamily="34" charset="-122"/>
                          <a:cs typeface="Calibri" pitchFamily="34" charset="-120"/>
                        </a:rPr>
                        <a:t>12,038 rows</a:t>
                      </a:r>
                      <a:endParaRPr lang="en-US" sz="120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tcPr>
                </a:tc>
              </a:tr>
              <a:tr h="306324">
                <a:tc>
                  <a:txBody>
                    <a:bodyPr/>
                    <a:lstStyle/>
                    <a:p>
                      <a:pPr algn="l" indent="0" marL="0">
                        <a:buNone/>
                      </a:pPr>
                      <a:r>
                        <a:rPr lang="en-US" sz="1200" dirty="0">
                          <a:solidFill>
                            <a:srgbClr val="1F2430"/>
                          </a:solidFill>
                          <a:latin typeface="Calibri" pitchFamily="34" charset="0"/>
                          <a:ea typeface="Calibri" pitchFamily="34" charset="-122"/>
                          <a:cs typeface="Calibri" pitchFamily="34" charset="-120"/>
                        </a:rPr>
                        <a:t>Distinct localities</a:t>
                      </a:r>
                      <a:endParaRPr lang="en-US" sz="120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tcPr>
                </a:tc>
                <a:tc>
                  <a:txBody>
                    <a:bodyPr/>
                    <a:lstStyle/>
                    <a:p>
                      <a:pPr algn="l" indent="0" marL="0">
                        <a:buNone/>
                      </a:pPr>
                      <a:r>
                        <a:rPr lang="en-US" sz="1200" dirty="0">
                          <a:solidFill>
                            <a:srgbClr val="1F2430"/>
                          </a:solidFill>
                          <a:latin typeface="Calibri" pitchFamily="34" charset="0"/>
                          <a:ea typeface="Calibri" pitchFamily="34" charset="-122"/>
                          <a:cs typeface="Calibri" pitchFamily="34" charset="-120"/>
                        </a:rPr>
                        <a:t>1,203</a:t>
                      </a:r>
                      <a:endParaRPr lang="en-US" sz="120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tcPr>
                </a:tc>
              </a:tr>
              <a:tr h="306324">
                <a:tc>
                  <a:txBody>
                    <a:bodyPr/>
                    <a:lstStyle/>
                    <a:p>
                      <a:pPr algn="l" indent="0" marL="0">
                        <a:buNone/>
                      </a:pPr>
                      <a:r>
                        <a:rPr lang="en-US" sz="1200" dirty="0">
                          <a:solidFill>
                            <a:srgbClr val="1F2430"/>
                          </a:solidFill>
                          <a:latin typeface="Calibri" pitchFamily="34" charset="0"/>
                          <a:ea typeface="Calibri" pitchFamily="34" charset="-122"/>
                          <a:cs typeface="Calibri" pitchFamily="34" charset="-120"/>
                        </a:rPr>
                        <a:t>Target variable</a:t>
                      </a:r>
                      <a:endParaRPr lang="en-US" sz="120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tcPr>
                </a:tc>
                <a:tc>
                  <a:txBody>
                    <a:bodyPr/>
                    <a:lstStyle/>
                    <a:p>
                      <a:pPr algn="l" indent="0" marL="0">
                        <a:buNone/>
                      </a:pPr>
                      <a:r>
                        <a:rPr lang="en-US" sz="1200" dirty="0">
                          <a:solidFill>
                            <a:srgbClr val="1F2430"/>
                          </a:solidFill>
                          <a:latin typeface="Calibri" pitchFamily="34" charset="0"/>
                          <a:ea typeface="Calibri" pitchFamily="34" charset="-122"/>
                          <a:cs typeface="Calibri" pitchFamily="34" charset="-120"/>
                        </a:rPr>
                        <a:t>Price per sq.ft (derived from price and area)</a:t>
                      </a:r>
                      <a:endParaRPr lang="en-US" sz="120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tcPr>
                </a:tc>
              </a:tr>
              <a:tr h="306324">
                <a:tc>
                  <a:txBody>
                    <a:bodyPr/>
                    <a:lstStyle/>
                    <a:p>
                      <a:pPr algn="l" indent="0" marL="0">
                        <a:buNone/>
                      </a:pPr>
                      <a:r>
                        <a:rPr lang="en-US" sz="1200" dirty="0">
                          <a:solidFill>
                            <a:srgbClr val="1F2430"/>
                          </a:solidFill>
                          <a:latin typeface="Calibri" pitchFamily="34" charset="0"/>
                          <a:ea typeface="Calibri" pitchFamily="34" charset="-122"/>
                          <a:cs typeface="Calibri" pitchFamily="34" charset="-120"/>
                        </a:rPr>
                        <a:t>Task type</a:t>
                      </a:r>
                      <a:endParaRPr lang="en-US" sz="120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tcPr>
                </a:tc>
                <a:tc>
                  <a:txBody>
                    <a:bodyPr/>
                    <a:lstStyle/>
                    <a:p>
                      <a:pPr algn="l" indent="0" marL="0">
                        <a:buNone/>
                      </a:pPr>
                      <a:r>
                        <a:rPr lang="en-US" sz="1200" dirty="0">
                          <a:solidFill>
                            <a:srgbClr val="1F2430"/>
                          </a:solidFill>
                          <a:latin typeface="Calibri" pitchFamily="34" charset="0"/>
                          <a:ea typeface="Calibri" pitchFamily="34" charset="-122"/>
                          <a:cs typeface="Calibri" pitchFamily="34" charset="-120"/>
                        </a:rPr>
                        <a:t>Supervised regression</a:t>
                      </a:r>
                      <a:endParaRPr lang="en-US" sz="120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tcPr>
                </a:tc>
              </a:tr>
              <a:tr h="306324">
                <a:tc>
                  <a:txBody>
                    <a:bodyPr/>
                    <a:lstStyle/>
                    <a:p>
                      <a:pPr algn="l" indent="0" marL="0">
                        <a:buNone/>
                      </a:pPr>
                      <a:r>
                        <a:rPr lang="en-US" sz="1200" dirty="0">
                          <a:solidFill>
                            <a:srgbClr val="1F2430"/>
                          </a:solidFill>
                          <a:latin typeface="Calibri" pitchFamily="34" charset="0"/>
                          <a:ea typeface="Calibri" pitchFamily="34" charset="-122"/>
                          <a:cs typeface="Calibri" pitchFamily="34" charset="-120"/>
                        </a:rPr>
                        <a:t>Domain</a:t>
                      </a:r>
                      <a:endParaRPr lang="en-US" sz="120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tcPr>
                </a:tc>
                <a:tc>
                  <a:txBody>
                    <a:bodyPr/>
                    <a:lstStyle/>
                    <a:p>
                      <a:pPr algn="l" indent="0" marL="0">
                        <a:buNone/>
                      </a:pPr>
                      <a:r>
                        <a:rPr lang="en-US" sz="1200" dirty="0">
                          <a:solidFill>
                            <a:srgbClr val="1F2430"/>
                          </a:solidFill>
                          <a:latin typeface="Calibri" pitchFamily="34" charset="0"/>
                          <a:ea typeface="Calibri" pitchFamily="34" charset="-122"/>
                          <a:cs typeface="Calibri" pitchFamily="34" charset="-120"/>
                        </a:rPr>
                        <a:t>Residential real estate</a:t>
                      </a:r>
                      <a:endParaRPr lang="en-US" sz="120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tcPr>
                </a:tc>
              </a:tr>
            </a:tbl>
          </a:graphicData>
        </a:graphic>
      </p:graphicFrame>
      <p:sp>
        <p:nvSpPr>
          <p:cNvPr id="5" name="Shape 2"/>
          <p:cNvSpPr/>
          <p:nvPr/>
        </p:nvSpPr>
        <p:spPr>
          <a:xfrm>
            <a:off x="7699248" y="1371600"/>
            <a:ext cx="3913632" cy="2148840"/>
          </a:xfrm>
          <a:prstGeom prst="roundRect">
            <a:avLst>
              <a:gd name="adj" fmla="val 2553"/>
            </a:avLst>
          </a:prstGeom>
          <a:solidFill>
            <a:srgbClr val="F4F6F9"/>
          </a:solidFill>
          <a:ln w="12700">
            <a:solidFill>
              <a:srgbClr val="D6DCE5"/>
            </a:solidFill>
            <a:prstDash val="solid"/>
          </a:ln>
        </p:spPr>
      </p:sp>
      <p:sp>
        <p:nvSpPr>
          <p:cNvPr id="6" name="Text 3"/>
          <p:cNvSpPr/>
          <p:nvPr/>
        </p:nvSpPr>
        <p:spPr>
          <a:xfrm>
            <a:off x="7936992" y="1536192"/>
            <a:ext cx="3474720" cy="256032"/>
          </a:xfrm>
          <a:prstGeom prst="rect">
            <a:avLst/>
          </a:prstGeom>
          <a:noFill/>
          <a:ln/>
        </p:spPr>
        <p:txBody>
          <a:bodyPr wrap="square" lIns="0" tIns="0" rIns="0" bIns="0" rtlCol="0" anchor="ctr"/>
          <a:lstStyle/>
          <a:p>
            <a:pPr indent="0" marL="0">
              <a:buNone/>
            </a:pPr>
            <a:r>
              <a:rPr lang="en-US" sz="1350" b="1" dirty="0">
                <a:solidFill>
                  <a:srgbClr val="1B365D"/>
                </a:solidFill>
                <a:latin typeface="Cambria" pitchFamily="34" charset="0"/>
                <a:ea typeface="Cambria" pitchFamily="34" charset="-122"/>
                <a:cs typeface="Cambria" pitchFamily="34" charset="-120"/>
              </a:rPr>
              <a:t>Raw attributes</a:t>
            </a:r>
            <a:endParaRPr lang="en-US" sz="1350" dirty="0"/>
          </a:p>
        </p:txBody>
      </p:sp>
      <p:sp>
        <p:nvSpPr>
          <p:cNvPr id="7" name="Text 4"/>
          <p:cNvSpPr/>
          <p:nvPr/>
        </p:nvSpPr>
        <p:spPr>
          <a:xfrm>
            <a:off x="7936992" y="1847088"/>
            <a:ext cx="3456432" cy="1554480"/>
          </a:xfrm>
          <a:prstGeom prst="rect">
            <a:avLst/>
          </a:prstGeom>
          <a:noFill/>
          <a:ln/>
        </p:spPr>
        <p:txBody>
          <a:bodyPr wrap="square" lIns="0" tIns="0" rIns="0" bIns="0" rtlCol="0" anchor="ctr"/>
          <a:lstStyle/>
          <a:p>
            <a:pPr indent="0" marL="0">
              <a:lnSpc>
                <a:spcPts val="1900"/>
              </a:lnSpc>
              <a:buNone/>
            </a:pPr>
            <a:r>
              <a:rPr lang="en-US" sz="1200" dirty="0">
                <a:solidFill>
                  <a:srgbClr val="1F2430"/>
                </a:solidFill>
                <a:latin typeface="Calibri" pitchFamily="34" charset="0"/>
                <a:ea typeface="Calibri" pitchFamily="34" charset="-122"/>
                <a:cs typeface="Calibri" pitchFamily="34" charset="-120"/>
              </a:rPr>
              <a:t>area_type  ·  availability  ·  location  ·  size  ·  society  ·  total_sqft  ·  bath  ·  balcony  ·  price</a:t>
            </a:r>
            <a:endParaRPr lang="en-US" sz="1200" dirty="0"/>
          </a:p>
        </p:txBody>
      </p:sp>
      <p:sp>
        <p:nvSpPr>
          <p:cNvPr id="8" name="Shape 5"/>
          <p:cNvSpPr/>
          <p:nvPr/>
        </p:nvSpPr>
        <p:spPr>
          <a:xfrm>
            <a:off x="7699248" y="3675888"/>
            <a:ext cx="3913632" cy="2121408"/>
          </a:xfrm>
          <a:prstGeom prst="roundRect">
            <a:avLst>
              <a:gd name="adj" fmla="val 2586"/>
            </a:avLst>
          </a:prstGeom>
          <a:solidFill>
            <a:srgbClr val="FDF6EF"/>
          </a:solidFill>
          <a:ln w="12700">
            <a:solidFill>
              <a:srgbClr val="D6DCE5"/>
            </a:solidFill>
            <a:prstDash val="solid"/>
          </a:ln>
        </p:spPr>
      </p:sp>
      <p:sp>
        <p:nvSpPr>
          <p:cNvPr id="9" name="Text 6"/>
          <p:cNvSpPr/>
          <p:nvPr/>
        </p:nvSpPr>
        <p:spPr>
          <a:xfrm>
            <a:off x="7936992" y="3840480"/>
            <a:ext cx="3474720" cy="256032"/>
          </a:xfrm>
          <a:prstGeom prst="rect">
            <a:avLst/>
          </a:prstGeom>
          <a:noFill/>
          <a:ln/>
        </p:spPr>
        <p:txBody>
          <a:bodyPr wrap="square" lIns="0" tIns="0" rIns="0" bIns="0" rtlCol="0" anchor="ctr"/>
          <a:lstStyle/>
          <a:p>
            <a:pPr indent="0" marL="0">
              <a:buNone/>
            </a:pPr>
            <a:r>
              <a:rPr lang="en-US" sz="1350" b="1" dirty="0">
                <a:solidFill>
                  <a:srgbClr val="C2703A"/>
                </a:solidFill>
                <a:latin typeface="Cambria" pitchFamily="34" charset="0"/>
                <a:ea typeface="Cambria" pitchFamily="34" charset="-122"/>
                <a:cs typeface="Cambria" pitchFamily="34" charset="-120"/>
              </a:rPr>
              <a:t>Note on data provenance</a:t>
            </a:r>
            <a:endParaRPr lang="en-US" sz="1350" dirty="0"/>
          </a:p>
        </p:txBody>
      </p:sp>
      <p:sp>
        <p:nvSpPr>
          <p:cNvPr id="10" name="Text 7"/>
          <p:cNvSpPr/>
          <p:nvPr/>
        </p:nvSpPr>
        <p:spPr>
          <a:xfrm>
            <a:off x="7936992" y="4151376"/>
            <a:ext cx="3456432" cy="1554480"/>
          </a:xfrm>
          <a:prstGeom prst="rect">
            <a:avLst/>
          </a:prstGeom>
          <a:noFill/>
          <a:ln/>
        </p:spPr>
        <p:txBody>
          <a:bodyPr wrap="square" lIns="0" tIns="0" rIns="0" bIns="0" rtlCol="0" anchor="ctr"/>
          <a:lstStyle/>
          <a:p>
            <a:pPr indent="0" marL="0">
              <a:lnSpc>
                <a:spcPts val="1700"/>
              </a:lnSpc>
              <a:buNone/>
            </a:pPr>
            <a:r>
              <a:rPr lang="en-US" sz="1150" dirty="0">
                <a:solidFill>
                  <a:srgbClr val="1F2430"/>
                </a:solidFill>
                <a:latin typeface="Calibri" pitchFamily="34" charset="0"/>
                <a:ea typeface="Calibri" pitchFamily="34" charset="-122"/>
                <a:cs typeface="Calibri" pitchFamily="34" charset="-120"/>
              </a:rPr>
              <a:t>The dataset contains listed asking prices rather than registered transaction values. Registered transaction prices are not published publicly in Karnataka. This distinction is stated explicitly and will be carried into the interpretation of results.</a:t>
            </a:r>
            <a:endParaRPr lang="en-US" sz="1150" dirty="0"/>
          </a:p>
        </p:txBody>
      </p:sp>
      <p:sp>
        <p:nvSpPr>
          <p:cNvPr id="12" name="Text 8"/>
          <p:cNvSpPr/>
          <p:nvPr/>
        </p:nvSpPr>
        <p:spPr>
          <a:xfrm>
            <a:off x="11045952" y="6419088"/>
            <a:ext cx="548640" cy="256032"/>
          </a:xfrm>
          <a:prstGeom prst="rect">
            <a:avLst/>
          </a:prstGeom>
          <a:noFill/>
          <a:ln/>
        </p:spPr>
        <p:txBody>
          <a:bodyPr wrap="square" lIns="0" tIns="0" rIns="0" bIns="0" rtlCol="0" anchor="ctr"/>
          <a:lstStyle/>
          <a:p>
            <a:pPr algn="r" indent="0" marL="0">
              <a:buNone/>
            </a:pPr>
            <a:r>
              <a:rPr lang="en-US" sz="1000" dirty="0">
                <a:solidFill>
                  <a:srgbClr val="5C6675"/>
                </a:solidFill>
                <a:latin typeface="Calibri" pitchFamily="34" charset="0"/>
                <a:ea typeface="Calibri" pitchFamily="34" charset="-122"/>
                <a:cs typeface="Calibri" pitchFamily="34" charset="-120"/>
              </a:rPr>
              <a:t>6</a:t>
            </a:r>
            <a:endParaRPr lang="en-US" sz="1000" dirty="0"/>
          </a:p>
        </p:txBody>
      </p:sp>
      <p:sp>
        <p:nvSpPr>
          <p:cNvPr id="13" name="Text 9"/>
          <p:cNvSpPr/>
          <p:nvPr/>
        </p:nvSpPr>
        <p:spPr>
          <a:xfrm>
            <a:off x="566928" y="6419088"/>
            <a:ext cx="7315200" cy="256032"/>
          </a:xfrm>
          <a:prstGeom prst="rect">
            <a:avLst/>
          </a:prstGeom>
          <a:noFill/>
          <a:ln/>
        </p:spPr>
        <p:txBody>
          <a:bodyPr wrap="square" lIns="0" tIns="0" rIns="0" bIns="0" rtlCol="0" anchor="ctr"/>
          <a:lstStyle/>
          <a:p>
            <a:pPr indent="0" marL="0">
              <a:buNone/>
            </a:pPr>
            <a:r>
              <a:rPr lang="en-US" sz="1000" dirty="0">
                <a:solidFill>
                  <a:srgbClr val="5C6675"/>
                </a:solidFill>
                <a:latin typeface="Calibri" pitchFamily="34" charset="0"/>
                <a:ea typeface="Calibri" pitchFamily="34" charset="-122"/>
                <a:cs typeface="Calibri" pitchFamily="34" charset="-120"/>
              </a:rPr>
              <a:t>Project Review 1  ·  B.Tech CSE (AI &amp; ML)  ·  SRMIST</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8229600" cy="237744"/>
          </a:xfrm>
          <a:prstGeom prst="rect">
            <a:avLst/>
          </a:prstGeom>
          <a:noFill/>
          <a:ln/>
        </p:spPr>
        <p:txBody>
          <a:bodyPr wrap="square" lIns="0" tIns="0" rIns="0" bIns="0" rtlCol="0" anchor="ctr"/>
          <a:lstStyle/>
          <a:p>
            <a:pPr indent="0" marL="0">
              <a:buNone/>
            </a:pPr>
            <a:r>
              <a:rPr lang="en-US" sz="1100" b="1" spc="160" kern="0" dirty="0">
                <a:solidFill>
                  <a:srgbClr val="C2703A"/>
                </a:solidFill>
                <a:latin typeface="Calibri" pitchFamily="34" charset="0"/>
                <a:ea typeface="Calibri" pitchFamily="34" charset="-122"/>
                <a:cs typeface="Calibri" pitchFamily="34" charset="-120"/>
              </a:rPr>
              <a:t>FEATURE GROUPS</a:t>
            </a:r>
            <a:endParaRPr lang="en-US" sz="1100" dirty="0"/>
          </a:p>
        </p:txBody>
      </p:sp>
      <p:sp>
        <p:nvSpPr>
          <p:cNvPr id="3" name="Text 1"/>
          <p:cNvSpPr/>
          <p:nvPr/>
        </p:nvSpPr>
        <p:spPr>
          <a:xfrm>
            <a:off x="566928" y="566928"/>
            <a:ext cx="11027664" cy="566928"/>
          </a:xfrm>
          <a:prstGeom prst="rect">
            <a:avLst/>
          </a:prstGeom>
          <a:noFill/>
          <a:ln/>
        </p:spPr>
        <p:txBody>
          <a:bodyPr wrap="square" lIns="0" tIns="0" rIns="0" bIns="0" rtlCol="0" anchor="ctr"/>
          <a:lstStyle/>
          <a:p>
            <a:pPr indent="0" marL="0">
              <a:buNone/>
            </a:pPr>
            <a:r>
              <a:rPr lang="en-US" sz="3000" b="1" dirty="0">
                <a:solidFill>
                  <a:srgbClr val="1B365D"/>
                </a:solidFill>
                <a:latin typeface="Cambria" pitchFamily="34" charset="0"/>
                <a:ea typeface="Cambria" pitchFamily="34" charset="-122"/>
                <a:cs typeface="Cambria" pitchFamily="34" charset="-120"/>
              </a:rPr>
              <a:t>Dataset Features</a:t>
            </a:r>
            <a:endParaRPr lang="en-US" sz="3000" dirty="0"/>
          </a:p>
        </p:txBody>
      </p:sp>
      <p:sp>
        <p:nvSpPr>
          <p:cNvPr id="4" name="Text 2"/>
          <p:cNvSpPr/>
          <p:nvPr/>
        </p:nvSpPr>
        <p:spPr>
          <a:xfrm>
            <a:off x="566928" y="1335024"/>
            <a:ext cx="11027664" cy="274320"/>
          </a:xfrm>
          <a:prstGeom prst="rect">
            <a:avLst/>
          </a:prstGeom>
          <a:noFill/>
          <a:ln/>
        </p:spPr>
        <p:txBody>
          <a:bodyPr wrap="square" lIns="0" tIns="0" rIns="0" bIns="0" rtlCol="0" anchor="ctr"/>
          <a:lstStyle/>
          <a:p>
            <a:pPr indent="0" marL="0">
              <a:buNone/>
            </a:pPr>
            <a:r>
              <a:rPr lang="en-US" sz="1250" i="1" dirty="0">
                <a:solidFill>
                  <a:srgbClr val="5C6675"/>
                </a:solidFill>
                <a:latin typeface="Calibri" pitchFamily="34" charset="0"/>
                <a:ea typeface="Calibri" pitchFamily="34" charset="-122"/>
                <a:cs typeface="Calibri" pitchFamily="34" charset="-120"/>
              </a:rPr>
              <a:t>Attributes are grouped by the aspect of the property they describe. Accessibility features are to be derived in the feature-engineering stage.</a:t>
            </a:r>
            <a:endParaRPr lang="en-US" sz="1250" dirty="0"/>
          </a:p>
        </p:txBody>
      </p:sp>
      <p:sp>
        <p:nvSpPr>
          <p:cNvPr id="5" name="Shape 3"/>
          <p:cNvSpPr/>
          <p:nvPr/>
        </p:nvSpPr>
        <p:spPr>
          <a:xfrm>
            <a:off x="566928" y="1755648"/>
            <a:ext cx="3493008" cy="3246120"/>
          </a:xfrm>
          <a:prstGeom prst="roundRect">
            <a:avLst>
              <a:gd name="adj" fmla="val 1690"/>
            </a:avLst>
          </a:prstGeom>
          <a:solidFill>
            <a:srgbClr val="F4F6F9"/>
          </a:solidFill>
          <a:ln w="12700">
            <a:solidFill>
              <a:srgbClr val="D6DCE5"/>
            </a:solidFill>
            <a:prstDash val="solid"/>
          </a:ln>
        </p:spPr>
      </p:sp>
      <p:sp>
        <p:nvSpPr>
          <p:cNvPr id="6" name="Text 4"/>
          <p:cNvSpPr/>
          <p:nvPr/>
        </p:nvSpPr>
        <p:spPr>
          <a:xfrm>
            <a:off x="786384" y="1956816"/>
            <a:ext cx="3108960" cy="274320"/>
          </a:xfrm>
          <a:prstGeom prst="rect">
            <a:avLst/>
          </a:prstGeom>
          <a:noFill/>
          <a:ln/>
        </p:spPr>
        <p:txBody>
          <a:bodyPr wrap="square" lIns="0" tIns="0" rIns="0" bIns="0" rtlCol="0" anchor="ctr"/>
          <a:lstStyle/>
          <a:p>
            <a:pPr indent="0" marL="0">
              <a:buNone/>
            </a:pPr>
            <a:r>
              <a:rPr lang="en-US" sz="1450" b="1" dirty="0">
                <a:solidFill>
                  <a:srgbClr val="1B365D"/>
                </a:solidFill>
                <a:latin typeface="Cambria" pitchFamily="34" charset="0"/>
                <a:ea typeface="Cambria" pitchFamily="34" charset="-122"/>
                <a:cs typeface="Cambria" pitchFamily="34" charset="-120"/>
              </a:rPr>
              <a:t>Property Features</a:t>
            </a:r>
            <a:endParaRPr lang="en-US" sz="1450" dirty="0"/>
          </a:p>
        </p:txBody>
      </p:sp>
      <p:sp>
        <p:nvSpPr>
          <p:cNvPr id="7" name="Text 5"/>
          <p:cNvSpPr/>
          <p:nvPr/>
        </p:nvSpPr>
        <p:spPr>
          <a:xfrm>
            <a:off x="786384" y="2304288"/>
            <a:ext cx="3072384" cy="2103120"/>
          </a:xfrm>
          <a:prstGeom prst="rect">
            <a:avLst/>
          </a:prstGeom>
          <a:noFill/>
          <a:ln/>
        </p:spPr>
        <p:txBody>
          <a:bodyPr wrap="square" lIns="0" tIns="0" rIns="0" bIns="0" rtlCol="0" anchor="ctr"/>
          <a:lstStyle/>
          <a:p>
            <a:pPr marL="342900" indent="-342900">
              <a:spcAft>
                <a:spcPts val="600"/>
              </a:spcAft>
              <a:buSzPct val="100000"/>
              <a:buChar char="•"/>
            </a:pPr>
            <a:r>
              <a:rPr lang="en-US" sz="1200" dirty="0">
                <a:solidFill>
                  <a:srgbClr val="1F2430"/>
                </a:solidFill>
                <a:latin typeface="Calibri" pitchFamily="34" charset="0"/>
                <a:ea typeface="Calibri" pitchFamily="34" charset="-122"/>
                <a:cs typeface="Calibri" pitchFamily="34" charset="-120"/>
              </a:rPr>
              <a:t>Configuration (BHK)</a:t>
            </a:r>
            <a:endParaRPr lang="en-US" sz="1200" dirty="0"/>
          </a:p>
          <a:p>
            <a:pPr marL="342900" indent="-342900">
              <a:spcAft>
                <a:spcPts val="600"/>
              </a:spcAft>
              <a:buSzPct val="100000"/>
              <a:buChar char="•"/>
            </a:pPr>
            <a:r>
              <a:rPr lang="en-US" sz="1200" dirty="0">
                <a:solidFill>
                  <a:srgbClr val="1F2430"/>
                </a:solidFill>
                <a:latin typeface="Calibri" pitchFamily="34" charset="0"/>
                <a:ea typeface="Calibri" pitchFamily="34" charset="-122"/>
                <a:cs typeface="Calibri" pitchFamily="34" charset="-120"/>
              </a:rPr>
              <a:t>Built-up area</a:t>
            </a:r>
            <a:endParaRPr lang="en-US" sz="1200" dirty="0"/>
          </a:p>
          <a:p>
            <a:pPr marL="342900" indent="-342900">
              <a:spcAft>
                <a:spcPts val="600"/>
              </a:spcAft>
              <a:buSzPct val="100000"/>
              <a:buChar char="•"/>
            </a:pPr>
            <a:r>
              <a:rPr lang="en-US" sz="1200" dirty="0">
                <a:solidFill>
                  <a:srgbClr val="1F2430"/>
                </a:solidFill>
                <a:latin typeface="Calibri" pitchFamily="34" charset="0"/>
                <a:ea typeface="Calibri" pitchFamily="34" charset="-122"/>
                <a:cs typeface="Calibri" pitchFamily="34" charset="-120"/>
              </a:rPr>
              <a:t>Bathrooms</a:t>
            </a:r>
            <a:endParaRPr lang="en-US" sz="1200" dirty="0"/>
          </a:p>
          <a:p>
            <a:pPr marL="342900" indent="-342900">
              <a:spcAft>
                <a:spcPts val="600"/>
              </a:spcAft>
              <a:buSzPct val="100000"/>
              <a:buChar char="•"/>
            </a:pPr>
            <a:r>
              <a:rPr lang="en-US" sz="1200" dirty="0">
                <a:solidFill>
                  <a:srgbClr val="1F2430"/>
                </a:solidFill>
                <a:latin typeface="Calibri" pitchFamily="34" charset="0"/>
                <a:ea typeface="Calibri" pitchFamily="34" charset="-122"/>
                <a:cs typeface="Calibri" pitchFamily="34" charset="-120"/>
              </a:rPr>
              <a:t>Balcony</a:t>
            </a:r>
            <a:endParaRPr lang="en-US" sz="1200" dirty="0"/>
          </a:p>
          <a:p>
            <a:pPr marL="342900" indent="-342900">
              <a:spcAft>
                <a:spcPts val="600"/>
              </a:spcAft>
              <a:buSzPct val="100000"/>
              <a:buChar char="•"/>
            </a:pPr>
            <a:r>
              <a:rPr lang="en-US" sz="1200" dirty="0">
                <a:solidFill>
                  <a:srgbClr val="1F2430"/>
                </a:solidFill>
                <a:latin typeface="Calibri" pitchFamily="34" charset="0"/>
                <a:ea typeface="Calibri" pitchFamily="34" charset="-122"/>
                <a:cs typeface="Calibri" pitchFamily="34" charset="-120"/>
              </a:rPr>
              <a:t>Area type</a:t>
            </a:r>
            <a:endParaRPr lang="en-US" sz="1200" dirty="0"/>
          </a:p>
          <a:p>
            <a:pPr marL="342900" indent="-342900">
              <a:spcAft>
                <a:spcPts val="600"/>
              </a:spcAft>
              <a:buSzPct val="100000"/>
              <a:buChar char="•"/>
            </a:pPr>
            <a:r>
              <a:rPr lang="en-US" sz="1200" dirty="0">
                <a:solidFill>
                  <a:srgbClr val="1F2430"/>
                </a:solidFill>
                <a:latin typeface="Calibri" pitchFamily="34" charset="0"/>
                <a:ea typeface="Calibri" pitchFamily="34" charset="-122"/>
                <a:cs typeface="Calibri" pitchFamily="34" charset="-120"/>
              </a:rPr>
              <a:t>Availability status</a:t>
            </a:r>
            <a:endParaRPr lang="en-US" sz="1200" dirty="0"/>
          </a:p>
        </p:txBody>
      </p:sp>
      <p:sp>
        <p:nvSpPr>
          <p:cNvPr id="8" name="Text 6"/>
          <p:cNvSpPr/>
          <p:nvPr/>
        </p:nvSpPr>
        <p:spPr>
          <a:xfrm>
            <a:off x="786384" y="4617720"/>
            <a:ext cx="3072384" cy="237744"/>
          </a:xfrm>
          <a:prstGeom prst="rect">
            <a:avLst/>
          </a:prstGeom>
          <a:noFill/>
          <a:ln/>
        </p:spPr>
        <p:txBody>
          <a:bodyPr wrap="square" lIns="0" tIns="0" rIns="0" bIns="0" rtlCol="0" anchor="ctr"/>
          <a:lstStyle/>
          <a:p>
            <a:pPr indent="0" marL="0">
              <a:buNone/>
            </a:pPr>
            <a:r>
              <a:rPr lang="en-US" sz="1050" i="1" dirty="0">
                <a:solidFill>
                  <a:srgbClr val="5C6675"/>
                </a:solidFill>
                <a:latin typeface="Calibri" pitchFamily="34" charset="0"/>
                <a:ea typeface="Calibri" pitchFamily="34" charset="-122"/>
                <a:cs typeface="Calibri" pitchFamily="34" charset="-120"/>
              </a:rPr>
              <a:t>Available in the dataset</a:t>
            </a:r>
            <a:endParaRPr lang="en-US" sz="1050" dirty="0"/>
          </a:p>
        </p:txBody>
      </p:sp>
      <p:sp>
        <p:nvSpPr>
          <p:cNvPr id="9" name="Shape 7"/>
          <p:cNvSpPr/>
          <p:nvPr/>
        </p:nvSpPr>
        <p:spPr>
          <a:xfrm>
            <a:off x="4297680" y="1755648"/>
            <a:ext cx="3493008" cy="3246120"/>
          </a:xfrm>
          <a:prstGeom prst="roundRect">
            <a:avLst>
              <a:gd name="adj" fmla="val 1690"/>
            </a:avLst>
          </a:prstGeom>
          <a:solidFill>
            <a:srgbClr val="F4F6F9"/>
          </a:solidFill>
          <a:ln w="12700">
            <a:solidFill>
              <a:srgbClr val="D6DCE5"/>
            </a:solidFill>
            <a:prstDash val="solid"/>
          </a:ln>
        </p:spPr>
      </p:sp>
      <p:sp>
        <p:nvSpPr>
          <p:cNvPr id="10" name="Text 8"/>
          <p:cNvSpPr/>
          <p:nvPr/>
        </p:nvSpPr>
        <p:spPr>
          <a:xfrm>
            <a:off x="4517136" y="1956816"/>
            <a:ext cx="3108960" cy="274320"/>
          </a:xfrm>
          <a:prstGeom prst="rect">
            <a:avLst/>
          </a:prstGeom>
          <a:noFill/>
          <a:ln/>
        </p:spPr>
        <p:txBody>
          <a:bodyPr wrap="square" lIns="0" tIns="0" rIns="0" bIns="0" rtlCol="0" anchor="ctr"/>
          <a:lstStyle/>
          <a:p>
            <a:pPr indent="0" marL="0">
              <a:buNone/>
            </a:pPr>
            <a:r>
              <a:rPr lang="en-US" sz="1450" b="1" dirty="0">
                <a:solidFill>
                  <a:srgbClr val="1B365D"/>
                </a:solidFill>
                <a:latin typeface="Cambria" pitchFamily="34" charset="0"/>
                <a:ea typeface="Cambria" pitchFamily="34" charset="-122"/>
                <a:cs typeface="Cambria" pitchFamily="34" charset="-120"/>
              </a:rPr>
              <a:t>Location Features</a:t>
            </a:r>
            <a:endParaRPr lang="en-US" sz="1450" dirty="0"/>
          </a:p>
        </p:txBody>
      </p:sp>
      <p:sp>
        <p:nvSpPr>
          <p:cNvPr id="11" name="Text 9"/>
          <p:cNvSpPr/>
          <p:nvPr/>
        </p:nvSpPr>
        <p:spPr>
          <a:xfrm>
            <a:off x="4517136" y="2304288"/>
            <a:ext cx="3072384" cy="2103120"/>
          </a:xfrm>
          <a:prstGeom prst="rect">
            <a:avLst/>
          </a:prstGeom>
          <a:noFill/>
          <a:ln/>
        </p:spPr>
        <p:txBody>
          <a:bodyPr wrap="square" lIns="0" tIns="0" rIns="0" bIns="0" rtlCol="0" anchor="ctr"/>
          <a:lstStyle/>
          <a:p>
            <a:pPr marL="342900" indent="-342900">
              <a:spcAft>
                <a:spcPts val="600"/>
              </a:spcAft>
              <a:buSzPct val="100000"/>
              <a:buChar char="•"/>
            </a:pPr>
            <a:r>
              <a:rPr lang="en-US" sz="1200" dirty="0">
                <a:solidFill>
                  <a:srgbClr val="1F2430"/>
                </a:solidFill>
                <a:latin typeface="Calibri" pitchFamily="34" charset="0"/>
                <a:ea typeface="Calibri" pitchFamily="34" charset="-122"/>
                <a:cs typeface="Calibri" pitchFamily="34" charset="-120"/>
              </a:rPr>
              <a:t>Locality name</a:t>
            </a:r>
            <a:endParaRPr lang="en-US" sz="1200" dirty="0"/>
          </a:p>
          <a:p>
            <a:pPr marL="342900" indent="-342900">
              <a:spcAft>
                <a:spcPts val="600"/>
              </a:spcAft>
              <a:buSzPct val="100000"/>
              <a:buChar char="•"/>
            </a:pPr>
            <a:r>
              <a:rPr lang="en-US" sz="1200" dirty="0">
                <a:solidFill>
                  <a:srgbClr val="1F2430"/>
                </a:solidFill>
                <a:latin typeface="Calibri" pitchFamily="34" charset="0"/>
                <a:ea typeface="Calibri" pitchFamily="34" charset="-122"/>
                <a:cs typeface="Calibri" pitchFamily="34" charset="-120"/>
              </a:rPr>
              <a:t>Latitude — to be derived</a:t>
            </a:r>
            <a:endParaRPr lang="en-US" sz="1200" dirty="0"/>
          </a:p>
          <a:p>
            <a:pPr marL="342900" indent="-342900">
              <a:spcAft>
                <a:spcPts val="600"/>
              </a:spcAft>
              <a:buSzPct val="100000"/>
              <a:buChar char="•"/>
            </a:pPr>
            <a:r>
              <a:rPr lang="en-US" sz="1200" dirty="0">
                <a:solidFill>
                  <a:srgbClr val="1F2430"/>
                </a:solidFill>
                <a:latin typeface="Calibri" pitchFamily="34" charset="0"/>
                <a:ea typeface="Calibri" pitchFamily="34" charset="-122"/>
                <a:cs typeface="Calibri" pitchFamily="34" charset="-120"/>
              </a:rPr>
              <a:t>Longitude — to be derived</a:t>
            </a:r>
            <a:endParaRPr lang="en-US" sz="1200" dirty="0"/>
          </a:p>
        </p:txBody>
      </p:sp>
      <p:sp>
        <p:nvSpPr>
          <p:cNvPr id="12" name="Text 10"/>
          <p:cNvSpPr/>
          <p:nvPr/>
        </p:nvSpPr>
        <p:spPr>
          <a:xfrm>
            <a:off x="4517136" y="4617720"/>
            <a:ext cx="3072384" cy="237744"/>
          </a:xfrm>
          <a:prstGeom prst="rect">
            <a:avLst/>
          </a:prstGeom>
          <a:noFill/>
          <a:ln/>
        </p:spPr>
        <p:txBody>
          <a:bodyPr wrap="square" lIns="0" tIns="0" rIns="0" bIns="0" rtlCol="0" anchor="ctr"/>
          <a:lstStyle/>
          <a:p>
            <a:pPr indent="0" marL="0">
              <a:buNone/>
            </a:pPr>
            <a:r>
              <a:rPr lang="en-US" sz="1050" i="1" dirty="0">
                <a:solidFill>
                  <a:srgbClr val="5C6675"/>
                </a:solidFill>
                <a:latin typeface="Calibri" pitchFamily="34" charset="0"/>
                <a:ea typeface="Calibri" pitchFamily="34" charset="-122"/>
                <a:cs typeface="Calibri" pitchFamily="34" charset="-120"/>
              </a:rPr>
              <a:t>Partly to be derived</a:t>
            </a:r>
            <a:endParaRPr lang="en-US" sz="1050" dirty="0"/>
          </a:p>
        </p:txBody>
      </p:sp>
      <p:sp>
        <p:nvSpPr>
          <p:cNvPr id="13" name="Shape 11"/>
          <p:cNvSpPr/>
          <p:nvPr/>
        </p:nvSpPr>
        <p:spPr>
          <a:xfrm>
            <a:off x="8028432" y="1755648"/>
            <a:ext cx="3493008" cy="3246120"/>
          </a:xfrm>
          <a:prstGeom prst="roundRect">
            <a:avLst>
              <a:gd name="adj" fmla="val 1690"/>
            </a:avLst>
          </a:prstGeom>
          <a:solidFill>
            <a:srgbClr val="F4F6F9"/>
          </a:solidFill>
          <a:ln w="12700">
            <a:solidFill>
              <a:srgbClr val="D6DCE5"/>
            </a:solidFill>
            <a:prstDash val="solid"/>
          </a:ln>
        </p:spPr>
      </p:sp>
      <p:sp>
        <p:nvSpPr>
          <p:cNvPr id="14" name="Text 12"/>
          <p:cNvSpPr/>
          <p:nvPr/>
        </p:nvSpPr>
        <p:spPr>
          <a:xfrm>
            <a:off x="8247888" y="1956816"/>
            <a:ext cx="3108960" cy="274320"/>
          </a:xfrm>
          <a:prstGeom prst="rect">
            <a:avLst/>
          </a:prstGeom>
          <a:noFill/>
          <a:ln/>
        </p:spPr>
        <p:txBody>
          <a:bodyPr wrap="square" lIns="0" tIns="0" rIns="0" bIns="0" rtlCol="0" anchor="ctr"/>
          <a:lstStyle/>
          <a:p>
            <a:pPr indent="0" marL="0">
              <a:buNone/>
            </a:pPr>
            <a:r>
              <a:rPr lang="en-US" sz="1450" b="1" dirty="0">
                <a:solidFill>
                  <a:srgbClr val="C2703A"/>
                </a:solidFill>
                <a:latin typeface="Cambria" pitchFamily="34" charset="0"/>
                <a:ea typeface="Cambria" pitchFamily="34" charset="-122"/>
                <a:cs typeface="Cambria" pitchFamily="34" charset="-120"/>
              </a:rPr>
              <a:t>Accessibility Features</a:t>
            </a:r>
            <a:endParaRPr lang="en-US" sz="1450" dirty="0"/>
          </a:p>
        </p:txBody>
      </p:sp>
      <p:sp>
        <p:nvSpPr>
          <p:cNvPr id="15" name="Text 13"/>
          <p:cNvSpPr/>
          <p:nvPr/>
        </p:nvSpPr>
        <p:spPr>
          <a:xfrm>
            <a:off x="8247888" y="2304288"/>
            <a:ext cx="3072384" cy="2103120"/>
          </a:xfrm>
          <a:prstGeom prst="rect">
            <a:avLst/>
          </a:prstGeom>
          <a:noFill/>
          <a:ln/>
        </p:spPr>
        <p:txBody>
          <a:bodyPr wrap="square" lIns="0" tIns="0" rIns="0" bIns="0" rtlCol="0" anchor="ctr"/>
          <a:lstStyle/>
          <a:p>
            <a:pPr marL="342900" indent="-342900">
              <a:spcAft>
                <a:spcPts val="600"/>
              </a:spcAft>
              <a:buSzPct val="100000"/>
              <a:buChar char="•"/>
            </a:pPr>
            <a:r>
              <a:rPr lang="en-US" sz="1200" dirty="0">
                <a:solidFill>
                  <a:srgbClr val="1F2430"/>
                </a:solidFill>
                <a:latin typeface="Calibri" pitchFamily="34" charset="0"/>
                <a:ea typeface="Calibri" pitchFamily="34" charset="-122"/>
                <a:cs typeface="Calibri" pitchFamily="34" charset="-120"/>
              </a:rPr>
              <a:t>Distance to metro</a:t>
            </a:r>
            <a:endParaRPr lang="en-US" sz="1200" dirty="0"/>
          </a:p>
          <a:p>
            <a:pPr marL="342900" indent="-342900">
              <a:spcAft>
                <a:spcPts val="600"/>
              </a:spcAft>
              <a:buSzPct val="100000"/>
              <a:buChar char="•"/>
            </a:pPr>
            <a:r>
              <a:rPr lang="en-US" sz="1200" dirty="0">
                <a:solidFill>
                  <a:srgbClr val="1F2430"/>
                </a:solidFill>
                <a:latin typeface="Calibri" pitchFamily="34" charset="0"/>
                <a:ea typeface="Calibri" pitchFamily="34" charset="-122"/>
                <a:cs typeface="Calibri" pitchFamily="34" charset="-120"/>
              </a:rPr>
              <a:t>Distance to railway station</a:t>
            </a:r>
            <a:endParaRPr lang="en-US" sz="1200" dirty="0"/>
          </a:p>
          <a:p>
            <a:pPr marL="342900" indent="-342900">
              <a:spcAft>
                <a:spcPts val="600"/>
              </a:spcAft>
              <a:buSzPct val="100000"/>
              <a:buChar char="•"/>
            </a:pPr>
            <a:r>
              <a:rPr lang="en-US" sz="1200" dirty="0">
                <a:solidFill>
                  <a:srgbClr val="1F2430"/>
                </a:solidFill>
                <a:latin typeface="Calibri" pitchFamily="34" charset="0"/>
                <a:ea typeface="Calibri" pitchFamily="34" charset="-122"/>
                <a:cs typeface="Calibri" pitchFamily="34" charset="-120"/>
              </a:rPr>
              <a:t>Distance to bus stop</a:t>
            </a:r>
            <a:endParaRPr lang="en-US" sz="1200" dirty="0"/>
          </a:p>
          <a:p>
            <a:pPr marL="342900" indent="-342900">
              <a:spcAft>
                <a:spcPts val="600"/>
              </a:spcAft>
              <a:buSzPct val="100000"/>
              <a:buChar char="•"/>
            </a:pPr>
            <a:r>
              <a:rPr lang="en-US" sz="1200" dirty="0">
                <a:solidFill>
                  <a:srgbClr val="1F2430"/>
                </a:solidFill>
                <a:latin typeface="Calibri" pitchFamily="34" charset="0"/>
                <a:ea typeface="Calibri" pitchFamily="34" charset="-122"/>
                <a:cs typeface="Calibri" pitchFamily="34" charset="-120"/>
              </a:rPr>
              <a:t>Distance to hospital</a:t>
            </a:r>
            <a:endParaRPr lang="en-US" sz="1200" dirty="0"/>
          </a:p>
          <a:p>
            <a:pPr marL="342900" indent="-342900">
              <a:spcAft>
                <a:spcPts val="600"/>
              </a:spcAft>
              <a:buSzPct val="100000"/>
              <a:buChar char="•"/>
            </a:pPr>
            <a:r>
              <a:rPr lang="en-US" sz="1200" dirty="0">
                <a:solidFill>
                  <a:srgbClr val="1F2430"/>
                </a:solidFill>
                <a:latin typeface="Calibri" pitchFamily="34" charset="0"/>
                <a:ea typeface="Calibri" pitchFamily="34" charset="-122"/>
                <a:cs typeface="Calibri" pitchFamily="34" charset="-120"/>
              </a:rPr>
              <a:t>Distance to school</a:t>
            </a:r>
            <a:endParaRPr lang="en-US" sz="1200" dirty="0"/>
          </a:p>
          <a:p>
            <a:pPr marL="342900" indent="-342900">
              <a:spcAft>
                <a:spcPts val="600"/>
              </a:spcAft>
              <a:buSzPct val="100000"/>
              <a:buChar char="•"/>
            </a:pPr>
            <a:r>
              <a:rPr lang="en-US" sz="1200" dirty="0">
                <a:solidFill>
                  <a:srgbClr val="1F2430"/>
                </a:solidFill>
                <a:latin typeface="Calibri" pitchFamily="34" charset="0"/>
                <a:ea typeface="Calibri" pitchFamily="34" charset="-122"/>
                <a:cs typeface="Calibri" pitchFamily="34" charset="-120"/>
              </a:rPr>
              <a:t>Distance to major road</a:t>
            </a:r>
            <a:endParaRPr lang="en-US" sz="1200" dirty="0"/>
          </a:p>
        </p:txBody>
      </p:sp>
      <p:sp>
        <p:nvSpPr>
          <p:cNvPr id="16" name="Text 14"/>
          <p:cNvSpPr/>
          <p:nvPr/>
        </p:nvSpPr>
        <p:spPr>
          <a:xfrm>
            <a:off x="8247888" y="4617720"/>
            <a:ext cx="3072384" cy="237744"/>
          </a:xfrm>
          <a:prstGeom prst="rect">
            <a:avLst/>
          </a:prstGeom>
          <a:noFill/>
          <a:ln/>
        </p:spPr>
        <p:txBody>
          <a:bodyPr wrap="square" lIns="0" tIns="0" rIns="0" bIns="0" rtlCol="0" anchor="ctr"/>
          <a:lstStyle/>
          <a:p>
            <a:pPr indent="0" marL="0">
              <a:buNone/>
            </a:pPr>
            <a:r>
              <a:rPr lang="en-US" sz="1050" i="1" dirty="0">
                <a:solidFill>
                  <a:srgbClr val="5C6675"/>
                </a:solidFill>
                <a:latin typeface="Calibri" pitchFamily="34" charset="0"/>
                <a:ea typeface="Calibri" pitchFamily="34" charset="-122"/>
                <a:cs typeface="Calibri" pitchFamily="34" charset="-120"/>
              </a:rPr>
              <a:t>To be computed</a:t>
            </a:r>
            <a:endParaRPr lang="en-US" sz="1050" dirty="0"/>
          </a:p>
        </p:txBody>
      </p:sp>
      <p:sp>
        <p:nvSpPr>
          <p:cNvPr id="17" name="Shape 15"/>
          <p:cNvSpPr/>
          <p:nvPr/>
        </p:nvSpPr>
        <p:spPr>
          <a:xfrm>
            <a:off x="566928" y="5193792"/>
            <a:ext cx="11027664" cy="658368"/>
          </a:xfrm>
          <a:prstGeom prst="roundRect">
            <a:avLst>
              <a:gd name="adj" fmla="val 8333"/>
            </a:avLst>
          </a:prstGeom>
          <a:solidFill>
            <a:srgbClr val="1B365D"/>
          </a:solidFill>
          <a:ln w="12700">
            <a:solidFill>
              <a:srgbClr val="1B365D"/>
            </a:solidFill>
            <a:prstDash val="solid"/>
          </a:ln>
        </p:spPr>
      </p:sp>
      <p:sp>
        <p:nvSpPr>
          <p:cNvPr id="18" name="Text 16"/>
          <p:cNvSpPr/>
          <p:nvPr/>
        </p:nvSpPr>
        <p:spPr>
          <a:xfrm>
            <a:off x="859536" y="5193792"/>
            <a:ext cx="10442448" cy="658368"/>
          </a:xfrm>
          <a:prstGeom prst="rect">
            <a:avLst/>
          </a:prstGeom>
          <a:noFill/>
          <a:ln/>
        </p:spPr>
        <p:txBody>
          <a:bodyPr wrap="square" lIns="0" tIns="0" rIns="0" bIns="0" rtlCol="0" anchor="ctr"/>
          <a:lstStyle/>
          <a:p>
            <a:pPr indent="0" marL="0">
              <a:buNone/>
            </a:pPr>
            <a:r>
              <a:rPr lang="en-US" sz="1350" b="1" dirty="0">
                <a:solidFill>
                  <a:srgbClr val="E8B98C"/>
                </a:solidFill>
                <a:latin typeface="Calibri" pitchFamily="34" charset="0"/>
                <a:ea typeface="Calibri" pitchFamily="34" charset="-122"/>
                <a:cs typeface="Calibri" pitchFamily="34" charset="-120"/>
              </a:rPr>
              <a:t>Target variable:   </a:t>
            </a:r>
            <a:pPr indent="0" marL="0">
              <a:buNone/>
            </a:pPr>
            <a:r>
              <a:rPr lang="en-US" sz="1350" b="1" dirty="0">
                <a:solidFill>
                  <a:srgbClr val="FFFFFF"/>
                </a:solidFill>
                <a:latin typeface="Calibri" pitchFamily="34" charset="0"/>
                <a:ea typeface="Calibri" pitchFamily="34" charset="-122"/>
                <a:cs typeface="Calibri" pitchFamily="34" charset="-120"/>
              </a:rPr>
              <a:t>Price per sq.ft (INR)</a:t>
            </a:r>
            <a:pPr indent="0" marL="0">
              <a:buNone/>
            </a:pPr>
            <a:r>
              <a:rPr lang="en-US" sz="1350" dirty="0">
                <a:solidFill>
                  <a:srgbClr val="C9D6E8"/>
                </a:solidFill>
                <a:latin typeface="Calibri" pitchFamily="34" charset="0"/>
                <a:ea typeface="Calibri" pitchFamily="34" charset="-122"/>
                <a:cs typeface="Calibri" pitchFamily="34" charset="-120"/>
              </a:rPr>
              <a:t>     — chosen over total price so that properties of different sizes remain comparable.</a:t>
            </a:r>
            <a:endParaRPr lang="en-US" sz="1350" dirty="0"/>
          </a:p>
        </p:txBody>
      </p:sp>
      <p:sp>
        <p:nvSpPr>
          <p:cNvPr id="19" name="Text 17"/>
          <p:cNvSpPr/>
          <p:nvPr/>
        </p:nvSpPr>
        <p:spPr>
          <a:xfrm>
            <a:off x="11045952" y="6419088"/>
            <a:ext cx="548640" cy="256032"/>
          </a:xfrm>
          <a:prstGeom prst="rect">
            <a:avLst/>
          </a:prstGeom>
          <a:noFill/>
          <a:ln/>
        </p:spPr>
        <p:txBody>
          <a:bodyPr wrap="square" lIns="0" tIns="0" rIns="0" bIns="0" rtlCol="0" anchor="ctr"/>
          <a:lstStyle/>
          <a:p>
            <a:pPr algn="r" indent="0" marL="0">
              <a:buNone/>
            </a:pPr>
            <a:r>
              <a:rPr lang="en-US" sz="1000" dirty="0">
                <a:solidFill>
                  <a:srgbClr val="5C6675"/>
                </a:solidFill>
                <a:latin typeface="Calibri" pitchFamily="34" charset="0"/>
                <a:ea typeface="Calibri" pitchFamily="34" charset="-122"/>
                <a:cs typeface="Calibri" pitchFamily="34" charset="-120"/>
              </a:rPr>
              <a:t>7</a:t>
            </a:r>
            <a:endParaRPr lang="en-US" sz="1000" dirty="0"/>
          </a:p>
        </p:txBody>
      </p:sp>
      <p:sp>
        <p:nvSpPr>
          <p:cNvPr id="20" name="Text 18"/>
          <p:cNvSpPr/>
          <p:nvPr/>
        </p:nvSpPr>
        <p:spPr>
          <a:xfrm>
            <a:off x="566928" y="6419088"/>
            <a:ext cx="7315200" cy="256032"/>
          </a:xfrm>
          <a:prstGeom prst="rect">
            <a:avLst/>
          </a:prstGeom>
          <a:noFill/>
          <a:ln/>
        </p:spPr>
        <p:txBody>
          <a:bodyPr wrap="square" lIns="0" tIns="0" rIns="0" bIns="0" rtlCol="0" anchor="ctr"/>
          <a:lstStyle/>
          <a:p>
            <a:pPr indent="0" marL="0">
              <a:buNone/>
            </a:pPr>
            <a:r>
              <a:rPr lang="en-US" sz="1000" dirty="0">
                <a:solidFill>
                  <a:srgbClr val="5C6675"/>
                </a:solidFill>
                <a:latin typeface="Calibri" pitchFamily="34" charset="0"/>
                <a:ea typeface="Calibri" pitchFamily="34" charset="-122"/>
                <a:cs typeface="Calibri" pitchFamily="34" charset="-120"/>
              </a:rPr>
              <a:t>Project Review 1  ·  B.Tech CSE (AI &amp; ML)  ·  SRMIST</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8229600" cy="237744"/>
          </a:xfrm>
          <a:prstGeom prst="rect">
            <a:avLst/>
          </a:prstGeom>
          <a:noFill/>
          <a:ln/>
        </p:spPr>
        <p:txBody>
          <a:bodyPr wrap="square" lIns="0" tIns="0" rIns="0" bIns="0" rtlCol="0" anchor="ctr"/>
          <a:lstStyle/>
          <a:p>
            <a:pPr indent="0" marL="0">
              <a:buNone/>
            </a:pPr>
            <a:r>
              <a:rPr lang="en-US" sz="1100" b="1" spc="160" kern="0" dirty="0">
                <a:solidFill>
                  <a:srgbClr val="C2703A"/>
                </a:solidFill>
                <a:latin typeface="Calibri" pitchFamily="34" charset="0"/>
                <a:ea typeface="Calibri" pitchFamily="34" charset="-122"/>
                <a:cs typeface="Calibri" pitchFamily="34" charset="-120"/>
              </a:rPr>
              <a:t>DESCRIPTIVE STATISTICS</a:t>
            </a:r>
            <a:endParaRPr lang="en-US" sz="1100" dirty="0"/>
          </a:p>
        </p:txBody>
      </p:sp>
      <p:sp>
        <p:nvSpPr>
          <p:cNvPr id="3" name="Text 1"/>
          <p:cNvSpPr/>
          <p:nvPr/>
        </p:nvSpPr>
        <p:spPr>
          <a:xfrm>
            <a:off x="566928" y="566928"/>
            <a:ext cx="11027664" cy="566928"/>
          </a:xfrm>
          <a:prstGeom prst="rect">
            <a:avLst/>
          </a:prstGeom>
          <a:noFill/>
          <a:ln/>
        </p:spPr>
        <p:txBody>
          <a:bodyPr wrap="square" lIns="0" tIns="0" rIns="0" bIns="0" rtlCol="0" anchor="ctr"/>
          <a:lstStyle/>
          <a:p>
            <a:pPr indent="0" marL="0">
              <a:buNone/>
            </a:pPr>
            <a:r>
              <a:rPr lang="en-US" sz="3000" b="1" dirty="0">
                <a:solidFill>
                  <a:srgbClr val="1B365D"/>
                </a:solidFill>
                <a:latin typeface="Cambria" pitchFamily="34" charset="0"/>
                <a:ea typeface="Cambria" pitchFamily="34" charset="-122"/>
                <a:cs typeface="Cambria" pitchFamily="34" charset="-120"/>
              </a:rPr>
              <a:t>Statistical Analysis of the Dataset</a:t>
            </a:r>
            <a:endParaRPr lang="en-US" sz="3000" dirty="0"/>
          </a:p>
        </p:txBody>
      </p:sp>
      <p:sp>
        <p:nvSpPr>
          <p:cNvPr id="4" name="Text 2"/>
          <p:cNvSpPr/>
          <p:nvPr/>
        </p:nvSpPr>
        <p:spPr>
          <a:xfrm>
            <a:off x="566928" y="1316736"/>
            <a:ext cx="11027664" cy="256032"/>
          </a:xfrm>
          <a:prstGeom prst="rect">
            <a:avLst/>
          </a:prstGeom>
          <a:noFill/>
          <a:ln/>
        </p:spPr>
        <p:txBody>
          <a:bodyPr wrap="square" lIns="0" tIns="0" rIns="0" bIns="0" rtlCol="0" anchor="ctr"/>
          <a:lstStyle/>
          <a:p>
            <a:pPr indent="0" marL="0">
              <a:buNone/>
            </a:pPr>
            <a:r>
              <a:rPr lang="en-US" sz="1250" i="1" dirty="0">
                <a:solidFill>
                  <a:srgbClr val="5C6675"/>
                </a:solidFill>
                <a:latin typeface="Calibri" pitchFamily="34" charset="0"/>
                <a:ea typeface="Calibri" pitchFamily="34" charset="-122"/>
                <a:cs typeface="Calibri" pitchFamily="34" charset="-120"/>
              </a:rPr>
              <a:t>Descriptive statistics computed on the cleaned dataset (n = 12,038).</a:t>
            </a:r>
            <a:endParaRPr lang="en-US" sz="125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66928" y="1682496"/>
          <a:ext cx="11027664" cy="914400"/>
        </p:xfrm>
        <a:graphic>
          <a:graphicData uri="http://schemas.openxmlformats.org/drawingml/2006/table">
            <a:tbl>
              <a:tblPr/>
              <a:tblGrid>
                <a:gridCol w="2212848"/>
                <a:gridCol w="969264"/>
                <a:gridCol w="1298448"/>
                <a:gridCol w="1152144"/>
                <a:gridCol w="1225296"/>
                <a:gridCol w="969264"/>
                <a:gridCol w="1060704"/>
                <a:gridCol w="1115568"/>
                <a:gridCol w="1024128"/>
              </a:tblGrid>
              <a:tr h="310896">
                <a:tc>
                  <a:txBody>
                    <a:bodyPr/>
                    <a:lstStyle/>
                    <a:p>
                      <a:pPr algn="r" indent="0" marL="0">
                        <a:buNone/>
                      </a:pPr>
                      <a:r>
                        <a:rPr lang="en-US" sz="1200" b="1" dirty="0">
                          <a:solidFill>
                            <a:srgbClr val="FFFFFF"/>
                          </a:solidFill>
                          <a:latin typeface="Calibri" pitchFamily="34" charset="0"/>
                          <a:ea typeface="Calibri" pitchFamily="34" charset="-122"/>
                          <a:cs typeface="Calibri" pitchFamily="34" charset="-120"/>
                        </a:rPr>
                        <a:t>Variable</a:t>
                      </a:r>
                      <a:endParaRPr lang="en-US" sz="120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solidFill>
                      <a:srgbClr val="1B365D"/>
                    </a:solidFill>
                  </a:tcPr>
                </a:tc>
                <a:tc>
                  <a:txBody>
                    <a:bodyPr/>
                    <a:lstStyle/>
                    <a:p>
                      <a:pPr algn="r" indent="0" marL="0">
                        <a:buNone/>
                      </a:pPr>
                      <a:r>
                        <a:rPr lang="en-US" sz="1200" b="1" dirty="0">
                          <a:solidFill>
                            <a:srgbClr val="FFFFFF"/>
                          </a:solidFill>
                          <a:latin typeface="Calibri" pitchFamily="34" charset="0"/>
                          <a:ea typeface="Calibri" pitchFamily="34" charset="-122"/>
                          <a:cs typeface="Calibri" pitchFamily="34" charset="-120"/>
                        </a:rPr>
                        <a:t>Count</a:t>
                      </a:r>
                      <a:endParaRPr lang="en-US" sz="120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solidFill>
                      <a:srgbClr val="1B365D"/>
                    </a:solidFill>
                  </a:tcPr>
                </a:tc>
                <a:tc>
                  <a:txBody>
                    <a:bodyPr/>
                    <a:lstStyle/>
                    <a:p>
                      <a:pPr algn="r" indent="0" marL="0">
                        <a:buNone/>
                      </a:pPr>
                      <a:r>
                        <a:rPr lang="en-US" sz="1200" b="1" dirty="0">
                          <a:solidFill>
                            <a:srgbClr val="FFFFFF"/>
                          </a:solidFill>
                          <a:latin typeface="Calibri" pitchFamily="34" charset="0"/>
                          <a:ea typeface="Calibri" pitchFamily="34" charset="-122"/>
                          <a:cs typeface="Calibri" pitchFamily="34" charset="-120"/>
                        </a:rPr>
                        <a:t>Mean</a:t>
                      </a:r>
                      <a:endParaRPr lang="en-US" sz="120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solidFill>
                      <a:srgbClr val="1B365D"/>
                    </a:solidFill>
                  </a:tcPr>
                </a:tc>
                <a:tc>
                  <a:txBody>
                    <a:bodyPr/>
                    <a:lstStyle/>
                    <a:p>
                      <a:pPr algn="r" indent="0" marL="0">
                        <a:buNone/>
                      </a:pPr>
                      <a:r>
                        <a:rPr lang="en-US" sz="1200" b="1" dirty="0">
                          <a:solidFill>
                            <a:srgbClr val="FFFFFF"/>
                          </a:solidFill>
                          <a:latin typeface="Calibri" pitchFamily="34" charset="0"/>
                          <a:ea typeface="Calibri" pitchFamily="34" charset="-122"/>
                          <a:cs typeface="Calibri" pitchFamily="34" charset="-120"/>
                        </a:rPr>
                        <a:t>Median</a:t>
                      </a:r>
                      <a:endParaRPr lang="en-US" sz="120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solidFill>
                      <a:srgbClr val="1B365D"/>
                    </a:solidFill>
                  </a:tcPr>
                </a:tc>
                <a:tc>
                  <a:txBody>
                    <a:bodyPr/>
                    <a:lstStyle/>
                    <a:p>
                      <a:pPr algn="r" indent="0" marL="0">
                        <a:buNone/>
                      </a:pPr>
                      <a:r>
                        <a:rPr lang="en-US" sz="1200" b="1" dirty="0">
                          <a:solidFill>
                            <a:srgbClr val="FFFFFF"/>
                          </a:solidFill>
                          <a:latin typeface="Calibri" pitchFamily="34" charset="0"/>
                          <a:ea typeface="Calibri" pitchFamily="34" charset="-122"/>
                          <a:cs typeface="Calibri" pitchFamily="34" charset="-120"/>
                        </a:rPr>
                        <a:t>Std. Dev.</a:t>
                      </a:r>
                      <a:endParaRPr lang="en-US" sz="120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solidFill>
                      <a:srgbClr val="1B365D"/>
                    </a:solidFill>
                  </a:tcPr>
                </a:tc>
                <a:tc>
                  <a:txBody>
                    <a:bodyPr/>
                    <a:lstStyle/>
                    <a:p>
                      <a:pPr algn="r" indent="0" marL="0">
                        <a:buNone/>
                      </a:pPr>
                      <a:r>
                        <a:rPr lang="en-US" sz="1200" b="1" dirty="0">
                          <a:solidFill>
                            <a:srgbClr val="FFFFFF"/>
                          </a:solidFill>
                          <a:latin typeface="Calibri" pitchFamily="34" charset="0"/>
                          <a:ea typeface="Calibri" pitchFamily="34" charset="-122"/>
                          <a:cs typeface="Calibri" pitchFamily="34" charset="-120"/>
                        </a:rPr>
                        <a:t>Min</a:t>
                      </a:r>
                      <a:endParaRPr lang="en-US" sz="120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solidFill>
                      <a:srgbClr val="1B365D"/>
                    </a:solidFill>
                  </a:tcPr>
                </a:tc>
                <a:tc>
                  <a:txBody>
                    <a:bodyPr/>
                    <a:lstStyle/>
                    <a:p>
                      <a:pPr algn="r" indent="0" marL="0">
                        <a:buNone/>
                      </a:pPr>
                      <a:r>
                        <a:rPr lang="en-US" sz="1200" b="1" dirty="0">
                          <a:solidFill>
                            <a:srgbClr val="FFFFFF"/>
                          </a:solidFill>
                          <a:latin typeface="Calibri" pitchFamily="34" charset="0"/>
                          <a:ea typeface="Calibri" pitchFamily="34" charset="-122"/>
                          <a:cs typeface="Calibri" pitchFamily="34" charset="-120"/>
                        </a:rPr>
                        <a:t>Q1</a:t>
                      </a:r>
                      <a:endParaRPr lang="en-US" sz="120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solidFill>
                      <a:srgbClr val="1B365D"/>
                    </a:solidFill>
                  </a:tcPr>
                </a:tc>
                <a:tc>
                  <a:txBody>
                    <a:bodyPr/>
                    <a:lstStyle/>
                    <a:p>
                      <a:pPr algn="r" indent="0" marL="0">
                        <a:buNone/>
                      </a:pPr>
                      <a:r>
                        <a:rPr lang="en-US" sz="1200" b="1" dirty="0">
                          <a:solidFill>
                            <a:srgbClr val="FFFFFF"/>
                          </a:solidFill>
                          <a:latin typeface="Calibri" pitchFamily="34" charset="0"/>
                          <a:ea typeface="Calibri" pitchFamily="34" charset="-122"/>
                          <a:cs typeface="Calibri" pitchFamily="34" charset="-120"/>
                        </a:rPr>
                        <a:t>Q3</a:t>
                      </a:r>
                      <a:endParaRPr lang="en-US" sz="120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solidFill>
                      <a:srgbClr val="1B365D"/>
                    </a:solidFill>
                  </a:tcPr>
                </a:tc>
                <a:tc>
                  <a:txBody>
                    <a:bodyPr/>
                    <a:lstStyle/>
                    <a:p>
                      <a:pPr algn="r" indent="0" marL="0">
                        <a:buNone/>
                      </a:pPr>
                      <a:r>
                        <a:rPr lang="en-US" sz="1200" b="1" dirty="0">
                          <a:solidFill>
                            <a:srgbClr val="FFFFFF"/>
                          </a:solidFill>
                          <a:latin typeface="Calibri" pitchFamily="34" charset="0"/>
                          <a:ea typeface="Calibri" pitchFamily="34" charset="-122"/>
                          <a:cs typeface="Calibri" pitchFamily="34" charset="-120"/>
                        </a:rPr>
                        <a:t>Max</a:t>
                      </a:r>
                      <a:endParaRPr lang="en-US" sz="120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solidFill>
                      <a:srgbClr val="1B365D"/>
                    </a:solidFill>
                  </a:tcPr>
                </a:tc>
              </a:tr>
              <a:tr h="310896">
                <a:tc>
                  <a:txBody>
                    <a:bodyPr/>
                    <a:lstStyle/>
                    <a:p>
                      <a:pPr algn="r" indent="0" marL="0">
                        <a:buNone/>
                      </a:pPr>
                      <a:r>
                        <a:rPr lang="en-US" sz="1200" b="1" dirty="0">
                          <a:solidFill>
                            <a:srgbClr val="1B365D"/>
                          </a:solidFill>
                          <a:latin typeface="Calibri" pitchFamily="34" charset="0"/>
                          <a:ea typeface="Calibri" pitchFamily="34" charset="-122"/>
                          <a:cs typeface="Calibri" pitchFamily="34" charset="-120"/>
                        </a:rPr>
                        <a:t>Area (sq.ft)</a:t>
                      </a:r>
                      <a:endParaRPr lang="en-US" sz="120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tcPr>
                </a:tc>
                <a:tc>
                  <a:txBody>
                    <a:bodyPr/>
                    <a:lstStyle/>
                    <a:p>
                      <a:pPr algn="r" indent="0" marL="0">
                        <a:buNone/>
                      </a:pPr>
                      <a:r>
                        <a:rPr lang="en-US" sz="1200" dirty="0">
                          <a:solidFill>
                            <a:srgbClr val="1F2430"/>
                          </a:solidFill>
                          <a:latin typeface="Calibri" pitchFamily="34" charset="0"/>
                          <a:ea typeface="Calibri" pitchFamily="34" charset="-122"/>
                          <a:cs typeface="Calibri" pitchFamily="34" charset="-120"/>
                        </a:rPr>
                        <a:t>12,038</a:t>
                      </a:r>
                      <a:endParaRPr lang="en-US" sz="120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tcPr>
                </a:tc>
                <a:tc>
                  <a:txBody>
                    <a:bodyPr/>
                    <a:lstStyle/>
                    <a:p>
                      <a:pPr algn="r" indent="0" marL="0">
                        <a:buNone/>
                      </a:pPr>
                      <a:r>
                        <a:rPr lang="en-US" sz="1200" dirty="0">
                          <a:solidFill>
                            <a:srgbClr val="1F2430"/>
                          </a:solidFill>
                          <a:latin typeface="Calibri" pitchFamily="34" charset="0"/>
                          <a:ea typeface="Calibri" pitchFamily="34" charset="-122"/>
                          <a:cs typeface="Calibri" pitchFamily="34" charset="-120"/>
                        </a:rPr>
                        <a:t>1,551</a:t>
                      </a:r>
                      <a:endParaRPr lang="en-US" sz="120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tcPr>
                </a:tc>
                <a:tc>
                  <a:txBody>
                    <a:bodyPr/>
                    <a:lstStyle/>
                    <a:p>
                      <a:pPr algn="r" indent="0" marL="0">
                        <a:buNone/>
                      </a:pPr>
                      <a:r>
                        <a:rPr lang="en-US" sz="1200" dirty="0">
                          <a:solidFill>
                            <a:srgbClr val="1F2430"/>
                          </a:solidFill>
                          <a:latin typeface="Calibri" pitchFamily="34" charset="0"/>
                          <a:ea typeface="Calibri" pitchFamily="34" charset="-122"/>
                          <a:cs typeface="Calibri" pitchFamily="34" charset="-120"/>
                        </a:rPr>
                        <a:t>1,298</a:t>
                      </a:r>
                      <a:endParaRPr lang="en-US" sz="120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tcPr>
                </a:tc>
                <a:tc>
                  <a:txBody>
                    <a:bodyPr/>
                    <a:lstStyle/>
                    <a:p>
                      <a:pPr algn="r" indent="0" marL="0">
                        <a:buNone/>
                      </a:pPr>
                      <a:r>
                        <a:rPr lang="en-US" sz="1200" dirty="0">
                          <a:solidFill>
                            <a:srgbClr val="1F2430"/>
                          </a:solidFill>
                          <a:latin typeface="Calibri" pitchFamily="34" charset="0"/>
                          <a:ea typeface="Calibri" pitchFamily="34" charset="-122"/>
                          <a:cs typeface="Calibri" pitchFamily="34" charset="-120"/>
                        </a:rPr>
                        <a:t>972</a:t>
                      </a:r>
                      <a:endParaRPr lang="en-US" sz="120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tcPr>
                </a:tc>
                <a:tc>
                  <a:txBody>
                    <a:bodyPr/>
                    <a:lstStyle/>
                    <a:p>
                      <a:pPr algn="r" indent="0" marL="0">
                        <a:buNone/>
                      </a:pPr>
                      <a:r>
                        <a:rPr lang="en-US" sz="1200" dirty="0">
                          <a:solidFill>
                            <a:srgbClr val="1F2430"/>
                          </a:solidFill>
                          <a:latin typeface="Calibri" pitchFamily="34" charset="0"/>
                          <a:ea typeface="Calibri" pitchFamily="34" charset="-122"/>
                          <a:cs typeface="Calibri" pitchFamily="34" charset="-120"/>
                        </a:rPr>
                        <a:t>300</a:t>
                      </a:r>
                      <a:endParaRPr lang="en-US" sz="120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tcPr>
                </a:tc>
                <a:tc>
                  <a:txBody>
                    <a:bodyPr/>
                    <a:lstStyle/>
                    <a:p>
                      <a:pPr algn="r" indent="0" marL="0">
                        <a:buNone/>
                      </a:pPr>
                      <a:r>
                        <a:rPr lang="en-US" sz="1200" dirty="0">
                          <a:solidFill>
                            <a:srgbClr val="1F2430"/>
                          </a:solidFill>
                          <a:latin typeface="Calibri" pitchFamily="34" charset="0"/>
                          <a:ea typeface="Calibri" pitchFamily="34" charset="-122"/>
                          <a:cs typeface="Calibri" pitchFamily="34" charset="-120"/>
                        </a:rPr>
                        <a:t>1,112</a:t>
                      </a:r>
                      <a:endParaRPr lang="en-US" sz="120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tcPr>
                </a:tc>
                <a:tc>
                  <a:txBody>
                    <a:bodyPr/>
                    <a:lstStyle/>
                    <a:p>
                      <a:pPr algn="r" indent="0" marL="0">
                        <a:buNone/>
                      </a:pPr>
                      <a:r>
                        <a:rPr lang="en-US" sz="1200" dirty="0">
                          <a:solidFill>
                            <a:srgbClr val="1F2430"/>
                          </a:solidFill>
                          <a:latin typeface="Calibri" pitchFamily="34" charset="0"/>
                          <a:ea typeface="Calibri" pitchFamily="34" charset="-122"/>
                          <a:cs typeface="Calibri" pitchFamily="34" charset="-120"/>
                        </a:rPr>
                        <a:t>1,685</a:t>
                      </a:r>
                      <a:endParaRPr lang="en-US" sz="120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tcPr>
                </a:tc>
                <a:tc>
                  <a:txBody>
                    <a:bodyPr/>
                    <a:lstStyle/>
                    <a:p>
                      <a:pPr algn="r" indent="0" marL="0">
                        <a:buNone/>
                      </a:pPr>
                      <a:r>
                        <a:rPr lang="en-US" sz="1200" dirty="0">
                          <a:solidFill>
                            <a:srgbClr val="1F2430"/>
                          </a:solidFill>
                          <a:latin typeface="Calibri" pitchFamily="34" charset="0"/>
                          <a:ea typeface="Calibri" pitchFamily="34" charset="-122"/>
                          <a:cs typeface="Calibri" pitchFamily="34" charset="-120"/>
                        </a:rPr>
                        <a:t>30,400</a:t>
                      </a:r>
                      <a:endParaRPr lang="en-US" sz="120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tcPr>
                </a:tc>
              </a:tr>
              <a:tr h="310896">
                <a:tc>
                  <a:txBody>
                    <a:bodyPr/>
                    <a:lstStyle/>
                    <a:p>
                      <a:pPr algn="r" indent="0" marL="0">
                        <a:buNone/>
                      </a:pPr>
                      <a:r>
                        <a:rPr lang="en-US" sz="1200" b="1" dirty="0">
                          <a:solidFill>
                            <a:srgbClr val="1B365D"/>
                          </a:solidFill>
                          <a:latin typeface="Calibri" pitchFamily="34" charset="0"/>
                          <a:ea typeface="Calibri" pitchFamily="34" charset="-122"/>
                          <a:cs typeface="Calibri" pitchFamily="34" charset="-120"/>
                        </a:rPr>
                        <a:t>Price (INR)</a:t>
                      </a:r>
                      <a:endParaRPr lang="en-US" sz="120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tcPr>
                </a:tc>
                <a:tc>
                  <a:txBody>
                    <a:bodyPr/>
                    <a:lstStyle/>
                    <a:p>
                      <a:pPr algn="r" indent="0" marL="0">
                        <a:buNone/>
                      </a:pPr>
                      <a:r>
                        <a:rPr lang="en-US" sz="1200" dirty="0">
                          <a:solidFill>
                            <a:srgbClr val="1F2430"/>
                          </a:solidFill>
                          <a:latin typeface="Calibri" pitchFamily="34" charset="0"/>
                          <a:ea typeface="Calibri" pitchFamily="34" charset="-122"/>
                          <a:cs typeface="Calibri" pitchFamily="34" charset="-120"/>
                        </a:rPr>
                        <a:t>12,038</a:t>
                      </a:r>
                      <a:endParaRPr lang="en-US" sz="120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tcPr>
                </a:tc>
                <a:tc>
                  <a:txBody>
                    <a:bodyPr/>
                    <a:lstStyle/>
                    <a:p>
                      <a:pPr algn="r" indent="0" marL="0">
                        <a:buNone/>
                      </a:pPr>
                      <a:r>
                        <a:rPr lang="en-US" sz="1200" dirty="0">
                          <a:solidFill>
                            <a:srgbClr val="1F2430"/>
                          </a:solidFill>
                          <a:latin typeface="Calibri" pitchFamily="34" charset="0"/>
                          <a:ea typeface="Calibri" pitchFamily="34" charset="-122"/>
                          <a:cs typeface="Calibri" pitchFamily="34" charset="-120"/>
                        </a:rPr>
                        <a:t>1,02,90,047</a:t>
                      </a:r>
                      <a:endParaRPr lang="en-US" sz="120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tcPr>
                </a:tc>
                <a:tc>
                  <a:txBody>
                    <a:bodyPr/>
                    <a:lstStyle/>
                    <a:p>
                      <a:pPr algn="r" indent="0" marL="0">
                        <a:buNone/>
                      </a:pPr>
                      <a:r>
                        <a:rPr lang="en-US" sz="1200" dirty="0">
                          <a:solidFill>
                            <a:srgbClr val="1F2430"/>
                          </a:solidFill>
                          <a:latin typeface="Calibri" pitchFamily="34" charset="0"/>
                          <a:ea typeface="Calibri" pitchFamily="34" charset="-122"/>
                          <a:cs typeface="Calibri" pitchFamily="34" charset="-120"/>
                        </a:rPr>
                        <a:t>68,00,000</a:t>
                      </a:r>
                      <a:endParaRPr lang="en-US" sz="120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tcPr>
                </a:tc>
                <a:tc>
                  <a:txBody>
                    <a:bodyPr/>
                    <a:lstStyle/>
                    <a:p>
                      <a:pPr algn="r" indent="0" marL="0">
                        <a:buNone/>
                      </a:pPr>
                      <a:r>
                        <a:rPr lang="en-US" sz="1200" dirty="0">
                          <a:solidFill>
                            <a:srgbClr val="1F2430"/>
                          </a:solidFill>
                          <a:latin typeface="Calibri" pitchFamily="34" charset="0"/>
                          <a:ea typeface="Calibri" pitchFamily="34" charset="-122"/>
                          <a:cs typeface="Calibri" pitchFamily="34" charset="-120"/>
                        </a:rPr>
                        <a:t>1,26,46,494</a:t>
                      </a:r>
                      <a:endParaRPr lang="en-US" sz="120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tcPr>
                </a:tc>
                <a:tc>
                  <a:txBody>
                    <a:bodyPr/>
                    <a:lstStyle/>
                    <a:p>
                      <a:pPr algn="r" indent="0" marL="0">
                        <a:buNone/>
                      </a:pPr>
                      <a:r>
                        <a:rPr lang="en-US" sz="1200" dirty="0">
                          <a:solidFill>
                            <a:srgbClr val="1F2430"/>
                          </a:solidFill>
                          <a:latin typeface="Calibri" pitchFamily="34" charset="0"/>
                          <a:ea typeface="Calibri" pitchFamily="34" charset="-122"/>
                          <a:cs typeface="Calibri" pitchFamily="34" charset="-120"/>
                        </a:rPr>
                        <a:t>9,00,000</a:t>
                      </a:r>
                      <a:endParaRPr lang="en-US" sz="120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tcPr>
                </a:tc>
                <a:tc>
                  <a:txBody>
                    <a:bodyPr/>
                    <a:lstStyle/>
                    <a:p>
                      <a:pPr algn="r" indent="0" marL="0">
                        <a:buNone/>
                      </a:pPr>
                      <a:r>
                        <a:rPr lang="en-US" sz="1200" dirty="0">
                          <a:solidFill>
                            <a:srgbClr val="1F2430"/>
                          </a:solidFill>
                          <a:latin typeface="Calibri" pitchFamily="34" charset="0"/>
                          <a:ea typeface="Calibri" pitchFamily="34" charset="-122"/>
                          <a:cs typeface="Calibri" pitchFamily="34" charset="-120"/>
                        </a:rPr>
                        <a:t>48,50,000</a:t>
                      </a:r>
                      <a:endParaRPr lang="en-US" sz="120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tcPr>
                </a:tc>
                <a:tc>
                  <a:txBody>
                    <a:bodyPr/>
                    <a:lstStyle/>
                    <a:p>
                      <a:pPr algn="r" indent="0" marL="0">
                        <a:buNone/>
                      </a:pPr>
                      <a:r>
                        <a:rPr lang="en-US" sz="1200" dirty="0">
                          <a:solidFill>
                            <a:srgbClr val="1F2430"/>
                          </a:solidFill>
                          <a:latin typeface="Calibri" pitchFamily="34" charset="0"/>
                          <a:ea typeface="Calibri" pitchFamily="34" charset="-122"/>
                          <a:cs typeface="Calibri" pitchFamily="34" charset="-120"/>
                        </a:rPr>
                        <a:t>1,10,00,000</a:t>
                      </a:r>
                      <a:endParaRPr lang="en-US" sz="120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tcPr>
                </a:tc>
                <a:tc>
                  <a:txBody>
                    <a:bodyPr/>
                    <a:lstStyle/>
                    <a:p>
                      <a:pPr algn="r" indent="0" marL="0">
                        <a:buNone/>
                      </a:pPr>
                      <a:r>
                        <a:rPr lang="en-US" sz="1200" dirty="0">
                          <a:solidFill>
                            <a:srgbClr val="1F2430"/>
                          </a:solidFill>
                          <a:latin typeface="Calibri" pitchFamily="34" charset="0"/>
                          <a:ea typeface="Calibri" pitchFamily="34" charset="-122"/>
                          <a:cs typeface="Calibri" pitchFamily="34" charset="-120"/>
                        </a:rPr>
                        <a:t>29,12,00,000</a:t>
                      </a:r>
                      <a:endParaRPr lang="en-US" sz="120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tcPr>
                </a:tc>
              </a:tr>
              <a:tr h="310896">
                <a:tc>
                  <a:txBody>
                    <a:bodyPr/>
                    <a:lstStyle/>
                    <a:p>
                      <a:pPr algn="r" indent="0" marL="0">
                        <a:buNone/>
                      </a:pPr>
                      <a:r>
                        <a:rPr lang="en-US" sz="1200" b="1" dirty="0">
                          <a:solidFill>
                            <a:srgbClr val="1B365D"/>
                          </a:solidFill>
                          <a:latin typeface="Calibri" pitchFamily="34" charset="0"/>
                          <a:ea typeface="Calibri" pitchFamily="34" charset="-122"/>
                          <a:cs typeface="Calibri" pitchFamily="34" charset="-120"/>
                        </a:rPr>
                        <a:t>BHK / Rooms</a:t>
                      </a:r>
                      <a:endParaRPr lang="en-US" sz="120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tcPr>
                </a:tc>
                <a:tc>
                  <a:txBody>
                    <a:bodyPr/>
                    <a:lstStyle/>
                    <a:p>
                      <a:pPr algn="r" indent="0" marL="0">
                        <a:buNone/>
                      </a:pPr>
                      <a:r>
                        <a:rPr lang="en-US" sz="1200" dirty="0">
                          <a:solidFill>
                            <a:srgbClr val="1F2430"/>
                          </a:solidFill>
                          <a:latin typeface="Calibri" pitchFamily="34" charset="0"/>
                          <a:ea typeface="Calibri" pitchFamily="34" charset="-122"/>
                          <a:cs typeface="Calibri" pitchFamily="34" charset="-120"/>
                        </a:rPr>
                        <a:t>12,038</a:t>
                      </a:r>
                      <a:endParaRPr lang="en-US" sz="120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tcPr>
                </a:tc>
                <a:tc>
                  <a:txBody>
                    <a:bodyPr/>
                    <a:lstStyle/>
                    <a:p>
                      <a:pPr algn="r" indent="0" marL="0">
                        <a:buNone/>
                      </a:pPr>
                      <a:r>
                        <a:rPr lang="en-US" sz="1200" dirty="0">
                          <a:solidFill>
                            <a:srgbClr val="1F2430"/>
                          </a:solidFill>
                          <a:latin typeface="Calibri" pitchFamily="34" charset="0"/>
                          <a:ea typeface="Calibri" pitchFamily="34" charset="-122"/>
                          <a:cs typeface="Calibri" pitchFamily="34" charset="-120"/>
                        </a:rPr>
                        <a:t>2.6</a:t>
                      </a:r>
                      <a:endParaRPr lang="en-US" sz="120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tcPr>
                </a:tc>
                <a:tc>
                  <a:txBody>
                    <a:bodyPr/>
                    <a:lstStyle/>
                    <a:p>
                      <a:pPr algn="r" indent="0" marL="0">
                        <a:buNone/>
                      </a:pPr>
                      <a:r>
                        <a:rPr lang="en-US" sz="1200" dirty="0">
                          <a:solidFill>
                            <a:srgbClr val="1F2430"/>
                          </a:solidFill>
                          <a:latin typeface="Calibri" pitchFamily="34" charset="0"/>
                          <a:ea typeface="Calibri" pitchFamily="34" charset="-122"/>
                          <a:cs typeface="Calibri" pitchFamily="34" charset="-120"/>
                        </a:rPr>
                        <a:t>3.0</a:t>
                      </a:r>
                      <a:endParaRPr lang="en-US" sz="120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tcPr>
                </a:tc>
                <a:tc>
                  <a:txBody>
                    <a:bodyPr/>
                    <a:lstStyle/>
                    <a:p>
                      <a:pPr algn="r" indent="0" marL="0">
                        <a:buNone/>
                      </a:pPr>
                      <a:r>
                        <a:rPr lang="en-US" sz="1200" dirty="0">
                          <a:solidFill>
                            <a:srgbClr val="1F2430"/>
                          </a:solidFill>
                          <a:latin typeface="Calibri" pitchFamily="34" charset="0"/>
                          <a:ea typeface="Calibri" pitchFamily="34" charset="-122"/>
                          <a:cs typeface="Calibri" pitchFamily="34" charset="-120"/>
                        </a:rPr>
                        <a:t>1.0</a:t>
                      </a:r>
                      <a:endParaRPr lang="en-US" sz="120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tcPr>
                </a:tc>
                <a:tc>
                  <a:txBody>
                    <a:bodyPr/>
                    <a:lstStyle/>
                    <a:p>
                      <a:pPr algn="r" indent="0" marL="0">
                        <a:buNone/>
                      </a:pPr>
                      <a:r>
                        <a:rPr lang="en-US" sz="1200" dirty="0">
                          <a:solidFill>
                            <a:srgbClr val="1F2430"/>
                          </a:solidFill>
                          <a:latin typeface="Calibri" pitchFamily="34" charset="0"/>
                          <a:ea typeface="Calibri" pitchFamily="34" charset="-122"/>
                          <a:cs typeface="Calibri" pitchFamily="34" charset="-120"/>
                        </a:rPr>
                        <a:t>1.0</a:t>
                      </a:r>
                      <a:endParaRPr lang="en-US" sz="120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tcPr>
                </a:tc>
                <a:tc>
                  <a:txBody>
                    <a:bodyPr/>
                    <a:lstStyle/>
                    <a:p>
                      <a:pPr algn="r" indent="0" marL="0">
                        <a:buNone/>
                      </a:pPr>
                      <a:r>
                        <a:rPr lang="en-US" sz="1200" dirty="0">
                          <a:solidFill>
                            <a:srgbClr val="1F2430"/>
                          </a:solidFill>
                          <a:latin typeface="Calibri" pitchFamily="34" charset="0"/>
                          <a:ea typeface="Calibri" pitchFamily="34" charset="-122"/>
                          <a:cs typeface="Calibri" pitchFamily="34" charset="-120"/>
                        </a:rPr>
                        <a:t>2.0</a:t>
                      </a:r>
                      <a:endParaRPr lang="en-US" sz="120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tcPr>
                </a:tc>
                <a:tc>
                  <a:txBody>
                    <a:bodyPr/>
                    <a:lstStyle/>
                    <a:p>
                      <a:pPr algn="r" indent="0" marL="0">
                        <a:buNone/>
                      </a:pPr>
                      <a:r>
                        <a:rPr lang="en-US" sz="1200" dirty="0">
                          <a:solidFill>
                            <a:srgbClr val="1F2430"/>
                          </a:solidFill>
                          <a:latin typeface="Calibri" pitchFamily="34" charset="0"/>
                          <a:ea typeface="Calibri" pitchFamily="34" charset="-122"/>
                          <a:cs typeface="Calibri" pitchFamily="34" charset="-120"/>
                        </a:rPr>
                        <a:t>3.0</a:t>
                      </a:r>
                      <a:endParaRPr lang="en-US" sz="120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tcPr>
                </a:tc>
                <a:tc>
                  <a:txBody>
                    <a:bodyPr/>
                    <a:lstStyle/>
                    <a:p>
                      <a:pPr algn="r" indent="0" marL="0">
                        <a:buNone/>
                      </a:pPr>
                      <a:r>
                        <a:rPr lang="en-US" sz="1200" dirty="0">
                          <a:solidFill>
                            <a:srgbClr val="1F2430"/>
                          </a:solidFill>
                          <a:latin typeface="Calibri" pitchFamily="34" charset="0"/>
                          <a:ea typeface="Calibri" pitchFamily="34" charset="-122"/>
                          <a:cs typeface="Calibri" pitchFamily="34" charset="-120"/>
                        </a:rPr>
                        <a:t>16.0</a:t>
                      </a:r>
                      <a:endParaRPr lang="en-US" sz="120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tcPr>
                </a:tc>
              </a:tr>
              <a:tr h="310896">
                <a:tc>
                  <a:txBody>
                    <a:bodyPr/>
                    <a:lstStyle/>
                    <a:p>
                      <a:pPr algn="r" indent="0" marL="0">
                        <a:buNone/>
                      </a:pPr>
                      <a:r>
                        <a:rPr lang="en-US" sz="1200" b="1" dirty="0">
                          <a:solidFill>
                            <a:srgbClr val="1B365D"/>
                          </a:solidFill>
                          <a:latin typeface="Calibri" pitchFamily="34" charset="0"/>
                          <a:ea typeface="Calibri" pitchFamily="34" charset="-122"/>
                          <a:cs typeface="Calibri" pitchFamily="34" charset="-120"/>
                        </a:rPr>
                        <a:t>Bathrooms</a:t>
                      </a:r>
                      <a:endParaRPr lang="en-US" sz="120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tcPr>
                </a:tc>
                <a:tc>
                  <a:txBody>
                    <a:bodyPr/>
                    <a:lstStyle/>
                    <a:p>
                      <a:pPr algn="r" indent="0" marL="0">
                        <a:buNone/>
                      </a:pPr>
                      <a:r>
                        <a:rPr lang="en-US" sz="1200" dirty="0">
                          <a:solidFill>
                            <a:srgbClr val="1F2430"/>
                          </a:solidFill>
                          <a:latin typeface="Calibri" pitchFamily="34" charset="0"/>
                          <a:ea typeface="Calibri" pitchFamily="34" charset="-122"/>
                          <a:cs typeface="Calibri" pitchFamily="34" charset="-120"/>
                        </a:rPr>
                        <a:t>11,981</a:t>
                      </a:r>
                      <a:endParaRPr lang="en-US" sz="120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tcPr>
                </a:tc>
                <a:tc>
                  <a:txBody>
                    <a:bodyPr/>
                    <a:lstStyle/>
                    <a:p>
                      <a:pPr algn="r" indent="0" marL="0">
                        <a:buNone/>
                      </a:pPr>
                      <a:r>
                        <a:rPr lang="en-US" sz="1200" dirty="0">
                          <a:solidFill>
                            <a:srgbClr val="1F2430"/>
                          </a:solidFill>
                          <a:latin typeface="Calibri" pitchFamily="34" charset="0"/>
                          <a:ea typeface="Calibri" pitchFamily="34" charset="-122"/>
                          <a:cs typeface="Calibri" pitchFamily="34" charset="-120"/>
                        </a:rPr>
                        <a:t>2.5</a:t>
                      </a:r>
                      <a:endParaRPr lang="en-US" sz="120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tcPr>
                </a:tc>
                <a:tc>
                  <a:txBody>
                    <a:bodyPr/>
                    <a:lstStyle/>
                    <a:p>
                      <a:pPr algn="r" indent="0" marL="0">
                        <a:buNone/>
                      </a:pPr>
                      <a:r>
                        <a:rPr lang="en-US" sz="1200" dirty="0">
                          <a:solidFill>
                            <a:srgbClr val="1F2430"/>
                          </a:solidFill>
                          <a:latin typeface="Calibri" pitchFamily="34" charset="0"/>
                          <a:ea typeface="Calibri" pitchFamily="34" charset="-122"/>
                          <a:cs typeface="Calibri" pitchFamily="34" charset="-120"/>
                        </a:rPr>
                        <a:t>2.0</a:t>
                      </a:r>
                      <a:endParaRPr lang="en-US" sz="120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tcPr>
                </a:tc>
                <a:tc>
                  <a:txBody>
                    <a:bodyPr/>
                    <a:lstStyle/>
                    <a:p>
                      <a:pPr algn="r" indent="0" marL="0">
                        <a:buNone/>
                      </a:pPr>
                      <a:r>
                        <a:rPr lang="en-US" sz="1200" dirty="0">
                          <a:solidFill>
                            <a:srgbClr val="1F2430"/>
                          </a:solidFill>
                          <a:latin typeface="Calibri" pitchFamily="34" charset="0"/>
                          <a:ea typeface="Calibri" pitchFamily="34" charset="-122"/>
                          <a:cs typeface="Calibri" pitchFamily="34" charset="-120"/>
                        </a:rPr>
                        <a:t>1.0</a:t>
                      </a:r>
                      <a:endParaRPr lang="en-US" sz="120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tcPr>
                </a:tc>
                <a:tc>
                  <a:txBody>
                    <a:bodyPr/>
                    <a:lstStyle/>
                    <a:p>
                      <a:pPr algn="r" indent="0" marL="0">
                        <a:buNone/>
                      </a:pPr>
                      <a:r>
                        <a:rPr lang="en-US" sz="1200" dirty="0">
                          <a:solidFill>
                            <a:srgbClr val="1F2430"/>
                          </a:solidFill>
                          <a:latin typeface="Calibri" pitchFamily="34" charset="0"/>
                          <a:ea typeface="Calibri" pitchFamily="34" charset="-122"/>
                          <a:cs typeface="Calibri" pitchFamily="34" charset="-120"/>
                        </a:rPr>
                        <a:t>1.0</a:t>
                      </a:r>
                      <a:endParaRPr lang="en-US" sz="120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tcPr>
                </a:tc>
                <a:tc>
                  <a:txBody>
                    <a:bodyPr/>
                    <a:lstStyle/>
                    <a:p>
                      <a:pPr algn="r" indent="0" marL="0">
                        <a:buNone/>
                      </a:pPr>
                      <a:r>
                        <a:rPr lang="en-US" sz="1200" dirty="0">
                          <a:solidFill>
                            <a:srgbClr val="1F2430"/>
                          </a:solidFill>
                          <a:latin typeface="Calibri" pitchFamily="34" charset="0"/>
                          <a:ea typeface="Calibri" pitchFamily="34" charset="-122"/>
                          <a:cs typeface="Calibri" pitchFamily="34" charset="-120"/>
                        </a:rPr>
                        <a:t>2.0</a:t>
                      </a:r>
                      <a:endParaRPr lang="en-US" sz="120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tcPr>
                </a:tc>
                <a:tc>
                  <a:txBody>
                    <a:bodyPr/>
                    <a:lstStyle/>
                    <a:p>
                      <a:pPr algn="r" indent="0" marL="0">
                        <a:buNone/>
                      </a:pPr>
                      <a:r>
                        <a:rPr lang="en-US" sz="1200" dirty="0">
                          <a:solidFill>
                            <a:srgbClr val="1F2430"/>
                          </a:solidFill>
                          <a:latin typeface="Calibri" pitchFamily="34" charset="0"/>
                          <a:ea typeface="Calibri" pitchFamily="34" charset="-122"/>
                          <a:cs typeface="Calibri" pitchFamily="34" charset="-120"/>
                        </a:rPr>
                        <a:t>3.0</a:t>
                      </a:r>
                      <a:endParaRPr lang="en-US" sz="120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tcPr>
                </a:tc>
                <a:tc>
                  <a:txBody>
                    <a:bodyPr/>
                    <a:lstStyle/>
                    <a:p>
                      <a:pPr algn="r" indent="0" marL="0">
                        <a:buNone/>
                      </a:pPr>
                      <a:r>
                        <a:rPr lang="en-US" sz="1200" dirty="0">
                          <a:solidFill>
                            <a:srgbClr val="1F2430"/>
                          </a:solidFill>
                          <a:latin typeface="Calibri" pitchFamily="34" charset="0"/>
                          <a:ea typeface="Calibri" pitchFamily="34" charset="-122"/>
                          <a:cs typeface="Calibri" pitchFamily="34" charset="-120"/>
                        </a:rPr>
                        <a:t>16.0</a:t>
                      </a:r>
                      <a:endParaRPr lang="en-US" sz="120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tcPr>
                </a:tc>
              </a:tr>
              <a:tr h="310896">
                <a:tc>
                  <a:txBody>
                    <a:bodyPr/>
                    <a:lstStyle/>
                    <a:p>
                      <a:pPr algn="r" indent="0" marL="0">
                        <a:buNone/>
                      </a:pPr>
                      <a:r>
                        <a:rPr lang="en-US" sz="1200" b="1" dirty="0">
                          <a:solidFill>
                            <a:srgbClr val="1B365D"/>
                          </a:solidFill>
                          <a:latin typeface="Calibri" pitchFamily="34" charset="0"/>
                          <a:ea typeface="Calibri" pitchFamily="34" charset="-122"/>
                          <a:cs typeface="Calibri" pitchFamily="34" charset="-120"/>
                        </a:rPr>
                        <a:t>Balcony</a:t>
                      </a:r>
                      <a:endParaRPr lang="en-US" sz="120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tcPr>
                </a:tc>
                <a:tc>
                  <a:txBody>
                    <a:bodyPr/>
                    <a:lstStyle/>
                    <a:p>
                      <a:pPr algn="r" indent="0" marL="0">
                        <a:buNone/>
                      </a:pPr>
                      <a:r>
                        <a:rPr lang="en-US" sz="1200" dirty="0">
                          <a:solidFill>
                            <a:srgbClr val="1F2430"/>
                          </a:solidFill>
                          <a:latin typeface="Calibri" pitchFamily="34" charset="0"/>
                          <a:ea typeface="Calibri" pitchFamily="34" charset="-122"/>
                          <a:cs typeface="Calibri" pitchFamily="34" charset="-120"/>
                        </a:rPr>
                        <a:t>11,578</a:t>
                      </a:r>
                      <a:endParaRPr lang="en-US" sz="120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tcPr>
                </a:tc>
                <a:tc>
                  <a:txBody>
                    <a:bodyPr/>
                    <a:lstStyle/>
                    <a:p>
                      <a:pPr algn="r" indent="0" marL="0">
                        <a:buNone/>
                      </a:pPr>
                      <a:r>
                        <a:rPr lang="en-US" sz="1200" dirty="0">
                          <a:solidFill>
                            <a:srgbClr val="1F2430"/>
                          </a:solidFill>
                          <a:latin typeface="Calibri" pitchFamily="34" charset="0"/>
                          <a:ea typeface="Calibri" pitchFamily="34" charset="-122"/>
                          <a:cs typeface="Calibri" pitchFamily="34" charset="-120"/>
                        </a:rPr>
                        <a:t>1.6</a:t>
                      </a:r>
                      <a:endParaRPr lang="en-US" sz="120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tcPr>
                </a:tc>
                <a:tc>
                  <a:txBody>
                    <a:bodyPr/>
                    <a:lstStyle/>
                    <a:p>
                      <a:pPr algn="r" indent="0" marL="0">
                        <a:buNone/>
                      </a:pPr>
                      <a:r>
                        <a:rPr lang="en-US" sz="1200" dirty="0">
                          <a:solidFill>
                            <a:srgbClr val="1F2430"/>
                          </a:solidFill>
                          <a:latin typeface="Calibri" pitchFamily="34" charset="0"/>
                          <a:ea typeface="Calibri" pitchFamily="34" charset="-122"/>
                          <a:cs typeface="Calibri" pitchFamily="34" charset="-120"/>
                        </a:rPr>
                        <a:t>2.0</a:t>
                      </a:r>
                      <a:endParaRPr lang="en-US" sz="120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tcPr>
                </a:tc>
                <a:tc>
                  <a:txBody>
                    <a:bodyPr/>
                    <a:lstStyle/>
                    <a:p>
                      <a:pPr algn="r" indent="0" marL="0">
                        <a:buNone/>
                      </a:pPr>
                      <a:r>
                        <a:rPr lang="en-US" sz="1200" dirty="0">
                          <a:solidFill>
                            <a:srgbClr val="1F2430"/>
                          </a:solidFill>
                          <a:latin typeface="Calibri" pitchFamily="34" charset="0"/>
                          <a:ea typeface="Calibri" pitchFamily="34" charset="-122"/>
                          <a:cs typeface="Calibri" pitchFamily="34" charset="-120"/>
                        </a:rPr>
                        <a:t>0.8</a:t>
                      </a:r>
                      <a:endParaRPr lang="en-US" sz="120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tcPr>
                </a:tc>
                <a:tc>
                  <a:txBody>
                    <a:bodyPr/>
                    <a:lstStyle/>
                    <a:p>
                      <a:pPr algn="r" indent="0" marL="0">
                        <a:buNone/>
                      </a:pPr>
                      <a:r>
                        <a:rPr lang="en-US" sz="1200" dirty="0">
                          <a:solidFill>
                            <a:srgbClr val="1F2430"/>
                          </a:solidFill>
                          <a:latin typeface="Calibri" pitchFamily="34" charset="0"/>
                          <a:ea typeface="Calibri" pitchFamily="34" charset="-122"/>
                          <a:cs typeface="Calibri" pitchFamily="34" charset="-120"/>
                        </a:rPr>
                        <a:t>0.0</a:t>
                      </a:r>
                      <a:endParaRPr lang="en-US" sz="120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tcPr>
                </a:tc>
                <a:tc>
                  <a:txBody>
                    <a:bodyPr/>
                    <a:lstStyle/>
                    <a:p>
                      <a:pPr algn="r" indent="0" marL="0">
                        <a:buNone/>
                      </a:pPr>
                      <a:r>
                        <a:rPr lang="en-US" sz="1200" dirty="0">
                          <a:solidFill>
                            <a:srgbClr val="1F2430"/>
                          </a:solidFill>
                          <a:latin typeface="Calibri" pitchFamily="34" charset="0"/>
                          <a:ea typeface="Calibri" pitchFamily="34" charset="-122"/>
                          <a:cs typeface="Calibri" pitchFamily="34" charset="-120"/>
                        </a:rPr>
                        <a:t>1.0</a:t>
                      </a:r>
                      <a:endParaRPr lang="en-US" sz="120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tcPr>
                </a:tc>
                <a:tc>
                  <a:txBody>
                    <a:bodyPr/>
                    <a:lstStyle/>
                    <a:p>
                      <a:pPr algn="r" indent="0" marL="0">
                        <a:buNone/>
                      </a:pPr>
                      <a:r>
                        <a:rPr lang="en-US" sz="1200" dirty="0">
                          <a:solidFill>
                            <a:srgbClr val="1F2430"/>
                          </a:solidFill>
                          <a:latin typeface="Calibri" pitchFamily="34" charset="0"/>
                          <a:ea typeface="Calibri" pitchFamily="34" charset="-122"/>
                          <a:cs typeface="Calibri" pitchFamily="34" charset="-120"/>
                        </a:rPr>
                        <a:t>2.0</a:t>
                      </a:r>
                      <a:endParaRPr lang="en-US" sz="120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tcPr>
                </a:tc>
                <a:tc>
                  <a:txBody>
                    <a:bodyPr/>
                    <a:lstStyle/>
                    <a:p>
                      <a:pPr algn="r" indent="0" marL="0">
                        <a:buNone/>
                      </a:pPr>
                      <a:r>
                        <a:rPr lang="en-US" sz="1200" dirty="0">
                          <a:solidFill>
                            <a:srgbClr val="1F2430"/>
                          </a:solidFill>
                          <a:latin typeface="Calibri" pitchFamily="34" charset="0"/>
                          <a:ea typeface="Calibri" pitchFamily="34" charset="-122"/>
                          <a:cs typeface="Calibri" pitchFamily="34" charset="-120"/>
                        </a:rPr>
                        <a:t>3.0</a:t>
                      </a:r>
                      <a:endParaRPr lang="en-US" sz="120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tcPr>
                </a:tc>
              </a:tr>
              <a:tr h="310896">
                <a:tc>
                  <a:txBody>
                    <a:bodyPr/>
                    <a:lstStyle/>
                    <a:p>
                      <a:pPr algn="r" indent="0" marL="0">
                        <a:buNone/>
                      </a:pPr>
                      <a:r>
                        <a:rPr lang="en-US" sz="1200" b="1" dirty="0">
                          <a:solidFill>
                            <a:srgbClr val="1B365D"/>
                          </a:solidFill>
                          <a:latin typeface="Calibri" pitchFamily="34" charset="0"/>
                          <a:ea typeface="Calibri" pitchFamily="34" charset="-122"/>
                          <a:cs typeface="Calibri" pitchFamily="34" charset="-120"/>
                        </a:rPr>
                        <a:t>Price per sq.ft (INR)</a:t>
                      </a:r>
                      <a:endParaRPr lang="en-US" sz="120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tcPr>
                </a:tc>
                <a:tc>
                  <a:txBody>
                    <a:bodyPr/>
                    <a:lstStyle/>
                    <a:p>
                      <a:pPr algn="r" indent="0" marL="0">
                        <a:buNone/>
                      </a:pPr>
                      <a:r>
                        <a:rPr lang="en-US" sz="1200" dirty="0">
                          <a:solidFill>
                            <a:srgbClr val="1F2430"/>
                          </a:solidFill>
                          <a:latin typeface="Calibri" pitchFamily="34" charset="0"/>
                          <a:ea typeface="Calibri" pitchFamily="34" charset="-122"/>
                          <a:cs typeface="Calibri" pitchFamily="34" charset="-120"/>
                        </a:rPr>
                        <a:t>12,038</a:t>
                      </a:r>
                      <a:endParaRPr lang="en-US" sz="120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tcPr>
                </a:tc>
                <a:tc>
                  <a:txBody>
                    <a:bodyPr/>
                    <a:lstStyle/>
                    <a:p>
                      <a:pPr algn="r" indent="0" marL="0">
                        <a:buNone/>
                      </a:pPr>
                      <a:r>
                        <a:rPr lang="en-US" sz="1200" dirty="0">
                          <a:solidFill>
                            <a:srgbClr val="1F2430"/>
                          </a:solidFill>
                          <a:latin typeface="Calibri" pitchFamily="34" charset="0"/>
                          <a:ea typeface="Calibri" pitchFamily="34" charset="-122"/>
                          <a:cs typeface="Calibri" pitchFamily="34" charset="-120"/>
                        </a:rPr>
                        <a:t>6,015</a:t>
                      </a:r>
                      <a:endParaRPr lang="en-US" sz="120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tcPr>
                </a:tc>
                <a:tc>
                  <a:txBody>
                    <a:bodyPr/>
                    <a:lstStyle/>
                    <a:p>
                      <a:pPr algn="r" indent="0" marL="0">
                        <a:buNone/>
                      </a:pPr>
                      <a:r>
                        <a:rPr lang="en-US" sz="1200" dirty="0">
                          <a:solidFill>
                            <a:srgbClr val="1F2430"/>
                          </a:solidFill>
                          <a:latin typeface="Calibri" pitchFamily="34" charset="0"/>
                          <a:ea typeface="Calibri" pitchFamily="34" charset="-122"/>
                          <a:cs typeface="Calibri" pitchFamily="34" charset="-120"/>
                        </a:rPr>
                        <a:t>5,226</a:t>
                      </a:r>
                      <a:endParaRPr lang="en-US" sz="120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tcPr>
                </a:tc>
                <a:tc>
                  <a:txBody>
                    <a:bodyPr/>
                    <a:lstStyle/>
                    <a:p>
                      <a:pPr algn="r" indent="0" marL="0">
                        <a:buNone/>
                      </a:pPr>
                      <a:r>
                        <a:rPr lang="en-US" sz="1200" dirty="0">
                          <a:solidFill>
                            <a:srgbClr val="1F2430"/>
                          </a:solidFill>
                          <a:latin typeface="Calibri" pitchFamily="34" charset="0"/>
                          <a:ea typeface="Calibri" pitchFamily="34" charset="-122"/>
                          <a:cs typeface="Calibri" pitchFamily="34" charset="-120"/>
                        </a:rPr>
                        <a:t>3,170</a:t>
                      </a:r>
                      <a:endParaRPr lang="en-US" sz="120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tcPr>
                </a:tc>
                <a:tc>
                  <a:txBody>
                    <a:bodyPr/>
                    <a:lstStyle/>
                    <a:p>
                      <a:pPr algn="r" indent="0" marL="0">
                        <a:buNone/>
                      </a:pPr>
                      <a:r>
                        <a:rPr lang="en-US" sz="1200" dirty="0">
                          <a:solidFill>
                            <a:srgbClr val="1F2430"/>
                          </a:solidFill>
                          <a:latin typeface="Calibri" pitchFamily="34" charset="0"/>
                          <a:ea typeface="Calibri" pitchFamily="34" charset="-122"/>
                          <a:cs typeface="Calibri" pitchFamily="34" charset="-120"/>
                        </a:rPr>
                        <a:t>1,579</a:t>
                      </a:r>
                      <a:endParaRPr lang="en-US" sz="120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tcPr>
                </a:tc>
                <a:tc>
                  <a:txBody>
                    <a:bodyPr/>
                    <a:lstStyle/>
                    <a:p>
                      <a:pPr algn="r" indent="0" marL="0">
                        <a:buNone/>
                      </a:pPr>
                      <a:r>
                        <a:rPr lang="en-US" sz="1200" dirty="0">
                          <a:solidFill>
                            <a:srgbClr val="1F2430"/>
                          </a:solidFill>
                          <a:latin typeface="Calibri" pitchFamily="34" charset="0"/>
                          <a:ea typeface="Calibri" pitchFamily="34" charset="-122"/>
                          <a:cs typeface="Calibri" pitchFamily="34" charset="-120"/>
                        </a:rPr>
                        <a:t>4,198</a:t>
                      </a:r>
                      <a:endParaRPr lang="en-US" sz="120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tcPr>
                </a:tc>
                <a:tc>
                  <a:txBody>
                    <a:bodyPr/>
                    <a:lstStyle/>
                    <a:p>
                      <a:pPr algn="r" indent="0" marL="0">
                        <a:buNone/>
                      </a:pPr>
                      <a:r>
                        <a:rPr lang="en-US" sz="1200" dirty="0">
                          <a:solidFill>
                            <a:srgbClr val="1F2430"/>
                          </a:solidFill>
                          <a:latin typeface="Calibri" pitchFamily="34" charset="0"/>
                          <a:ea typeface="Calibri" pitchFamily="34" charset="-122"/>
                          <a:cs typeface="Calibri" pitchFamily="34" charset="-120"/>
                        </a:rPr>
                        <a:t>6,705</a:t>
                      </a:r>
                      <a:endParaRPr lang="en-US" sz="120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tcPr>
                </a:tc>
                <a:tc>
                  <a:txBody>
                    <a:bodyPr/>
                    <a:lstStyle/>
                    <a:p>
                      <a:pPr algn="r" indent="0" marL="0">
                        <a:buNone/>
                      </a:pPr>
                      <a:r>
                        <a:rPr lang="en-US" sz="1200" dirty="0">
                          <a:solidFill>
                            <a:srgbClr val="1F2430"/>
                          </a:solidFill>
                          <a:latin typeface="Calibri" pitchFamily="34" charset="0"/>
                          <a:ea typeface="Calibri" pitchFamily="34" charset="-122"/>
                          <a:cs typeface="Calibri" pitchFamily="34" charset="-120"/>
                        </a:rPr>
                        <a:t>37,500</a:t>
                      </a:r>
                      <a:endParaRPr lang="en-US" sz="120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tcPr>
                </a:tc>
              </a:tr>
            </a:tbl>
          </a:graphicData>
        </a:graphic>
      </p:graphicFrame>
      <p:sp>
        <p:nvSpPr>
          <p:cNvPr id="6" name="Text 3"/>
          <p:cNvSpPr/>
          <p:nvPr/>
        </p:nvSpPr>
        <p:spPr>
          <a:xfrm>
            <a:off x="566928" y="3913632"/>
            <a:ext cx="5486400" cy="274320"/>
          </a:xfrm>
          <a:prstGeom prst="rect">
            <a:avLst/>
          </a:prstGeom>
          <a:noFill/>
          <a:ln/>
        </p:spPr>
        <p:txBody>
          <a:bodyPr wrap="square" lIns="0" tIns="0" rIns="0" bIns="0" rtlCol="0" anchor="ctr"/>
          <a:lstStyle/>
          <a:p>
            <a:pPr indent="0" marL="0">
              <a:buNone/>
            </a:pPr>
            <a:r>
              <a:rPr lang="en-US" sz="1500" b="1" dirty="0">
                <a:solidFill>
                  <a:srgbClr val="1B365D"/>
                </a:solidFill>
                <a:latin typeface="Cambria" pitchFamily="34" charset="0"/>
                <a:ea typeface="Cambria" pitchFamily="34" charset="-122"/>
                <a:cs typeface="Cambria" pitchFamily="34" charset="-120"/>
              </a:rPr>
              <a:t>Observations</a:t>
            </a:r>
            <a:endParaRPr lang="en-US" sz="1500" dirty="0"/>
          </a:p>
        </p:txBody>
      </p:sp>
      <p:sp>
        <p:nvSpPr>
          <p:cNvPr id="7" name="Shape 4"/>
          <p:cNvSpPr/>
          <p:nvPr/>
        </p:nvSpPr>
        <p:spPr>
          <a:xfrm>
            <a:off x="566928" y="4279392"/>
            <a:ext cx="347472" cy="347472"/>
          </a:xfrm>
          <a:prstGeom prst="ellipse">
            <a:avLst/>
          </a:prstGeom>
          <a:solidFill>
            <a:srgbClr val="1B365D"/>
          </a:solidFill>
          <a:ln w="12700">
            <a:solidFill>
              <a:srgbClr val="1B365D"/>
            </a:solidFill>
            <a:prstDash val="solid"/>
          </a:ln>
        </p:spPr>
      </p:sp>
      <p:sp>
        <p:nvSpPr>
          <p:cNvPr id="8" name="Text 5"/>
          <p:cNvSpPr/>
          <p:nvPr/>
        </p:nvSpPr>
        <p:spPr>
          <a:xfrm>
            <a:off x="566928" y="4279392"/>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6"/>
          <p:cNvSpPr/>
          <p:nvPr/>
        </p:nvSpPr>
        <p:spPr>
          <a:xfrm>
            <a:off x="1078992" y="4242816"/>
            <a:ext cx="10424160" cy="237744"/>
          </a:xfrm>
          <a:prstGeom prst="rect">
            <a:avLst/>
          </a:prstGeom>
          <a:noFill/>
          <a:ln/>
        </p:spPr>
        <p:txBody>
          <a:bodyPr wrap="square" lIns="0" tIns="0" rIns="0" bIns="0" rtlCol="0" anchor="ctr"/>
          <a:lstStyle/>
          <a:p>
            <a:pPr indent="0" marL="0">
              <a:buNone/>
            </a:pPr>
            <a:r>
              <a:rPr lang="en-US" sz="1250" b="1" dirty="0">
                <a:solidFill>
                  <a:srgbClr val="1F2430"/>
                </a:solidFill>
                <a:latin typeface="Calibri" pitchFamily="34" charset="0"/>
                <a:ea typeface="Calibri" pitchFamily="34" charset="-122"/>
                <a:cs typeface="Calibri" pitchFamily="34" charset="-120"/>
              </a:rPr>
              <a:t>Price per sq.ft is positively skewed (skewness = 3.086).</a:t>
            </a:r>
            <a:endParaRPr lang="en-US" sz="1250" dirty="0"/>
          </a:p>
        </p:txBody>
      </p:sp>
      <p:sp>
        <p:nvSpPr>
          <p:cNvPr id="10" name="Text 7"/>
          <p:cNvSpPr/>
          <p:nvPr/>
        </p:nvSpPr>
        <p:spPr>
          <a:xfrm>
            <a:off x="1078992" y="4471416"/>
            <a:ext cx="10424160" cy="237744"/>
          </a:xfrm>
          <a:prstGeom prst="rect">
            <a:avLst/>
          </a:prstGeom>
          <a:noFill/>
          <a:ln/>
        </p:spPr>
        <p:txBody>
          <a:bodyPr wrap="square" lIns="0" tIns="0" rIns="0" bIns="0" rtlCol="0" anchor="ctr"/>
          <a:lstStyle/>
          <a:p>
            <a:pPr indent="0" marL="0">
              <a:buNone/>
            </a:pPr>
            <a:r>
              <a:rPr lang="en-US" sz="1150" dirty="0">
                <a:solidFill>
                  <a:srgbClr val="5C6675"/>
                </a:solidFill>
                <a:latin typeface="Calibri" pitchFamily="34" charset="0"/>
                <a:ea typeface="Calibri" pitchFamily="34" charset="-122"/>
                <a:cs typeface="Calibri" pitchFamily="34" charset="-120"/>
              </a:rPr>
              <a:t>The mean (6,015) exceeds the median (5,226), indicating a minority of high-priced properties pulling the average upward.</a:t>
            </a:r>
            <a:endParaRPr lang="en-US" sz="1150" dirty="0"/>
          </a:p>
        </p:txBody>
      </p:sp>
      <p:sp>
        <p:nvSpPr>
          <p:cNvPr id="11" name="Shape 8"/>
          <p:cNvSpPr/>
          <p:nvPr/>
        </p:nvSpPr>
        <p:spPr>
          <a:xfrm>
            <a:off x="566928" y="4882896"/>
            <a:ext cx="347472" cy="347472"/>
          </a:xfrm>
          <a:prstGeom prst="ellipse">
            <a:avLst/>
          </a:prstGeom>
          <a:solidFill>
            <a:srgbClr val="1B365D"/>
          </a:solidFill>
          <a:ln w="12700">
            <a:solidFill>
              <a:srgbClr val="1B365D"/>
            </a:solidFill>
            <a:prstDash val="solid"/>
          </a:ln>
        </p:spPr>
      </p:sp>
      <p:sp>
        <p:nvSpPr>
          <p:cNvPr id="12" name="Text 9"/>
          <p:cNvSpPr/>
          <p:nvPr/>
        </p:nvSpPr>
        <p:spPr>
          <a:xfrm>
            <a:off x="566928" y="4882896"/>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3" name="Text 10"/>
          <p:cNvSpPr/>
          <p:nvPr/>
        </p:nvSpPr>
        <p:spPr>
          <a:xfrm>
            <a:off x="1078992" y="4846320"/>
            <a:ext cx="10424160" cy="237744"/>
          </a:xfrm>
          <a:prstGeom prst="rect">
            <a:avLst/>
          </a:prstGeom>
          <a:noFill/>
          <a:ln/>
        </p:spPr>
        <p:txBody>
          <a:bodyPr wrap="square" lIns="0" tIns="0" rIns="0" bIns="0" rtlCol="0" anchor="ctr"/>
          <a:lstStyle/>
          <a:p>
            <a:pPr indent="0" marL="0">
              <a:buNone/>
            </a:pPr>
            <a:r>
              <a:rPr lang="en-US" sz="1250" b="1" dirty="0">
                <a:solidFill>
                  <a:srgbClr val="1F2430"/>
                </a:solidFill>
                <a:latin typeface="Calibri" pitchFamily="34" charset="0"/>
                <a:ea typeface="Calibri" pitchFamily="34" charset="-122"/>
                <a:cs typeface="Calibri" pitchFamily="34" charset="-120"/>
              </a:rPr>
              <a:t>Built-up area is strongly right-skewed (skewness = 8.429).</a:t>
            </a:r>
            <a:endParaRPr lang="en-US" sz="1250" dirty="0"/>
          </a:p>
        </p:txBody>
      </p:sp>
      <p:sp>
        <p:nvSpPr>
          <p:cNvPr id="14" name="Text 11"/>
          <p:cNvSpPr/>
          <p:nvPr/>
        </p:nvSpPr>
        <p:spPr>
          <a:xfrm>
            <a:off x="1078992" y="5074920"/>
            <a:ext cx="10424160" cy="237744"/>
          </a:xfrm>
          <a:prstGeom prst="rect">
            <a:avLst/>
          </a:prstGeom>
          <a:noFill/>
          <a:ln/>
        </p:spPr>
        <p:txBody>
          <a:bodyPr wrap="square" lIns="0" tIns="0" rIns="0" bIns="0" rtlCol="0" anchor="ctr"/>
          <a:lstStyle/>
          <a:p>
            <a:pPr indent="0" marL="0">
              <a:buNone/>
            </a:pPr>
            <a:r>
              <a:rPr lang="en-US" sz="1150" dirty="0">
                <a:solidFill>
                  <a:srgbClr val="5C6675"/>
                </a:solidFill>
                <a:latin typeface="Calibri" pitchFamily="34" charset="0"/>
                <a:ea typeface="Calibri" pitchFamily="34" charset="-122"/>
                <a:cs typeface="Calibri" pitchFamily="34" charset="-120"/>
              </a:rPr>
              <a:t>Values range from 300 to 30,400 sq.ft, so the median is the more representative measure of central tendency.</a:t>
            </a:r>
            <a:endParaRPr lang="en-US" sz="1150" dirty="0"/>
          </a:p>
        </p:txBody>
      </p:sp>
      <p:sp>
        <p:nvSpPr>
          <p:cNvPr id="15" name="Shape 12"/>
          <p:cNvSpPr/>
          <p:nvPr/>
        </p:nvSpPr>
        <p:spPr>
          <a:xfrm>
            <a:off x="566928" y="5486400"/>
            <a:ext cx="347472" cy="347472"/>
          </a:xfrm>
          <a:prstGeom prst="ellipse">
            <a:avLst/>
          </a:prstGeom>
          <a:solidFill>
            <a:srgbClr val="1B365D"/>
          </a:solidFill>
          <a:ln w="12700">
            <a:solidFill>
              <a:srgbClr val="1B365D"/>
            </a:solidFill>
            <a:prstDash val="solid"/>
          </a:ln>
        </p:spPr>
      </p:sp>
      <p:sp>
        <p:nvSpPr>
          <p:cNvPr id="16" name="Text 13"/>
          <p:cNvSpPr/>
          <p:nvPr/>
        </p:nvSpPr>
        <p:spPr>
          <a:xfrm>
            <a:off x="566928" y="5486400"/>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7" name="Text 14"/>
          <p:cNvSpPr/>
          <p:nvPr/>
        </p:nvSpPr>
        <p:spPr>
          <a:xfrm>
            <a:off x="1078992" y="5449824"/>
            <a:ext cx="10424160" cy="237744"/>
          </a:xfrm>
          <a:prstGeom prst="rect">
            <a:avLst/>
          </a:prstGeom>
          <a:noFill/>
          <a:ln/>
        </p:spPr>
        <p:txBody>
          <a:bodyPr wrap="square" lIns="0" tIns="0" rIns="0" bIns="0" rtlCol="0" anchor="ctr"/>
          <a:lstStyle/>
          <a:p>
            <a:pPr indent="0" marL="0">
              <a:buNone/>
            </a:pPr>
            <a:r>
              <a:rPr lang="en-US" sz="1250" b="1" dirty="0">
                <a:solidFill>
                  <a:srgbClr val="1F2430"/>
                </a:solidFill>
                <a:latin typeface="Calibri" pitchFamily="34" charset="0"/>
                <a:ea typeface="Calibri" pitchFamily="34" charset="-122"/>
                <a:cs typeface="Calibri" pitchFamily="34" charset="-120"/>
              </a:rPr>
              <a:t>Configuration is concentrated in a narrow band.</a:t>
            </a:r>
            <a:endParaRPr lang="en-US" sz="1250" dirty="0"/>
          </a:p>
        </p:txBody>
      </p:sp>
      <p:sp>
        <p:nvSpPr>
          <p:cNvPr id="18" name="Text 15"/>
          <p:cNvSpPr/>
          <p:nvPr/>
        </p:nvSpPr>
        <p:spPr>
          <a:xfrm>
            <a:off x="1078992" y="5678424"/>
            <a:ext cx="10424160" cy="237744"/>
          </a:xfrm>
          <a:prstGeom prst="rect">
            <a:avLst/>
          </a:prstGeom>
          <a:noFill/>
          <a:ln/>
        </p:spPr>
        <p:txBody>
          <a:bodyPr wrap="square" lIns="0" tIns="0" rIns="0" bIns="0" rtlCol="0" anchor="ctr"/>
          <a:lstStyle/>
          <a:p>
            <a:pPr indent="0" marL="0">
              <a:buNone/>
            </a:pPr>
            <a:r>
              <a:rPr lang="en-US" sz="1150" dirty="0">
                <a:solidFill>
                  <a:srgbClr val="5C6675"/>
                </a:solidFill>
                <a:latin typeface="Calibri" pitchFamily="34" charset="0"/>
                <a:ea typeface="Calibri" pitchFamily="34" charset="-122"/>
                <a:cs typeface="Calibri" pitchFamily="34" charset="-120"/>
              </a:rPr>
              <a:t>Mean BHK is 2.6 with a standard deviation of 1.0, indicating that 2 and 3 BHK properties dominate the dataset.</a:t>
            </a:r>
            <a:endParaRPr lang="en-US" sz="1150" dirty="0"/>
          </a:p>
        </p:txBody>
      </p:sp>
      <p:sp>
        <p:nvSpPr>
          <p:cNvPr id="19" name="Text 16"/>
          <p:cNvSpPr/>
          <p:nvPr/>
        </p:nvSpPr>
        <p:spPr>
          <a:xfrm>
            <a:off x="11045952" y="6419088"/>
            <a:ext cx="548640" cy="256032"/>
          </a:xfrm>
          <a:prstGeom prst="rect">
            <a:avLst/>
          </a:prstGeom>
          <a:noFill/>
          <a:ln/>
        </p:spPr>
        <p:txBody>
          <a:bodyPr wrap="square" lIns="0" tIns="0" rIns="0" bIns="0" rtlCol="0" anchor="ctr"/>
          <a:lstStyle/>
          <a:p>
            <a:pPr algn="r" indent="0" marL="0">
              <a:buNone/>
            </a:pPr>
            <a:r>
              <a:rPr lang="en-US" sz="1000" dirty="0">
                <a:solidFill>
                  <a:srgbClr val="5C6675"/>
                </a:solidFill>
                <a:latin typeface="Calibri" pitchFamily="34" charset="0"/>
                <a:ea typeface="Calibri" pitchFamily="34" charset="-122"/>
                <a:cs typeface="Calibri" pitchFamily="34" charset="-120"/>
              </a:rPr>
              <a:t>8</a:t>
            </a:r>
            <a:endParaRPr lang="en-US" sz="1000" dirty="0"/>
          </a:p>
        </p:txBody>
      </p:sp>
      <p:sp>
        <p:nvSpPr>
          <p:cNvPr id="20" name="Text 17"/>
          <p:cNvSpPr/>
          <p:nvPr/>
        </p:nvSpPr>
        <p:spPr>
          <a:xfrm>
            <a:off x="566928" y="6419088"/>
            <a:ext cx="7315200" cy="256032"/>
          </a:xfrm>
          <a:prstGeom prst="rect">
            <a:avLst/>
          </a:prstGeom>
          <a:noFill/>
          <a:ln/>
        </p:spPr>
        <p:txBody>
          <a:bodyPr wrap="square" lIns="0" tIns="0" rIns="0" bIns="0" rtlCol="0" anchor="ctr"/>
          <a:lstStyle/>
          <a:p>
            <a:pPr indent="0" marL="0">
              <a:buNone/>
            </a:pPr>
            <a:r>
              <a:rPr lang="en-US" sz="1000" dirty="0">
                <a:solidFill>
                  <a:srgbClr val="5C6675"/>
                </a:solidFill>
                <a:latin typeface="Calibri" pitchFamily="34" charset="0"/>
                <a:ea typeface="Calibri" pitchFamily="34" charset="-122"/>
                <a:cs typeface="Calibri" pitchFamily="34" charset="-120"/>
              </a:rPr>
              <a:t>Project Review 1  ·  B.Tech CSE (AI &amp; ML)  ·  SRMIST</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8229600" cy="237744"/>
          </a:xfrm>
          <a:prstGeom prst="rect">
            <a:avLst/>
          </a:prstGeom>
          <a:noFill/>
          <a:ln/>
        </p:spPr>
        <p:txBody>
          <a:bodyPr wrap="square" lIns="0" tIns="0" rIns="0" bIns="0" rtlCol="0" anchor="ctr"/>
          <a:lstStyle/>
          <a:p>
            <a:pPr indent="0" marL="0">
              <a:buNone/>
            </a:pPr>
            <a:r>
              <a:rPr lang="en-US" sz="1100" b="1" spc="160" kern="0" dirty="0">
                <a:solidFill>
                  <a:srgbClr val="C2703A"/>
                </a:solidFill>
                <a:latin typeface="Calibri" pitchFamily="34" charset="0"/>
                <a:ea typeface="Calibri" pitchFamily="34" charset="-122"/>
                <a:cs typeface="Calibri" pitchFamily="34" charset="-120"/>
              </a:rPr>
              <a:t>PREPROCESSING</a:t>
            </a:r>
            <a:endParaRPr lang="en-US" sz="1100" dirty="0"/>
          </a:p>
        </p:txBody>
      </p:sp>
      <p:sp>
        <p:nvSpPr>
          <p:cNvPr id="3" name="Text 1"/>
          <p:cNvSpPr/>
          <p:nvPr/>
        </p:nvSpPr>
        <p:spPr>
          <a:xfrm>
            <a:off x="566928" y="566928"/>
            <a:ext cx="11027664" cy="566928"/>
          </a:xfrm>
          <a:prstGeom prst="rect">
            <a:avLst/>
          </a:prstGeom>
          <a:noFill/>
          <a:ln/>
        </p:spPr>
        <p:txBody>
          <a:bodyPr wrap="square" lIns="0" tIns="0" rIns="0" bIns="0" rtlCol="0" anchor="ctr"/>
          <a:lstStyle/>
          <a:p>
            <a:pPr indent="0" marL="0">
              <a:buNone/>
            </a:pPr>
            <a:r>
              <a:rPr lang="en-US" sz="3000" b="1" dirty="0">
                <a:solidFill>
                  <a:srgbClr val="1B365D"/>
                </a:solidFill>
                <a:latin typeface="Cambria" pitchFamily="34" charset="0"/>
                <a:ea typeface="Cambria" pitchFamily="34" charset="-122"/>
                <a:cs typeface="Cambria" pitchFamily="34" charset="-120"/>
              </a:rPr>
              <a:t>Data Quality Analysis</a:t>
            </a:r>
            <a:endParaRPr lang="en-US" sz="3000" dirty="0"/>
          </a:p>
        </p:txBody>
      </p:sp>
      <p:pic>
        <p:nvPicPr>
          <p:cNvPr id="4" name="Image 0" descr="C:\Users\UJWAL M\OneDrive\Desktop\GBA development project\ml\artifacts\review1\missing_values.png">    </p:cNvPr>
          <p:cNvPicPr>
            <a:picLocks noChangeAspect="1"/>
          </p:cNvPicPr>
          <p:nvPr/>
        </p:nvPicPr>
        <p:blipFill>
          <a:blip r:embed="rId1"/>
          <a:stretch>
            <a:fillRect/>
          </a:stretch>
        </p:blipFill>
        <p:spPr>
          <a:xfrm>
            <a:off x="566928" y="1371600"/>
            <a:ext cx="5394960" cy="2697480"/>
          </a:xfrm>
          <a:prstGeom prst="rect">
            <a:avLst/>
          </a:prstGeom>
        </p:spPr>
      </p:pic>
      <p:pic>
        <p:nvPicPr>
          <p:cNvPr id="5" name="Image 1" descr="C:\Users\UJWAL M\OneDrive\Desktop\GBA development project\ml\artifacts\review1\outliers_boxplots.png">    </p:cNvPr>
          <p:cNvPicPr>
            <a:picLocks noChangeAspect="1"/>
          </p:cNvPicPr>
          <p:nvPr/>
        </p:nvPicPr>
        <p:blipFill>
          <a:blip r:embed="rId2"/>
          <a:stretch>
            <a:fillRect/>
          </a:stretch>
        </p:blipFill>
        <p:spPr>
          <a:xfrm>
            <a:off x="566928" y="4133088"/>
            <a:ext cx="5394960" cy="2157984"/>
          </a:xfrm>
          <a:prstGeom prst="rect">
            <a:avLst/>
          </a:prstGeom>
        </p:spPr>
      </p:pic>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199632" y="1371600"/>
          <a:ext cx="5394960" cy="914400"/>
        </p:xfrm>
        <a:graphic>
          <a:graphicData uri="http://schemas.openxmlformats.org/drawingml/2006/table">
            <a:tbl>
              <a:tblPr/>
              <a:tblGrid>
                <a:gridCol w="1965960"/>
                <a:gridCol w="3429000"/>
              </a:tblGrid>
              <a:tr h="301752">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Quality check</a:t>
                      </a:r>
                      <a:endParaRPr lang="en-US" sz="120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solidFill>
                      <a:srgbClr val="1B365D"/>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Observation</a:t>
                      </a:r>
                      <a:endParaRPr lang="en-US" sz="120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solidFill>
                      <a:srgbClr val="1B365D"/>
                    </a:solidFill>
                  </a:tcPr>
                </a:tc>
              </a:tr>
              <a:tr h="301752">
                <a:tc>
                  <a:txBody>
                    <a:bodyPr/>
                    <a:lstStyle/>
                    <a:p>
                      <a:pPr algn="l" indent="0" marL="0">
                        <a:buNone/>
                      </a:pPr>
                      <a:r>
                        <a:rPr lang="en-US" sz="1150" dirty="0">
                          <a:solidFill>
                            <a:srgbClr val="1F2430"/>
                          </a:solidFill>
                          <a:latin typeface="Calibri" pitchFamily="34" charset="0"/>
                          <a:ea typeface="Calibri" pitchFamily="34" charset="-122"/>
                          <a:cs typeface="Calibri" pitchFamily="34" charset="-120"/>
                        </a:rPr>
                        <a:t>Duplicate records</a:t>
                      </a:r>
                      <a:endParaRPr lang="en-US" sz="115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tcPr>
                </a:tc>
                <a:tc>
                  <a:txBody>
                    <a:bodyPr/>
                    <a:lstStyle/>
                    <a:p>
                      <a:pPr algn="l" indent="0" marL="0">
                        <a:buNone/>
                      </a:pPr>
                      <a:r>
                        <a:rPr lang="en-US" sz="1150" dirty="0">
                          <a:solidFill>
                            <a:srgbClr val="1F2430"/>
                          </a:solidFill>
                          <a:latin typeface="Calibri" pitchFamily="34" charset="0"/>
                          <a:ea typeface="Calibri" pitchFamily="34" charset="-122"/>
                          <a:cs typeface="Calibri" pitchFamily="34" charset="-120"/>
                        </a:rPr>
                        <a:t>529 exact duplicate rows in the raw data</a:t>
                      </a:r>
                      <a:endParaRPr lang="en-US" sz="115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tcPr>
                </a:tc>
              </a:tr>
              <a:tr h="301752">
                <a:tc>
                  <a:txBody>
                    <a:bodyPr/>
                    <a:lstStyle/>
                    <a:p>
                      <a:pPr algn="l" indent="0" marL="0">
                        <a:buNone/>
                      </a:pPr>
                      <a:r>
                        <a:rPr lang="en-US" sz="1150" dirty="0">
                          <a:solidFill>
                            <a:srgbClr val="1F2430"/>
                          </a:solidFill>
                          <a:latin typeface="Calibri" pitchFamily="34" charset="0"/>
                          <a:ea typeface="Calibri" pitchFamily="34" charset="-122"/>
                          <a:cs typeface="Calibri" pitchFamily="34" charset="-120"/>
                        </a:rPr>
                        <a:t>Missing — society</a:t>
                      </a:r>
                      <a:endParaRPr lang="en-US" sz="115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tcPr>
                </a:tc>
                <a:tc>
                  <a:txBody>
                    <a:bodyPr/>
                    <a:lstStyle/>
                    <a:p>
                      <a:pPr algn="l" indent="0" marL="0">
                        <a:buNone/>
                      </a:pPr>
                      <a:r>
                        <a:rPr lang="en-US" sz="1150" dirty="0">
                          <a:solidFill>
                            <a:srgbClr val="1F2430"/>
                          </a:solidFill>
                          <a:latin typeface="Calibri" pitchFamily="34" charset="0"/>
                          <a:ea typeface="Calibri" pitchFamily="34" charset="-122"/>
                          <a:cs typeface="Calibri" pitchFamily="34" charset="-120"/>
                        </a:rPr>
                        <a:t>5,502 (41.3%) — column excluded</a:t>
                      </a:r>
                      <a:endParaRPr lang="en-US" sz="115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tcPr>
                </a:tc>
              </a:tr>
              <a:tr h="301752">
                <a:tc>
                  <a:txBody>
                    <a:bodyPr/>
                    <a:lstStyle/>
                    <a:p>
                      <a:pPr algn="l" indent="0" marL="0">
                        <a:buNone/>
                      </a:pPr>
                      <a:r>
                        <a:rPr lang="en-US" sz="1150" dirty="0">
                          <a:solidFill>
                            <a:srgbClr val="1F2430"/>
                          </a:solidFill>
                          <a:latin typeface="Calibri" pitchFamily="34" charset="0"/>
                          <a:ea typeface="Calibri" pitchFamily="34" charset="-122"/>
                          <a:cs typeface="Calibri" pitchFamily="34" charset="-120"/>
                        </a:rPr>
                        <a:t>Missing — balcony</a:t>
                      </a:r>
                      <a:endParaRPr lang="en-US" sz="115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tcPr>
                </a:tc>
                <a:tc>
                  <a:txBody>
                    <a:bodyPr/>
                    <a:lstStyle/>
                    <a:p>
                      <a:pPr algn="l" indent="0" marL="0">
                        <a:buNone/>
                      </a:pPr>
                      <a:r>
                        <a:rPr lang="en-US" sz="1150" dirty="0">
                          <a:solidFill>
                            <a:srgbClr val="1F2430"/>
                          </a:solidFill>
                          <a:latin typeface="Calibri" pitchFamily="34" charset="0"/>
                          <a:ea typeface="Calibri" pitchFamily="34" charset="-122"/>
                          <a:cs typeface="Calibri" pitchFamily="34" charset="-120"/>
                        </a:rPr>
                        <a:t>609 (4.6%) — to be imputed</a:t>
                      </a:r>
                      <a:endParaRPr lang="en-US" sz="115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tcPr>
                </a:tc>
              </a:tr>
              <a:tr h="301752">
                <a:tc>
                  <a:txBody>
                    <a:bodyPr/>
                    <a:lstStyle/>
                    <a:p>
                      <a:pPr algn="l" indent="0" marL="0">
                        <a:buNone/>
                      </a:pPr>
                      <a:r>
                        <a:rPr lang="en-US" sz="1150" dirty="0">
                          <a:solidFill>
                            <a:srgbClr val="1F2430"/>
                          </a:solidFill>
                          <a:latin typeface="Calibri" pitchFamily="34" charset="0"/>
                          <a:ea typeface="Calibri" pitchFamily="34" charset="-122"/>
                          <a:cs typeface="Calibri" pitchFamily="34" charset="-120"/>
                        </a:rPr>
                        <a:t>Missing — bath</a:t>
                      </a:r>
                      <a:endParaRPr lang="en-US" sz="115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tcPr>
                </a:tc>
                <a:tc>
                  <a:txBody>
                    <a:bodyPr/>
                    <a:lstStyle/>
                    <a:p>
                      <a:pPr algn="l" indent="0" marL="0">
                        <a:buNone/>
                      </a:pPr>
                      <a:r>
                        <a:rPr lang="en-US" sz="1150" dirty="0">
                          <a:solidFill>
                            <a:srgbClr val="1F2430"/>
                          </a:solidFill>
                          <a:latin typeface="Calibri" pitchFamily="34" charset="0"/>
                          <a:ea typeface="Calibri" pitchFamily="34" charset="-122"/>
                          <a:cs typeface="Calibri" pitchFamily="34" charset="-120"/>
                        </a:rPr>
                        <a:t>73 — to be imputed</a:t>
                      </a:r>
                      <a:endParaRPr lang="en-US" sz="115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tcPr>
                </a:tc>
              </a:tr>
              <a:tr h="301752">
                <a:tc>
                  <a:txBody>
                    <a:bodyPr/>
                    <a:lstStyle/>
                    <a:p>
                      <a:pPr algn="l" indent="0" marL="0">
                        <a:buNone/>
                      </a:pPr>
                      <a:r>
                        <a:rPr lang="en-US" sz="1150" dirty="0">
                          <a:solidFill>
                            <a:srgbClr val="1F2430"/>
                          </a:solidFill>
                          <a:latin typeface="Calibri" pitchFamily="34" charset="0"/>
                          <a:ea typeface="Calibri" pitchFamily="34" charset="-122"/>
                          <a:cs typeface="Calibri" pitchFamily="34" charset="-120"/>
                        </a:rPr>
                        <a:t>Missing — size</a:t>
                      </a:r>
                      <a:endParaRPr lang="en-US" sz="115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tcPr>
                </a:tc>
                <a:tc>
                  <a:txBody>
                    <a:bodyPr/>
                    <a:lstStyle/>
                    <a:p>
                      <a:pPr algn="l" indent="0" marL="0">
                        <a:buNone/>
                      </a:pPr>
                      <a:r>
                        <a:rPr lang="en-US" sz="1150" dirty="0">
                          <a:solidFill>
                            <a:srgbClr val="1F2430"/>
                          </a:solidFill>
                          <a:latin typeface="Calibri" pitchFamily="34" charset="0"/>
                          <a:ea typeface="Calibri" pitchFamily="34" charset="-122"/>
                          <a:cs typeface="Calibri" pitchFamily="34" charset="-120"/>
                        </a:rPr>
                        <a:t>16 — records removed</a:t>
                      </a:r>
                      <a:endParaRPr lang="en-US" sz="115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tcPr>
                </a:tc>
              </a:tr>
              <a:tr h="301752">
                <a:tc>
                  <a:txBody>
                    <a:bodyPr/>
                    <a:lstStyle/>
                    <a:p>
                      <a:pPr algn="l" indent="0" marL="0">
                        <a:buNone/>
                      </a:pPr>
                      <a:r>
                        <a:rPr lang="en-US" sz="1150" dirty="0">
                          <a:solidFill>
                            <a:srgbClr val="1F2430"/>
                          </a:solidFill>
                          <a:latin typeface="Calibri" pitchFamily="34" charset="0"/>
                          <a:ea typeface="Calibri" pitchFamily="34" charset="-122"/>
                          <a:cs typeface="Calibri" pitchFamily="34" charset="-120"/>
                        </a:rPr>
                        <a:t>Outliers — area</a:t>
                      </a:r>
                      <a:endParaRPr lang="en-US" sz="115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tcPr>
                </a:tc>
                <a:tc>
                  <a:txBody>
                    <a:bodyPr/>
                    <a:lstStyle/>
                    <a:p>
                      <a:pPr algn="l" indent="0" marL="0">
                        <a:buNone/>
                      </a:pPr>
                      <a:r>
                        <a:rPr lang="en-US" sz="1150" dirty="0">
                          <a:solidFill>
                            <a:srgbClr val="1F2430"/>
                          </a:solidFill>
                          <a:latin typeface="Calibri" pitchFamily="34" charset="0"/>
                          <a:ea typeface="Calibri" pitchFamily="34" charset="-122"/>
                          <a:cs typeface="Calibri" pitchFamily="34" charset="-120"/>
                        </a:rPr>
                        <a:t>1,026 beyond 1.5 × IQR</a:t>
                      </a:r>
                      <a:endParaRPr lang="en-US" sz="115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tcPr>
                </a:tc>
              </a:tr>
              <a:tr h="301752">
                <a:tc>
                  <a:txBody>
                    <a:bodyPr/>
                    <a:lstStyle/>
                    <a:p>
                      <a:pPr algn="l" indent="0" marL="0">
                        <a:buNone/>
                      </a:pPr>
                      <a:r>
                        <a:rPr lang="en-US" sz="1150" dirty="0">
                          <a:solidFill>
                            <a:srgbClr val="1F2430"/>
                          </a:solidFill>
                          <a:latin typeface="Calibri" pitchFamily="34" charset="0"/>
                          <a:ea typeface="Calibri" pitchFamily="34" charset="-122"/>
                          <a:cs typeface="Calibri" pitchFamily="34" charset="-120"/>
                        </a:rPr>
                        <a:t>Outliers — price/sq.ft</a:t>
                      </a:r>
                      <a:endParaRPr lang="en-US" sz="115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tcPr>
                </a:tc>
                <a:tc>
                  <a:txBody>
                    <a:bodyPr/>
                    <a:lstStyle/>
                    <a:p>
                      <a:pPr algn="l" indent="0" marL="0">
                        <a:buNone/>
                      </a:pPr>
                      <a:r>
                        <a:rPr lang="en-US" sz="1150" dirty="0">
                          <a:solidFill>
                            <a:srgbClr val="1F2430"/>
                          </a:solidFill>
                          <a:latin typeface="Calibri" pitchFamily="34" charset="0"/>
                          <a:ea typeface="Calibri" pitchFamily="34" charset="-122"/>
                          <a:cs typeface="Calibri" pitchFamily="34" charset="-120"/>
                        </a:rPr>
                        <a:t>855 beyond 1.5 × IQR</a:t>
                      </a:r>
                      <a:endParaRPr lang="en-US" sz="115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tcPr>
                </a:tc>
              </a:tr>
            </a:tbl>
          </a:graphicData>
        </a:graphic>
      </p:graphicFrame>
      <p:sp>
        <p:nvSpPr>
          <p:cNvPr id="7" name="Shape 2"/>
          <p:cNvSpPr/>
          <p:nvPr/>
        </p:nvSpPr>
        <p:spPr>
          <a:xfrm>
            <a:off x="6199632" y="3968496"/>
            <a:ext cx="5394960" cy="2322576"/>
          </a:xfrm>
          <a:prstGeom prst="roundRect">
            <a:avLst>
              <a:gd name="adj" fmla="val 2362"/>
            </a:avLst>
          </a:prstGeom>
          <a:solidFill>
            <a:srgbClr val="F4F6F9"/>
          </a:solidFill>
          <a:ln w="12700">
            <a:solidFill>
              <a:srgbClr val="D6DCE5"/>
            </a:solidFill>
            <a:prstDash val="solid"/>
          </a:ln>
        </p:spPr>
      </p:sp>
      <p:sp>
        <p:nvSpPr>
          <p:cNvPr id="8" name="Text 3"/>
          <p:cNvSpPr/>
          <p:nvPr/>
        </p:nvSpPr>
        <p:spPr>
          <a:xfrm>
            <a:off x="6419088" y="4133088"/>
            <a:ext cx="4937760" cy="256032"/>
          </a:xfrm>
          <a:prstGeom prst="rect">
            <a:avLst/>
          </a:prstGeom>
          <a:noFill/>
          <a:ln/>
        </p:spPr>
        <p:txBody>
          <a:bodyPr wrap="square" lIns="0" tIns="0" rIns="0" bIns="0" rtlCol="0" anchor="ctr"/>
          <a:lstStyle/>
          <a:p>
            <a:pPr indent="0" marL="0">
              <a:buNone/>
            </a:pPr>
            <a:r>
              <a:rPr lang="en-US" sz="1350" b="1" dirty="0">
                <a:solidFill>
                  <a:srgbClr val="1B365D"/>
                </a:solidFill>
                <a:latin typeface="Cambria" pitchFamily="34" charset="0"/>
                <a:ea typeface="Cambria" pitchFamily="34" charset="-122"/>
                <a:cs typeface="Cambria" pitchFamily="34" charset="-120"/>
              </a:rPr>
              <a:t>Data type handling</a:t>
            </a:r>
            <a:endParaRPr lang="en-US" sz="1350" dirty="0"/>
          </a:p>
        </p:txBody>
      </p:sp>
      <p:sp>
        <p:nvSpPr>
          <p:cNvPr id="9" name="Text 4"/>
          <p:cNvSpPr/>
          <p:nvPr/>
        </p:nvSpPr>
        <p:spPr>
          <a:xfrm>
            <a:off x="6419088" y="4443984"/>
            <a:ext cx="4937760" cy="1737360"/>
          </a:xfrm>
          <a:prstGeom prst="rect">
            <a:avLst/>
          </a:prstGeom>
          <a:noFill/>
          <a:ln/>
        </p:spPr>
        <p:txBody>
          <a:bodyPr wrap="square" lIns="0" tIns="0" rIns="0" bIns="0" rtlCol="0" anchor="ctr"/>
          <a:lstStyle/>
          <a:p>
            <a:pPr marL="342900" indent="-342900">
              <a:lnSpc>
                <a:spcPts val="1500"/>
              </a:lnSpc>
              <a:spcAft>
                <a:spcPts val="600"/>
              </a:spcAft>
              <a:buSzPct val="100000"/>
              <a:buChar char="•"/>
            </a:pPr>
            <a:r>
              <a:rPr lang="en-US" sz="1150" dirty="0">
                <a:solidFill>
                  <a:srgbClr val="1F2430"/>
                </a:solidFill>
                <a:latin typeface="Calibri" pitchFamily="34" charset="0"/>
                <a:ea typeface="Calibri" pitchFamily="34" charset="-122"/>
                <a:cs typeface="Calibri" pitchFamily="34" charset="-120"/>
              </a:rPr>
              <a:t>total_sqft is stored as text and contains ranges (e.g. “1195 - 1440”) and alternative units, requiring parsing to a numeric value.</a:t>
            </a:r>
            <a:endParaRPr lang="en-US" sz="1150" dirty="0"/>
          </a:p>
          <a:p>
            <a:pPr marL="342900" indent="-342900">
              <a:lnSpc>
                <a:spcPts val="1500"/>
              </a:lnSpc>
              <a:spcAft>
                <a:spcPts val="600"/>
              </a:spcAft>
              <a:buSzPct val="100000"/>
              <a:buChar char="•"/>
            </a:pPr>
            <a:r>
              <a:rPr lang="en-US" sz="1150" dirty="0">
                <a:solidFill>
                  <a:srgbClr val="1F2430"/>
                </a:solidFill>
                <a:latin typeface="Calibri" pitchFamily="34" charset="0"/>
                <a:ea typeface="Calibri" pitchFamily="34" charset="-122"/>
                <a:cs typeface="Calibri" pitchFamily="34" charset="-120"/>
              </a:rPr>
              <a:t>size is text (e.g. “2 BHK”, “4 Bedroom”) and must be converted to an integer room count.</a:t>
            </a:r>
            <a:endParaRPr lang="en-US" sz="1150" dirty="0"/>
          </a:p>
          <a:p>
            <a:pPr marL="342900" indent="-342900">
              <a:lnSpc>
                <a:spcPts val="1500"/>
              </a:lnSpc>
              <a:spcAft>
                <a:spcPts val="600"/>
              </a:spcAft>
              <a:buSzPct val="100000"/>
              <a:buChar char="•"/>
            </a:pPr>
            <a:r>
              <a:rPr lang="en-US" sz="1150" dirty="0">
                <a:solidFill>
                  <a:srgbClr val="1F2430"/>
                </a:solidFill>
                <a:latin typeface="Calibri" pitchFamily="34" charset="0"/>
                <a:ea typeface="Calibri" pitchFamily="34" charset="-122"/>
                <a:cs typeface="Calibri" pitchFamily="34" charset="-120"/>
              </a:rPr>
              <a:t>area_type, availability and location are categorical and require encoding before model training.</a:t>
            </a:r>
            <a:endParaRPr lang="en-US" sz="1150" dirty="0"/>
          </a:p>
          <a:p>
            <a:pPr marL="342900" indent="-342900">
              <a:lnSpc>
                <a:spcPts val="1500"/>
              </a:lnSpc>
              <a:spcAft>
                <a:spcPts val="600"/>
              </a:spcAft>
              <a:buSzPct val="100000"/>
              <a:buChar char="•"/>
            </a:pPr>
            <a:r>
              <a:rPr lang="en-US" sz="1150" dirty="0">
                <a:solidFill>
                  <a:srgbClr val="1F2430"/>
                </a:solidFill>
                <a:latin typeface="Calibri" pitchFamily="34" charset="0"/>
                <a:ea typeface="Calibri" pitchFamily="34" charset="-122"/>
                <a:cs typeface="Calibri" pitchFamily="34" charset="-120"/>
              </a:rPr>
              <a:t>Data quality is addressed before training because unparsed and inconsistent values would otherwise propagate directly into the model.</a:t>
            </a:r>
            <a:endParaRPr lang="en-US" sz="1150" dirty="0"/>
          </a:p>
        </p:txBody>
      </p:sp>
      <p:sp>
        <p:nvSpPr>
          <p:cNvPr id="10" name="Text 5"/>
          <p:cNvSpPr/>
          <p:nvPr/>
        </p:nvSpPr>
        <p:spPr>
          <a:xfrm>
            <a:off x="11045952" y="6419088"/>
            <a:ext cx="548640" cy="256032"/>
          </a:xfrm>
          <a:prstGeom prst="rect">
            <a:avLst/>
          </a:prstGeom>
          <a:noFill/>
          <a:ln/>
        </p:spPr>
        <p:txBody>
          <a:bodyPr wrap="square" lIns="0" tIns="0" rIns="0" bIns="0" rtlCol="0" anchor="ctr"/>
          <a:lstStyle/>
          <a:p>
            <a:pPr algn="r" indent="0" marL="0">
              <a:buNone/>
            </a:pPr>
            <a:r>
              <a:rPr lang="en-US" sz="1000" dirty="0">
                <a:solidFill>
                  <a:srgbClr val="5C6675"/>
                </a:solidFill>
                <a:latin typeface="Calibri" pitchFamily="34" charset="0"/>
                <a:ea typeface="Calibri" pitchFamily="34" charset="-122"/>
                <a:cs typeface="Calibri" pitchFamily="34" charset="-120"/>
              </a:rPr>
              <a:t>9</a:t>
            </a:r>
            <a:endParaRPr lang="en-US" sz="1000" dirty="0"/>
          </a:p>
        </p:txBody>
      </p:sp>
      <p:sp>
        <p:nvSpPr>
          <p:cNvPr id="11" name="Text 6"/>
          <p:cNvSpPr/>
          <p:nvPr/>
        </p:nvSpPr>
        <p:spPr>
          <a:xfrm>
            <a:off x="566928" y="6419088"/>
            <a:ext cx="7315200" cy="256032"/>
          </a:xfrm>
          <a:prstGeom prst="rect">
            <a:avLst/>
          </a:prstGeom>
          <a:noFill/>
          <a:ln/>
        </p:spPr>
        <p:txBody>
          <a:bodyPr wrap="square" lIns="0" tIns="0" rIns="0" bIns="0" rtlCol="0" anchor="ctr"/>
          <a:lstStyle/>
          <a:p>
            <a:pPr indent="0" marL="0">
              <a:buNone/>
            </a:pPr>
            <a:r>
              <a:rPr lang="en-US" sz="1000" dirty="0">
                <a:solidFill>
                  <a:srgbClr val="5C6675"/>
                </a:solidFill>
                <a:latin typeface="Calibri" pitchFamily="34" charset="0"/>
                <a:ea typeface="Calibri" pitchFamily="34" charset="-122"/>
                <a:cs typeface="Calibri" pitchFamily="34" charset="-120"/>
              </a:rPr>
              <a:t>Project Review 1  ·  B.Tech CSE (AI &amp; ML)  ·  SRMIST</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8229600" cy="237744"/>
          </a:xfrm>
          <a:prstGeom prst="rect">
            <a:avLst/>
          </a:prstGeom>
          <a:noFill/>
          <a:ln/>
        </p:spPr>
        <p:txBody>
          <a:bodyPr wrap="square" lIns="0" tIns="0" rIns="0" bIns="0" rtlCol="0" anchor="ctr"/>
          <a:lstStyle/>
          <a:p>
            <a:pPr indent="0" marL="0">
              <a:buNone/>
            </a:pPr>
            <a:r>
              <a:rPr lang="en-US" sz="1100" b="1" spc="160" kern="0" dirty="0">
                <a:solidFill>
                  <a:srgbClr val="C2703A"/>
                </a:solidFill>
                <a:latin typeface="Calibri" pitchFamily="34" charset="0"/>
                <a:ea typeface="Calibri" pitchFamily="34" charset="-122"/>
                <a:cs typeface="Calibri" pitchFamily="34" charset="-120"/>
              </a:rPr>
              <a:t>DISTRIBUTION AND AREA</a:t>
            </a:r>
            <a:endParaRPr lang="en-US" sz="1100" dirty="0"/>
          </a:p>
        </p:txBody>
      </p:sp>
      <p:sp>
        <p:nvSpPr>
          <p:cNvPr id="3" name="Text 1"/>
          <p:cNvSpPr/>
          <p:nvPr/>
        </p:nvSpPr>
        <p:spPr>
          <a:xfrm>
            <a:off x="566928" y="566928"/>
            <a:ext cx="11027664" cy="566928"/>
          </a:xfrm>
          <a:prstGeom prst="rect">
            <a:avLst/>
          </a:prstGeom>
          <a:noFill/>
          <a:ln/>
        </p:spPr>
        <p:txBody>
          <a:bodyPr wrap="square" lIns="0" tIns="0" rIns="0" bIns="0" rtlCol="0" anchor="ctr"/>
          <a:lstStyle/>
          <a:p>
            <a:pPr indent="0" marL="0">
              <a:buNone/>
            </a:pPr>
            <a:r>
              <a:rPr lang="en-US" sz="3000" b="1" dirty="0">
                <a:solidFill>
                  <a:srgbClr val="1B365D"/>
                </a:solidFill>
                <a:latin typeface="Cambria" pitchFamily="34" charset="0"/>
                <a:ea typeface="Cambria" pitchFamily="34" charset="-122"/>
                <a:cs typeface="Cambria" pitchFamily="34" charset="-120"/>
              </a:rPr>
              <a:t>Exploratory Data Analysis</a:t>
            </a:r>
            <a:endParaRPr lang="en-US" sz="3000" dirty="0"/>
          </a:p>
        </p:txBody>
      </p:sp>
      <p:pic>
        <p:nvPicPr>
          <p:cNvPr id="4" name="Image 0" descr="C:\Users\UJWAL M\OneDrive\Desktop\GBA development project\ml\artifacts\review1\price_distribution.png">    </p:cNvPr>
          <p:cNvPicPr>
            <a:picLocks noChangeAspect="1"/>
          </p:cNvPicPr>
          <p:nvPr/>
        </p:nvPicPr>
        <p:blipFill>
          <a:blip r:embed="rId1"/>
          <a:stretch>
            <a:fillRect/>
          </a:stretch>
        </p:blipFill>
        <p:spPr>
          <a:xfrm>
            <a:off x="566928" y="1371600"/>
            <a:ext cx="5486400" cy="3182112"/>
          </a:xfrm>
          <a:prstGeom prst="rect">
            <a:avLst/>
          </a:prstGeom>
        </p:spPr>
      </p:pic>
      <p:pic>
        <p:nvPicPr>
          <p:cNvPr id="5" name="Image 1" descr="C:\Users\UJWAL M\OneDrive\Desktop\GBA development project\ml\artifacts\review1\area_vs_price.png">    </p:cNvPr>
          <p:cNvPicPr>
            <a:picLocks noChangeAspect="1"/>
          </p:cNvPicPr>
          <p:nvPr/>
        </p:nvPicPr>
        <p:blipFill>
          <a:blip r:embed="rId2"/>
          <a:stretch>
            <a:fillRect/>
          </a:stretch>
        </p:blipFill>
        <p:spPr>
          <a:xfrm>
            <a:off x="6272784" y="1371600"/>
            <a:ext cx="5321808" cy="3182112"/>
          </a:xfrm>
          <a:prstGeom prst="rect">
            <a:avLst/>
          </a:prstGeom>
        </p:spPr>
      </p:pic>
      <p:sp>
        <p:nvSpPr>
          <p:cNvPr id="6" name="Shape 2"/>
          <p:cNvSpPr/>
          <p:nvPr/>
        </p:nvSpPr>
        <p:spPr>
          <a:xfrm>
            <a:off x="566928" y="4681728"/>
            <a:ext cx="5486400" cy="1463040"/>
          </a:xfrm>
          <a:prstGeom prst="roundRect">
            <a:avLst>
              <a:gd name="adj" fmla="val 3750"/>
            </a:avLst>
          </a:prstGeom>
          <a:solidFill>
            <a:srgbClr val="F4F6F9"/>
          </a:solidFill>
          <a:ln w="12700">
            <a:solidFill>
              <a:srgbClr val="D6DCE5"/>
            </a:solidFill>
            <a:prstDash val="solid"/>
          </a:ln>
        </p:spPr>
      </p:sp>
      <p:sp>
        <p:nvSpPr>
          <p:cNvPr id="7" name="Text 3"/>
          <p:cNvSpPr/>
          <p:nvPr/>
        </p:nvSpPr>
        <p:spPr>
          <a:xfrm>
            <a:off x="768096" y="4828032"/>
            <a:ext cx="5029200" cy="237744"/>
          </a:xfrm>
          <a:prstGeom prst="rect">
            <a:avLst/>
          </a:prstGeom>
          <a:noFill/>
          <a:ln/>
        </p:spPr>
        <p:txBody>
          <a:bodyPr wrap="square" lIns="0" tIns="0" rIns="0" bIns="0" rtlCol="0" anchor="ctr"/>
          <a:lstStyle/>
          <a:p>
            <a:pPr indent="0" marL="0">
              <a:buNone/>
            </a:pPr>
            <a:r>
              <a:rPr lang="en-US" sz="1250" b="1" dirty="0">
                <a:solidFill>
                  <a:srgbClr val="1B365D"/>
                </a:solidFill>
                <a:latin typeface="Calibri" pitchFamily="34" charset="0"/>
                <a:ea typeface="Calibri" pitchFamily="34" charset="-122"/>
                <a:cs typeface="Calibri" pitchFamily="34" charset="-120"/>
              </a:rPr>
              <a:t>Price per sq.ft distribution</a:t>
            </a:r>
            <a:endParaRPr lang="en-US" sz="1250" dirty="0"/>
          </a:p>
        </p:txBody>
      </p:sp>
      <p:sp>
        <p:nvSpPr>
          <p:cNvPr id="8" name="Text 4"/>
          <p:cNvSpPr/>
          <p:nvPr/>
        </p:nvSpPr>
        <p:spPr>
          <a:xfrm>
            <a:off x="768096" y="5102352"/>
            <a:ext cx="5084064" cy="914400"/>
          </a:xfrm>
          <a:prstGeom prst="rect">
            <a:avLst/>
          </a:prstGeom>
          <a:noFill/>
          <a:ln/>
        </p:spPr>
        <p:txBody>
          <a:bodyPr wrap="square" lIns="0" tIns="0" rIns="0" bIns="0" rtlCol="0" anchor="ctr"/>
          <a:lstStyle/>
          <a:p>
            <a:pPr indent="0" marL="0">
              <a:lnSpc>
                <a:spcPts val="1600"/>
              </a:lnSpc>
              <a:buNone/>
            </a:pPr>
            <a:r>
              <a:rPr lang="en-US" sz="1150" dirty="0">
                <a:solidFill>
                  <a:srgbClr val="1F2430"/>
                </a:solidFill>
                <a:latin typeface="Calibri" pitchFamily="34" charset="0"/>
                <a:ea typeface="Calibri" pitchFamily="34" charset="-122"/>
                <a:cs typeface="Calibri" pitchFamily="34" charset="-120"/>
              </a:rPr>
              <a:t>The distribution is positively skewed (skewness = 3.086), with the majority of properties concentrated below the mean of ₹6,015 and a long right tail. This supports the use of the median as the representative measure.</a:t>
            </a:r>
            <a:endParaRPr lang="en-US" sz="1150" dirty="0"/>
          </a:p>
        </p:txBody>
      </p:sp>
      <p:sp>
        <p:nvSpPr>
          <p:cNvPr id="9" name="Shape 5"/>
          <p:cNvSpPr/>
          <p:nvPr/>
        </p:nvSpPr>
        <p:spPr>
          <a:xfrm>
            <a:off x="6272784" y="4681728"/>
            <a:ext cx="5321808" cy="1463040"/>
          </a:xfrm>
          <a:prstGeom prst="roundRect">
            <a:avLst>
              <a:gd name="adj" fmla="val 3750"/>
            </a:avLst>
          </a:prstGeom>
          <a:solidFill>
            <a:srgbClr val="F4F6F9"/>
          </a:solidFill>
          <a:ln w="12700">
            <a:solidFill>
              <a:srgbClr val="D6DCE5"/>
            </a:solidFill>
            <a:prstDash val="solid"/>
          </a:ln>
        </p:spPr>
      </p:sp>
      <p:sp>
        <p:nvSpPr>
          <p:cNvPr id="10" name="Text 6"/>
          <p:cNvSpPr/>
          <p:nvPr/>
        </p:nvSpPr>
        <p:spPr>
          <a:xfrm>
            <a:off x="6473952" y="4828032"/>
            <a:ext cx="4937760" cy="237744"/>
          </a:xfrm>
          <a:prstGeom prst="rect">
            <a:avLst/>
          </a:prstGeom>
          <a:noFill/>
          <a:ln/>
        </p:spPr>
        <p:txBody>
          <a:bodyPr wrap="square" lIns="0" tIns="0" rIns="0" bIns="0" rtlCol="0" anchor="ctr"/>
          <a:lstStyle/>
          <a:p>
            <a:pPr indent="0" marL="0">
              <a:buNone/>
            </a:pPr>
            <a:r>
              <a:rPr lang="en-US" sz="1250" b="1" dirty="0">
                <a:solidFill>
                  <a:srgbClr val="1B365D"/>
                </a:solidFill>
                <a:latin typeface="Calibri" pitchFamily="34" charset="0"/>
                <a:ea typeface="Calibri" pitchFamily="34" charset="-122"/>
                <a:cs typeface="Calibri" pitchFamily="34" charset="-120"/>
              </a:rPr>
              <a:t>Area versus price</a:t>
            </a:r>
            <a:endParaRPr lang="en-US" sz="1250" dirty="0"/>
          </a:p>
        </p:txBody>
      </p:sp>
      <p:sp>
        <p:nvSpPr>
          <p:cNvPr id="11" name="Text 7"/>
          <p:cNvSpPr/>
          <p:nvPr/>
        </p:nvSpPr>
        <p:spPr>
          <a:xfrm>
            <a:off x="6473952" y="5102352"/>
            <a:ext cx="4919472" cy="914400"/>
          </a:xfrm>
          <a:prstGeom prst="rect">
            <a:avLst/>
          </a:prstGeom>
          <a:noFill/>
          <a:ln/>
        </p:spPr>
        <p:txBody>
          <a:bodyPr wrap="square" lIns="0" tIns="0" rIns="0" bIns="0" rtlCol="0" anchor="ctr"/>
          <a:lstStyle/>
          <a:p>
            <a:pPr indent="0" marL="0">
              <a:lnSpc>
                <a:spcPts val="1600"/>
              </a:lnSpc>
              <a:buNone/>
            </a:pPr>
            <a:r>
              <a:rPr lang="en-US" sz="1150" dirty="0">
                <a:solidFill>
                  <a:srgbClr val="1F2430"/>
                </a:solidFill>
                <a:latin typeface="Calibri" pitchFamily="34" charset="0"/>
                <a:ea typeface="Calibri" pitchFamily="34" charset="-122"/>
                <a:cs typeface="Calibri" pitchFamily="34" charset="-120"/>
              </a:rPr>
              <a:t>Price increases with built-up area, but the relationship shows widening dispersion at larger areas, indicating that area alone does not determine price. The Pearson correlation between area and price per sq.ft is 0.311.</a:t>
            </a:r>
            <a:endParaRPr lang="en-US" sz="1150" dirty="0"/>
          </a:p>
        </p:txBody>
      </p:sp>
      <p:sp>
        <p:nvSpPr>
          <p:cNvPr id="12" name="Text 8"/>
          <p:cNvSpPr/>
          <p:nvPr/>
        </p:nvSpPr>
        <p:spPr>
          <a:xfrm>
            <a:off x="11045952" y="6419088"/>
            <a:ext cx="548640" cy="256032"/>
          </a:xfrm>
          <a:prstGeom prst="rect">
            <a:avLst/>
          </a:prstGeom>
          <a:noFill/>
          <a:ln/>
        </p:spPr>
        <p:txBody>
          <a:bodyPr wrap="square" lIns="0" tIns="0" rIns="0" bIns="0" rtlCol="0" anchor="ctr"/>
          <a:lstStyle/>
          <a:p>
            <a:pPr algn="r" indent="0" marL="0">
              <a:buNone/>
            </a:pPr>
            <a:r>
              <a:rPr lang="en-US" sz="1000" dirty="0">
                <a:solidFill>
                  <a:srgbClr val="5C6675"/>
                </a:solidFill>
                <a:latin typeface="Calibri" pitchFamily="34" charset="0"/>
                <a:ea typeface="Calibri" pitchFamily="34" charset="-122"/>
                <a:cs typeface="Calibri" pitchFamily="34" charset="-120"/>
              </a:rPr>
              <a:t>10</a:t>
            </a:r>
            <a:endParaRPr lang="en-US" sz="1000" dirty="0"/>
          </a:p>
        </p:txBody>
      </p:sp>
      <p:sp>
        <p:nvSpPr>
          <p:cNvPr id="13" name="Text 9"/>
          <p:cNvSpPr/>
          <p:nvPr/>
        </p:nvSpPr>
        <p:spPr>
          <a:xfrm>
            <a:off x="566928" y="6419088"/>
            <a:ext cx="7315200" cy="256032"/>
          </a:xfrm>
          <a:prstGeom prst="rect">
            <a:avLst/>
          </a:prstGeom>
          <a:noFill/>
          <a:ln/>
        </p:spPr>
        <p:txBody>
          <a:bodyPr wrap="square" lIns="0" tIns="0" rIns="0" bIns="0" rtlCol="0" anchor="ctr"/>
          <a:lstStyle/>
          <a:p>
            <a:pPr indent="0" marL="0">
              <a:buNone/>
            </a:pPr>
            <a:r>
              <a:rPr lang="en-US" sz="1000" dirty="0">
                <a:solidFill>
                  <a:srgbClr val="5C6675"/>
                </a:solidFill>
                <a:latin typeface="Calibri" pitchFamily="34" charset="0"/>
                <a:ea typeface="Calibri" pitchFamily="34" charset="-122"/>
                <a:cs typeface="Calibri" pitchFamily="34" charset="-120"/>
              </a:rPr>
              <a:t>Project Review 1  ·  B.Tech CSE (AI &amp; ML)  ·  SRMIST</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8229600" cy="237744"/>
          </a:xfrm>
          <a:prstGeom prst="rect">
            <a:avLst/>
          </a:prstGeom>
          <a:noFill/>
          <a:ln/>
        </p:spPr>
        <p:txBody>
          <a:bodyPr wrap="square" lIns="0" tIns="0" rIns="0" bIns="0" rtlCol="0" anchor="ctr"/>
          <a:lstStyle/>
          <a:p>
            <a:pPr indent="0" marL="0">
              <a:buNone/>
            </a:pPr>
            <a:r>
              <a:rPr lang="en-US" sz="1100" b="1" spc="160" kern="0" dirty="0">
                <a:solidFill>
                  <a:srgbClr val="C2703A"/>
                </a:solidFill>
                <a:latin typeface="Calibri" pitchFamily="34" charset="0"/>
                <a:ea typeface="Calibri" pitchFamily="34" charset="-122"/>
                <a:cs typeface="Calibri" pitchFamily="34" charset="-120"/>
              </a:rPr>
              <a:t>EXPLORATORY DATA ANALYSIS</a:t>
            </a:r>
            <a:endParaRPr lang="en-US" sz="1100" dirty="0"/>
          </a:p>
        </p:txBody>
      </p:sp>
      <p:sp>
        <p:nvSpPr>
          <p:cNvPr id="3" name="Text 1"/>
          <p:cNvSpPr/>
          <p:nvPr/>
        </p:nvSpPr>
        <p:spPr>
          <a:xfrm>
            <a:off x="566928" y="566928"/>
            <a:ext cx="11027664" cy="566928"/>
          </a:xfrm>
          <a:prstGeom prst="rect">
            <a:avLst/>
          </a:prstGeom>
          <a:noFill/>
          <a:ln/>
        </p:spPr>
        <p:txBody>
          <a:bodyPr wrap="square" lIns="0" tIns="0" rIns="0" bIns="0" rtlCol="0" anchor="ctr"/>
          <a:lstStyle/>
          <a:p>
            <a:pPr indent="0" marL="0">
              <a:buNone/>
            </a:pPr>
            <a:r>
              <a:rPr lang="en-US" sz="3000" b="1" dirty="0">
                <a:solidFill>
                  <a:srgbClr val="1B365D"/>
                </a:solidFill>
                <a:latin typeface="Cambria" pitchFamily="34" charset="0"/>
                <a:ea typeface="Cambria" pitchFamily="34" charset="-122"/>
                <a:cs typeface="Cambria" pitchFamily="34" charset="-120"/>
              </a:rPr>
              <a:t>Configuration and Location Analysis</a:t>
            </a:r>
            <a:endParaRPr lang="en-US" sz="3000" dirty="0"/>
          </a:p>
        </p:txBody>
      </p:sp>
      <p:pic>
        <p:nvPicPr>
          <p:cNvPr id="4" name="Image 0" descr="C:\Users\UJWAL M\OneDrive\Desktop\GBA development project\ml\artifacts\review1\bhk_vs_price.png">    </p:cNvPr>
          <p:cNvPicPr>
            <a:picLocks noChangeAspect="1"/>
          </p:cNvPicPr>
          <p:nvPr/>
        </p:nvPicPr>
        <p:blipFill>
          <a:blip r:embed="rId1"/>
          <a:stretch>
            <a:fillRect/>
          </a:stretch>
        </p:blipFill>
        <p:spPr>
          <a:xfrm>
            <a:off x="566928" y="1335024"/>
            <a:ext cx="5486400" cy="3346704"/>
          </a:xfrm>
          <a:prstGeom prst="rect">
            <a:avLst/>
          </a:prstGeom>
        </p:spPr>
      </p:pic>
      <p:pic>
        <p:nvPicPr>
          <p:cNvPr id="5" name="Image 1" descr="C:\Users\UJWAL M\OneDrive\Desktop\GBA development project\ml\artifacts\review1\locality_median_price.png">    </p:cNvPr>
          <p:cNvPicPr>
            <a:picLocks noChangeAspect="1"/>
          </p:cNvPicPr>
          <p:nvPr/>
        </p:nvPicPr>
        <p:blipFill>
          <a:blip r:embed="rId2"/>
          <a:stretch>
            <a:fillRect/>
          </a:stretch>
        </p:blipFill>
        <p:spPr>
          <a:xfrm>
            <a:off x="6272784" y="1335024"/>
            <a:ext cx="5321808" cy="3346704"/>
          </a:xfrm>
          <a:prstGeom prst="rect">
            <a:avLst/>
          </a:prstGeom>
        </p:spPr>
      </p:pic>
      <p:sp>
        <p:nvSpPr>
          <p:cNvPr id="6" name="Shape 2"/>
          <p:cNvSpPr/>
          <p:nvPr/>
        </p:nvSpPr>
        <p:spPr>
          <a:xfrm>
            <a:off x="566928" y="4809744"/>
            <a:ext cx="5486400" cy="1335024"/>
          </a:xfrm>
          <a:prstGeom prst="roundRect">
            <a:avLst>
              <a:gd name="adj" fmla="val 4110"/>
            </a:avLst>
          </a:prstGeom>
          <a:solidFill>
            <a:srgbClr val="F4F6F9"/>
          </a:solidFill>
          <a:ln w="12700">
            <a:solidFill>
              <a:srgbClr val="D6DCE5"/>
            </a:solidFill>
            <a:prstDash val="solid"/>
          </a:ln>
        </p:spPr>
      </p:sp>
      <p:sp>
        <p:nvSpPr>
          <p:cNvPr id="7" name="Text 3"/>
          <p:cNvSpPr/>
          <p:nvPr/>
        </p:nvSpPr>
        <p:spPr>
          <a:xfrm>
            <a:off x="768096" y="4937760"/>
            <a:ext cx="5029200" cy="237744"/>
          </a:xfrm>
          <a:prstGeom prst="rect">
            <a:avLst/>
          </a:prstGeom>
          <a:noFill/>
          <a:ln/>
        </p:spPr>
        <p:txBody>
          <a:bodyPr wrap="square" lIns="0" tIns="0" rIns="0" bIns="0" rtlCol="0" anchor="ctr"/>
          <a:lstStyle/>
          <a:p>
            <a:pPr indent="0" marL="0">
              <a:buNone/>
            </a:pPr>
            <a:r>
              <a:rPr lang="en-US" sz="1250" b="1" dirty="0">
                <a:solidFill>
                  <a:srgbClr val="1B365D"/>
                </a:solidFill>
                <a:latin typeface="Calibri" pitchFamily="34" charset="0"/>
                <a:ea typeface="Calibri" pitchFamily="34" charset="-122"/>
                <a:cs typeface="Calibri" pitchFamily="34" charset="-120"/>
              </a:rPr>
              <a:t>Configuration</a:t>
            </a:r>
            <a:endParaRPr lang="en-US" sz="1250" dirty="0"/>
          </a:p>
        </p:txBody>
      </p:sp>
      <p:sp>
        <p:nvSpPr>
          <p:cNvPr id="8" name="Text 4"/>
          <p:cNvSpPr/>
          <p:nvPr/>
        </p:nvSpPr>
        <p:spPr>
          <a:xfrm>
            <a:off x="768096" y="5175504"/>
            <a:ext cx="5084064" cy="859536"/>
          </a:xfrm>
          <a:prstGeom prst="rect">
            <a:avLst/>
          </a:prstGeom>
          <a:noFill/>
          <a:ln/>
        </p:spPr>
        <p:txBody>
          <a:bodyPr wrap="square" lIns="0" tIns="0" rIns="0" bIns="0" rtlCol="0" anchor="ctr"/>
          <a:lstStyle/>
          <a:p>
            <a:pPr indent="0" marL="0">
              <a:lnSpc>
                <a:spcPts val="1500"/>
              </a:lnSpc>
              <a:buNone/>
            </a:pPr>
            <a:r>
              <a:rPr lang="en-US" sz="1100" dirty="0">
                <a:solidFill>
                  <a:srgbClr val="1F2430"/>
                </a:solidFill>
                <a:latin typeface="Calibri" pitchFamily="34" charset="0"/>
                <a:ea typeface="Calibri" pitchFamily="34" charset="-122"/>
                <a:cs typeface="Calibri" pitchFamily="34" charset="-120"/>
              </a:rPr>
              <a:t>Median price rises consistently with configuration:</a:t>
            </a:r>
            <a:endParaRPr lang="en-US" sz="1100" dirty="0"/>
          </a:p>
          <a:p>
            <a:pPr indent="0" marL="0">
              <a:lnSpc>
                <a:spcPts val="1500"/>
              </a:lnSpc>
              <a:buNone/>
            </a:pPr>
            <a:r>
              <a:rPr lang="en-US" sz="1100" dirty="0">
                <a:solidFill>
                  <a:srgbClr val="1F2430"/>
                </a:solidFill>
                <a:latin typeface="Calibri" pitchFamily="34" charset="0"/>
                <a:ea typeface="Calibri" pitchFamily="34" charset="-122"/>
                <a:cs typeface="Calibri" pitchFamily="34" charset="-120"/>
              </a:rPr>
              <a:t>1 BHK — ₹33.0 L   ·   2 BHK — ₹53.5 L   ·   3 BHK — ₹88.0 L   ·   4 BHK — ₹211.0 L   ·   5 BHK — ₹240.0 L.</a:t>
            </a:r>
            <a:endParaRPr lang="en-US" sz="1100" dirty="0"/>
          </a:p>
          <a:p>
            <a:pPr indent="0" marL="0">
              <a:lnSpc>
                <a:spcPts val="1500"/>
              </a:lnSpc>
              <a:buNone/>
            </a:pPr>
            <a:r>
              <a:rPr lang="en-US" sz="1100" dirty="0">
                <a:solidFill>
                  <a:srgbClr val="1F2430"/>
                </a:solidFill>
                <a:latin typeface="Calibri" pitchFamily="34" charset="0"/>
                <a:ea typeface="Calibri" pitchFamily="34" charset="-122"/>
                <a:cs typeface="Calibri" pitchFamily="34" charset="-120"/>
              </a:rPr>
              <a:t>The spread within each group is wide, so configuration alone does not determine price.</a:t>
            </a:r>
            <a:endParaRPr lang="en-US" sz="1100" dirty="0"/>
          </a:p>
        </p:txBody>
      </p:sp>
      <p:sp>
        <p:nvSpPr>
          <p:cNvPr id="9" name="Shape 5"/>
          <p:cNvSpPr/>
          <p:nvPr/>
        </p:nvSpPr>
        <p:spPr>
          <a:xfrm>
            <a:off x="6272784" y="4809744"/>
            <a:ext cx="5321808" cy="1335024"/>
          </a:xfrm>
          <a:prstGeom prst="roundRect">
            <a:avLst>
              <a:gd name="adj" fmla="val 4110"/>
            </a:avLst>
          </a:prstGeom>
          <a:solidFill>
            <a:srgbClr val="F4F6F9"/>
          </a:solidFill>
          <a:ln w="12700">
            <a:solidFill>
              <a:srgbClr val="D6DCE5"/>
            </a:solidFill>
            <a:prstDash val="solid"/>
          </a:ln>
        </p:spPr>
      </p:sp>
      <p:sp>
        <p:nvSpPr>
          <p:cNvPr id="10" name="Text 6"/>
          <p:cNvSpPr/>
          <p:nvPr/>
        </p:nvSpPr>
        <p:spPr>
          <a:xfrm>
            <a:off x="6473952" y="4937760"/>
            <a:ext cx="4937760" cy="237744"/>
          </a:xfrm>
          <a:prstGeom prst="rect">
            <a:avLst/>
          </a:prstGeom>
          <a:noFill/>
          <a:ln/>
        </p:spPr>
        <p:txBody>
          <a:bodyPr wrap="square" lIns="0" tIns="0" rIns="0" bIns="0" rtlCol="0" anchor="ctr"/>
          <a:lstStyle/>
          <a:p>
            <a:pPr indent="0" marL="0">
              <a:buNone/>
            </a:pPr>
            <a:r>
              <a:rPr lang="en-US" sz="1250" b="1" dirty="0">
                <a:solidFill>
                  <a:srgbClr val="1B365D"/>
                </a:solidFill>
                <a:latin typeface="Calibri" pitchFamily="34" charset="0"/>
                <a:ea typeface="Calibri" pitchFamily="34" charset="-122"/>
                <a:cs typeface="Calibri" pitchFamily="34" charset="-120"/>
              </a:rPr>
              <a:t>Location</a:t>
            </a:r>
            <a:endParaRPr lang="en-US" sz="1250" dirty="0"/>
          </a:p>
        </p:txBody>
      </p:sp>
      <p:sp>
        <p:nvSpPr>
          <p:cNvPr id="11" name="Text 7"/>
          <p:cNvSpPr/>
          <p:nvPr/>
        </p:nvSpPr>
        <p:spPr>
          <a:xfrm>
            <a:off x="6473952" y="5175504"/>
            <a:ext cx="4919472" cy="859536"/>
          </a:xfrm>
          <a:prstGeom prst="rect">
            <a:avLst/>
          </a:prstGeom>
          <a:noFill/>
          <a:ln/>
        </p:spPr>
        <p:txBody>
          <a:bodyPr wrap="square" lIns="0" tIns="0" rIns="0" bIns="0" rtlCol="0" anchor="ctr"/>
          <a:lstStyle/>
          <a:p>
            <a:pPr indent="0" marL="0">
              <a:lnSpc>
                <a:spcPts val="1500"/>
              </a:lnSpc>
              <a:buNone/>
            </a:pPr>
            <a:r>
              <a:rPr lang="en-US" sz="1100" dirty="0">
                <a:solidFill>
                  <a:srgbClr val="1F2430"/>
                </a:solidFill>
                <a:latin typeface="Calibri" pitchFamily="34" charset="0"/>
                <a:ea typeface="Calibri" pitchFamily="34" charset="-122"/>
                <a:cs typeface="Calibri" pitchFamily="34" charset="-120"/>
              </a:rPr>
              <a:t>Median price per sq.ft differs substantially across the most represented localities, indicating that locality captures variation not explained by the physical attributes alone. Location may reflect differences in accessibility, infrastructure and local market conditions; this is an association and does not establish causation.</a:t>
            </a:r>
            <a:endParaRPr lang="en-US" sz="1100" dirty="0"/>
          </a:p>
        </p:txBody>
      </p:sp>
      <p:sp>
        <p:nvSpPr>
          <p:cNvPr id="12" name="Text 8"/>
          <p:cNvSpPr/>
          <p:nvPr/>
        </p:nvSpPr>
        <p:spPr>
          <a:xfrm>
            <a:off x="11045952" y="6419088"/>
            <a:ext cx="548640" cy="256032"/>
          </a:xfrm>
          <a:prstGeom prst="rect">
            <a:avLst/>
          </a:prstGeom>
          <a:noFill/>
          <a:ln/>
        </p:spPr>
        <p:txBody>
          <a:bodyPr wrap="square" lIns="0" tIns="0" rIns="0" bIns="0" rtlCol="0" anchor="ctr"/>
          <a:lstStyle/>
          <a:p>
            <a:pPr algn="r" indent="0" marL="0">
              <a:buNone/>
            </a:pPr>
            <a:r>
              <a:rPr lang="en-US" sz="1000" dirty="0">
                <a:solidFill>
                  <a:srgbClr val="5C6675"/>
                </a:solidFill>
                <a:latin typeface="Calibri" pitchFamily="34" charset="0"/>
                <a:ea typeface="Calibri" pitchFamily="34" charset="-122"/>
                <a:cs typeface="Calibri" pitchFamily="34" charset="-120"/>
              </a:rPr>
              <a:t>11</a:t>
            </a:r>
            <a:endParaRPr lang="en-US" sz="1000" dirty="0"/>
          </a:p>
        </p:txBody>
      </p:sp>
      <p:sp>
        <p:nvSpPr>
          <p:cNvPr id="13" name="Text 9"/>
          <p:cNvSpPr/>
          <p:nvPr/>
        </p:nvSpPr>
        <p:spPr>
          <a:xfrm>
            <a:off x="566928" y="6419088"/>
            <a:ext cx="7315200" cy="256032"/>
          </a:xfrm>
          <a:prstGeom prst="rect">
            <a:avLst/>
          </a:prstGeom>
          <a:noFill/>
          <a:ln/>
        </p:spPr>
        <p:txBody>
          <a:bodyPr wrap="square" lIns="0" tIns="0" rIns="0" bIns="0" rtlCol="0" anchor="ctr"/>
          <a:lstStyle/>
          <a:p>
            <a:pPr indent="0" marL="0">
              <a:buNone/>
            </a:pPr>
            <a:r>
              <a:rPr lang="en-US" sz="1000" dirty="0">
                <a:solidFill>
                  <a:srgbClr val="5C6675"/>
                </a:solidFill>
                <a:latin typeface="Calibri" pitchFamily="34" charset="0"/>
                <a:ea typeface="Calibri" pitchFamily="34" charset="-122"/>
                <a:cs typeface="Calibri" pitchFamily="34" charset="-120"/>
              </a:rPr>
              <a:t>Project Review 1  ·  B.Tech CSE (AI &amp; ML)  ·  SRMIST</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8229600" cy="237744"/>
          </a:xfrm>
          <a:prstGeom prst="rect">
            <a:avLst/>
          </a:prstGeom>
          <a:noFill/>
          <a:ln/>
        </p:spPr>
        <p:txBody>
          <a:bodyPr wrap="square" lIns="0" tIns="0" rIns="0" bIns="0" rtlCol="0" anchor="ctr"/>
          <a:lstStyle/>
          <a:p>
            <a:pPr indent="0" marL="0">
              <a:buNone/>
            </a:pPr>
            <a:r>
              <a:rPr lang="en-US" sz="1100" b="1" spc="160" kern="0" dirty="0">
                <a:solidFill>
                  <a:srgbClr val="C2703A"/>
                </a:solidFill>
                <a:latin typeface="Calibri" pitchFamily="34" charset="0"/>
                <a:ea typeface="Calibri" pitchFamily="34" charset="-122"/>
                <a:cs typeface="Calibri" pitchFamily="34" charset="-120"/>
              </a:rPr>
              <a:t>FEATURE RELATIONSHIPS</a:t>
            </a:r>
            <a:endParaRPr lang="en-US" sz="1100" dirty="0"/>
          </a:p>
        </p:txBody>
      </p:sp>
      <p:sp>
        <p:nvSpPr>
          <p:cNvPr id="3" name="Text 1"/>
          <p:cNvSpPr/>
          <p:nvPr/>
        </p:nvSpPr>
        <p:spPr>
          <a:xfrm>
            <a:off x="566928" y="566928"/>
            <a:ext cx="11027664" cy="566928"/>
          </a:xfrm>
          <a:prstGeom prst="rect">
            <a:avLst/>
          </a:prstGeom>
          <a:noFill/>
          <a:ln/>
        </p:spPr>
        <p:txBody>
          <a:bodyPr wrap="square" lIns="0" tIns="0" rIns="0" bIns="0" rtlCol="0" anchor="ctr"/>
          <a:lstStyle/>
          <a:p>
            <a:pPr indent="0" marL="0">
              <a:buNone/>
            </a:pPr>
            <a:r>
              <a:rPr lang="en-US" sz="3000" b="1" dirty="0">
                <a:solidFill>
                  <a:srgbClr val="1B365D"/>
                </a:solidFill>
                <a:latin typeface="Cambria" pitchFamily="34" charset="0"/>
                <a:ea typeface="Cambria" pitchFamily="34" charset="-122"/>
                <a:cs typeface="Cambria" pitchFamily="34" charset="-120"/>
              </a:rPr>
              <a:t>Correlation Analysis</a:t>
            </a:r>
            <a:endParaRPr lang="en-US" sz="3000" dirty="0"/>
          </a:p>
        </p:txBody>
      </p:sp>
      <p:pic>
        <p:nvPicPr>
          <p:cNvPr id="4" name="Image 0" descr="C:\Users\UJWAL M\OneDrive\Desktop\GBA development project\ml\artifacts\review1\correlation_heatmap.png">    </p:cNvPr>
          <p:cNvPicPr>
            <a:picLocks noChangeAspect="1"/>
          </p:cNvPicPr>
          <p:nvPr/>
        </p:nvPicPr>
        <p:blipFill>
          <a:blip r:embed="rId1"/>
          <a:stretch>
            <a:fillRect/>
          </a:stretch>
        </p:blipFill>
        <p:spPr>
          <a:xfrm>
            <a:off x="566928" y="1481328"/>
            <a:ext cx="5029200" cy="4224528"/>
          </a:xfrm>
          <a:prstGeom prst="rect">
            <a:avLst/>
          </a:prstGeom>
        </p:spPr>
      </p:pic>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870448" y="1481328"/>
          <a:ext cx="5724144" cy="914400"/>
        </p:xfrm>
        <a:graphic>
          <a:graphicData uri="http://schemas.openxmlformats.org/drawingml/2006/table">
            <a:tbl>
              <a:tblPr/>
              <a:tblGrid>
                <a:gridCol w="3566160"/>
                <a:gridCol w="2157984"/>
              </a:tblGrid>
              <a:tr h="329184">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Variable</a:t>
                      </a:r>
                      <a:endParaRPr lang="en-US" sz="120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solidFill>
                      <a:srgbClr val="1B365D"/>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Pearson r with price per sq.ft</a:t>
                      </a:r>
                      <a:endParaRPr lang="en-US" sz="120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solidFill>
                      <a:srgbClr val="1B365D"/>
                    </a:solidFill>
                  </a:tcPr>
                </a:tc>
              </a:tr>
              <a:tr h="329184">
                <a:tc>
                  <a:txBody>
                    <a:bodyPr/>
                    <a:lstStyle/>
                    <a:p>
                      <a:pPr algn="l" indent="0" marL="0">
                        <a:buNone/>
                      </a:pPr>
                      <a:r>
                        <a:rPr lang="en-US" sz="1200" b="1" dirty="0">
                          <a:solidFill>
                            <a:srgbClr val="1B365D"/>
                          </a:solidFill>
                          <a:latin typeface="Calibri" pitchFamily="34" charset="0"/>
                          <a:ea typeface="Calibri" pitchFamily="34" charset="-122"/>
                          <a:cs typeface="Calibri" pitchFamily="34" charset="-120"/>
                        </a:rPr>
                        <a:t>Bathrooms</a:t>
                      </a:r>
                      <a:endParaRPr lang="en-US" sz="120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tcPr>
                </a:tc>
                <a:tc>
                  <a:txBody>
                    <a:bodyPr/>
                    <a:lstStyle/>
                    <a:p>
                      <a:pPr algn="r" indent="0" marL="0">
                        <a:buNone/>
                      </a:pPr>
                      <a:r>
                        <a:rPr lang="en-US" sz="1200" dirty="0">
                          <a:solidFill>
                            <a:srgbClr val="1F2430"/>
                          </a:solidFill>
                          <a:latin typeface="Calibri" pitchFamily="34" charset="0"/>
                          <a:ea typeface="Calibri" pitchFamily="34" charset="-122"/>
                          <a:cs typeface="Calibri" pitchFamily="34" charset="-120"/>
                        </a:rPr>
                        <a:t>0.353</a:t>
                      </a:r>
                      <a:endParaRPr lang="en-US" sz="120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tcPr>
                </a:tc>
              </a:tr>
              <a:tr h="329184">
                <a:tc>
                  <a:txBody>
                    <a:bodyPr/>
                    <a:lstStyle/>
                    <a:p>
                      <a:pPr algn="l" indent="0" marL="0">
                        <a:buNone/>
                      </a:pPr>
                      <a:r>
                        <a:rPr lang="en-US" sz="1200" b="1" dirty="0">
                          <a:solidFill>
                            <a:srgbClr val="1B365D"/>
                          </a:solidFill>
                          <a:latin typeface="Calibri" pitchFamily="34" charset="0"/>
                          <a:ea typeface="Calibri" pitchFamily="34" charset="-122"/>
                          <a:cs typeface="Calibri" pitchFamily="34" charset="-120"/>
                        </a:rPr>
                        <a:t>Built-up area</a:t>
                      </a:r>
                      <a:endParaRPr lang="en-US" sz="120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tcPr>
                </a:tc>
                <a:tc>
                  <a:txBody>
                    <a:bodyPr/>
                    <a:lstStyle/>
                    <a:p>
                      <a:pPr algn="r" indent="0" marL="0">
                        <a:buNone/>
                      </a:pPr>
                      <a:r>
                        <a:rPr lang="en-US" sz="1200" dirty="0">
                          <a:solidFill>
                            <a:srgbClr val="1F2430"/>
                          </a:solidFill>
                          <a:latin typeface="Calibri" pitchFamily="34" charset="0"/>
                          <a:ea typeface="Calibri" pitchFamily="34" charset="-122"/>
                          <a:cs typeface="Calibri" pitchFamily="34" charset="-120"/>
                        </a:rPr>
                        <a:t>0.311</a:t>
                      </a:r>
                      <a:endParaRPr lang="en-US" sz="120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tcPr>
                </a:tc>
              </a:tr>
              <a:tr h="329184">
                <a:tc>
                  <a:txBody>
                    <a:bodyPr/>
                    <a:lstStyle/>
                    <a:p>
                      <a:pPr algn="l" indent="0" marL="0">
                        <a:buNone/>
                      </a:pPr>
                      <a:r>
                        <a:rPr lang="en-US" sz="1200" b="1" dirty="0">
                          <a:solidFill>
                            <a:srgbClr val="1B365D"/>
                          </a:solidFill>
                          <a:latin typeface="Calibri" pitchFamily="34" charset="0"/>
                          <a:ea typeface="Calibri" pitchFamily="34" charset="-122"/>
                          <a:cs typeface="Calibri" pitchFamily="34" charset="-120"/>
                        </a:rPr>
                        <a:t>Configuration (BHK)</a:t>
                      </a:r>
                      <a:endParaRPr lang="en-US" sz="120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tcPr>
                </a:tc>
                <a:tc>
                  <a:txBody>
                    <a:bodyPr/>
                    <a:lstStyle/>
                    <a:p>
                      <a:pPr algn="r" indent="0" marL="0">
                        <a:buNone/>
                      </a:pPr>
                      <a:r>
                        <a:rPr lang="en-US" sz="1200" dirty="0">
                          <a:solidFill>
                            <a:srgbClr val="1F2430"/>
                          </a:solidFill>
                          <a:latin typeface="Calibri" pitchFamily="34" charset="0"/>
                          <a:ea typeface="Calibri" pitchFamily="34" charset="-122"/>
                          <a:cs typeface="Calibri" pitchFamily="34" charset="-120"/>
                        </a:rPr>
                        <a:t>0.3</a:t>
                      </a:r>
                      <a:endParaRPr lang="en-US" sz="120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tcPr>
                </a:tc>
              </a:tr>
              <a:tr h="329184">
                <a:tc>
                  <a:txBody>
                    <a:bodyPr/>
                    <a:lstStyle/>
                    <a:p>
                      <a:pPr algn="l" indent="0" marL="0">
                        <a:buNone/>
                      </a:pPr>
                      <a:r>
                        <a:rPr lang="en-US" sz="1200" b="1" dirty="0">
                          <a:solidFill>
                            <a:srgbClr val="1B365D"/>
                          </a:solidFill>
                          <a:latin typeface="Calibri" pitchFamily="34" charset="0"/>
                          <a:ea typeface="Calibri" pitchFamily="34" charset="-122"/>
                          <a:cs typeface="Calibri" pitchFamily="34" charset="-120"/>
                        </a:rPr>
                        <a:t>Balcony</a:t>
                      </a:r>
                      <a:endParaRPr lang="en-US" sz="120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tcPr>
                </a:tc>
                <a:tc>
                  <a:txBody>
                    <a:bodyPr/>
                    <a:lstStyle/>
                    <a:p>
                      <a:pPr algn="r" indent="0" marL="0">
                        <a:buNone/>
                      </a:pPr>
                      <a:r>
                        <a:rPr lang="en-US" sz="1200" dirty="0">
                          <a:solidFill>
                            <a:srgbClr val="1F2430"/>
                          </a:solidFill>
                          <a:latin typeface="Calibri" pitchFamily="34" charset="0"/>
                          <a:ea typeface="Calibri" pitchFamily="34" charset="-122"/>
                          <a:cs typeface="Calibri" pitchFamily="34" charset="-120"/>
                        </a:rPr>
                        <a:t>0.03</a:t>
                      </a:r>
                      <a:endParaRPr lang="en-US" sz="120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tcPr>
                </a:tc>
              </a:tr>
            </a:tbl>
          </a:graphicData>
        </a:graphic>
      </p:graphicFrame>
      <p:sp>
        <p:nvSpPr>
          <p:cNvPr id="6" name="Text 2"/>
          <p:cNvSpPr/>
          <p:nvPr/>
        </p:nvSpPr>
        <p:spPr>
          <a:xfrm>
            <a:off x="5870448" y="3310128"/>
            <a:ext cx="5724144" cy="274320"/>
          </a:xfrm>
          <a:prstGeom prst="rect">
            <a:avLst/>
          </a:prstGeom>
          <a:noFill/>
          <a:ln/>
        </p:spPr>
        <p:txBody>
          <a:bodyPr wrap="square" lIns="0" tIns="0" rIns="0" bIns="0" rtlCol="0" anchor="ctr"/>
          <a:lstStyle/>
          <a:p>
            <a:pPr indent="0" marL="0">
              <a:buNone/>
            </a:pPr>
            <a:r>
              <a:rPr lang="en-US" sz="1500" b="1" dirty="0">
                <a:solidFill>
                  <a:srgbClr val="1B365D"/>
                </a:solidFill>
                <a:latin typeface="Cambria" pitchFamily="34" charset="0"/>
                <a:ea typeface="Cambria" pitchFamily="34" charset="-122"/>
                <a:cs typeface="Cambria" pitchFamily="34" charset="-120"/>
              </a:rPr>
              <a:t>Interpretation</a:t>
            </a:r>
            <a:endParaRPr lang="en-US" sz="1500" dirty="0"/>
          </a:p>
        </p:txBody>
      </p:sp>
      <p:sp>
        <p:nvSpPr>
          <p:cNvPr id="7" name="Text 3"/>
          <p:cNvSpPr/>
          <p:nvPr/>
        </p:nvSpPr>
        <p:spPr>
          <a:xfrm>
            <a:off x="5870448" y="3675888"/>
            <a:ext cx="5724144" cy="2103120"/>
          </a:xfrm>
          <a:prstGeom prst="rect">
            <a:avLst/>
          </a:prstGeom>
          <a:noFill/>
          <a:ln/>
        </p:spPr>
        <p:txBody>
          <a:bodyPr wrap="square" lIns="0" tIns="0" rIns="0" bIns="0" rtlCol="0" anchor="ctr"/>
          <a:lstStyle/>
          <a:p>
            <a:pPr marL="342900" indent="-342900">
              <a:lnSpc>
                <a:spcPts val="1600"/>
              </a:lnSpc>
              <a:spcAft>
                <a:spcPts val="800"/>
              </a:spcAft>
              <a:buSzPct val="100000"/>
              <a:buChar char="•"/>
            </a:pPr>
            <a:r>
              <a:rPr lang="en-US" sz="1200" dirty="0">
                <a:solidFill>
                  <a:srgbClr val="1F2430"/>
                </a:solidFill>
                <a:latin typeface="Calibri" pitchFamily="34" charset="0"/>
                <a:ea typeface="Calibri" pitchFamily="34" charset="-122"/>
                <a:cs typeface="Calibri" pitchFamily="34" charset="-120"/>
              </a:rPr>
              <a:t>No single numerical variable is strongly correlated with the target; the highest is bathrooms at r = 0.353.</a:t>
            </a:r>
            <a:endParaRPr lang="en-US" sz="1200" dirty="0"/>
          </a:p>
          <a:p>
            <a:pPr marL="342900" indent="-342900">
              <a:lnSpc>
                <a:spcPts val="1600"/>
              </a:lnSpc>
              <a:spcAft>
                <a:spcPts val="800"/>
              </a:spcAft>
              <a:buSzPct val="100000"/>
              <a:buChar char="•"/>
            </a:pPr>
            <a:r>
              <a:rPr lang="en-US" sz="1200" dirty="0">
                <a:solidFill>
                  <a:srgbClr val="1F2430"/>
                </a:solidFill>
                <a:latin typeface="Calibri" pitchFamily="34" charset="0"/>
                <a:ea typeface="Calibri" pitchFamily="34" charset="-122"/>
                <a:cs typeface="Calibri" pitchFamily="34" charset="-120"/>
              </a:rPr>
              <a:t>This indicates that price per sq.ft is not explained by any one attribute in isolation, which supports the use of multivariate models over simple linear estimation.</a:t>
            </a:r>
            <a:endParaRPr lang="en-US" sz="1200" dirty="0"/>
          </a:p>
          <a:p>
            <a:pPr marL="342900" indent="-342900">
              <a:lnSpc>
                <a:spcPts val="1600"/>
              </a:lnSpc>
              <a:spcAft>
                <a:spcPts val="800"/>
              </a:spcAft>
              <a:buSzPct val="100000"/>
              <a:buChar char="•"/>
            </a:pPr>
            <a:r>
              <a:rPr lang="en-US" sz="1200" dirty="0">
                <a:solidFill>
                  <a:srgbClr val="1F2430"/>
                </a:solidFill>
                <a:latin typeface="Calibri" pitchFamily="34" charset="0"/>
                <a:ea typeface="Calibri" pitchFamily="34" charset="-122"/>
                <a:cs typeface="Calibri" pitchFamily="34" charset="-120"/>
              </a:rPr>
              <a:t>Area, configuration and bathrooms are themselves inter-related, so multicollinearity is expected among the input variables and will be considered during feature selection.</a:t>
            </a:r>
            <a:endParaRPr lang="en-US" sz="1200" dirty="0"/>
          </a:p>
          <a:p>
            <a:pPr marL="342900" indent="-342900">
              <a:lnSpc>
                <a:spcPts val="1600"/>
              </a:lnSpc>
              <a:spcAft>
                <a:spcPts val="800"/>
              </a:spcAft>
              <a:buSzPct val="100000"/>
              <a:buChar char="•"/>
            </a:pPr>
            <a:r>
              <a:rPr lang="en-US" sz="1200" dirty="0">
                <a:solidFill>
                  <a:srgbClr val="1F2430"/>
                </a:solidFill>
                <a:latin typeface="Calibri" pitchFamily="34" charset="0"/>
                <a:ea typeface="Calibri" pitchFamily="34" charset="-122"/>
                <a:cs typeface="Calibri" pitchFamily="34" charset="-120"/>
              </a:rPr>
              <a:t>Correlation measures linear association only. It does not capture non-linear relationships, and it does not establish causation.</a:t>
            </a:r>
            <a:endParaRPr lang="en-US" sz="1200" dirty="0"/>
          </a:p>
        </p:txBody>
      </p:sp>
      <p:sp>
        <p:nvSpPr>
          <p:cNvPr id="9" name="Text 4"/>
          <p:cNvSpPr/>
          <p:nvPr/>
        </p:nvSpPr>
        <p:spPr>
          <a:xfrm>
            <a:off x="11045952" y="6419088"/>
            <a:ext cx="548640" cy="256032"/>
          </a:xfrm>
          <a:prstGeom prst="rect">
            <a:avLst/>
          </a:prstGeom>
          <a:noFill/>
          <a:ln/>
        </p:spPr>
        <p:txBody>
          <a:bodyPr wrap="square" lIns="0" tIns="0" rIns="0" bIns="0" rtlCol="0" anchor="ctr"/>
          <a:lstStyle/>
          <a:p>
            <a:pPr algn="r" indent="0" marL="0">
              <a:buNone/>
            </a:pPr>
            <a:r>
              <a:rPr lang="en-US" sz="1000" dirty="0">
                <a:solidFill>
                  <a:srgbClr val="5C6675"/>
                </a:solidFill>
                <a:latin typeface="Calibri" pitchFamily="34" charset="0"/>
                <a:ea typeface="Calibri" pitchFamily="34" charset="-122"/>
                <a:cs typeface="Calibri" pitchFamily="34" charset="-120"/>
              </a:rPr>
              <a:t>12</a:t>
            </a:r>
            <a:endParaRPr lang="en-US" sz="1000" dirty="0"/>
          </a:p>
        </p:txBody>
      </p:sp>
      <p:sp>
        <p:nvSpPr>
          <p:cNvPr id="10" name="Text 5"/>
          <p:cNvSpPr/>
          <p:nvPr/>
        </p:nvSpPr>
        <p:spPr>
          <a:xfrm>
            <a:off x="566928" y="6419088"/>
            <a:ext cx="7315200" cy="256032"/>
          </a:xfrm>
          <a:prstGeom prst="rect">
            <a:avLst/>
          </a:prstGeom>
          <a:noFill/>
          <a:ln/>
        </p:spPr>
        <p:txBody>
          <a:bodyPr wrap="square" lIns="0" tIns="0" rIns="0" bIns="0" rtlCol="0" anchor="ctr"/>
          <a:lstStyle/>
          <a:p>
            <a:pPr indent="0" marL="0">
              <a:buNone/>
            </a:pPr>
            <a:r>
              <a:rPr lang="en-US" sz="1000" dirty="0">
                <a:solidFill>
                  <a:srgbClr val="5C6675"/>
                </a:solidFill>
                <a:latin typeface="Calibri" pitchFamily="34" charset="0"/>
                <a:ea typeface="Calibri" pitchFamily="34" charset="-122"/>
                <a:cs typeface="Calibri" pitchFamily="34" charset="-120"/>
              </a:rPr>
              <a:t>Project Review 1  ·  B.Tech CSE (AI &amp; ML)  ·  SRMIST</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8229600" cy="237744"/>
          </a:xfrm>
          <a:prstGeom prst="rect">
            <a:avLst/>
          </a:prstGeom>
          <a:noFill/>
          <a:ln/>
        </p:spPr>
        <p:txBody>
          <a:bodyPr wrap="square" lIns="0" tIns="0" rIns="0" bIns="0" rtlCol="0" anchor="ctr"/>
          <a:lstStyle/>
          <a:p>
            <a:pPr indent="0" marL="0">
              <a:buNone/>
            </a:pPr>
            <a:r>
              <a:rPr lang="en-US" sz="1100" b="1" spc="160" kern="0" dirty="0">
                <a:solidFill>
                  <a:srgbClr val="C2703A"/>
                </a:solidFill>
                <a:latin typeface="Calibri" pitchFamily="34" charset="0"/>
                <a:ea typeface="Calibri" pitchFamily="34" charset="-122"/>
                <a:cs typeface="Calibri" pitchFamily="34" charset="-120"/>
              </a:rPr>
              <a:t>PROPOSED FEATURES</a:t>
            </a:r>
            <a:endParaRPr lang="en-US" sz="1100" dirty="0"/>
          </a:p>
        </p:txBody>
      </p:sp>
      <p:sp>
        <p:nvSpPr>
          <p:cNvPr id="3" name="Text 1"/>
          <p:cNvSpPr/>
          <p:nvPr/>
        </p:nvSpPr>
        <p:spPr>
          <a:xfrm>
            <a:off x="566928" y="566928"/>
            <a:ext cx="11027664" cy="566928"/>
          </a:xfrm>
          <a:prstGeom prst="rect">
            <a:avLst/>
          </a:prstGeom>
          <a:noFill/>
          <a:ln/>
        </p:spPr>
        <p:txBody>
          <a:bodyPr wrap="square" lIns="0" tIns="0" rIns="0" bIns="0" rtlCol="0" anchor="ctr"/>
          <a:lstStyle/>
          <a:p>
            <a:pPr indent="0" marL="0">
              <a:buNone/>
            </a:pPr>
            <a:r>
              <a:rPr lang="en-US" sz="3000" b="1" dirty="0">
                <a:solidFill>
                  <a:srgbClr val="1B365D"/>
                </a:solidFill>
                <a:latin typeface="Cambria" pitchFamily="34" charset="0"/>
                <a:ea typeface="Cambria" pitchFamily="34" charset="-122"/>
                <a:cs typeface="Cambria" pitchFamily="34" charset="-120"/>
              </a:rPr>
              <a:t>Feature Engineering</a:t>
            </a:r>
            <a:endParaRPr lang="en-US" sz="3000" dirty="0"/>
          </a:p>
        </p:txBody>
      </p:sp>
      <p:sp>
        <p:nvSpPr>
          <p:cNvPr id="4" name="Shape 2"/>
          <p:cNvSpPr/>
          <p:nvPr/>
        </p:nvSpPr>
        <p:spPr>
          <a:xfrm>
            <a:off x="566928" y="1371600"/>
            <a:ext cx="3310128" cy="621792"/>
          </a:xfrm>
          <a:prstGeom prst="roundRect">
            <a:avLst>
              <a:gd name="adj" fmla="val 8824"/>
            </a:avLst>
          </a:prstGeom>
          <a:solidFill>
            <a:srgbClr val="F4F6F9"/>
          </a:solidFill>
          <a:ln w="17780">
            <a:solidFill>
              <a:srgbClr val="1B365D"/>
            </a:solidFill>
            <a:prstDash val="solid"/>
          </a:ln>
        </p:spPr>
      </p:sp>
      <p:sp>
        <p:nvSpPr>
          <p:cNvPr id="5" name="Text 3"/>
          <p:cNvSpPr/>
          <p:nvPr/>
        </p:nvSpPr>
        <p:spPr>
          <a:xfrm>
            <a:off x="566928" y="1371600"/>
            <a:ext cx="3310128" cy="621792"/>
          </a:xfrm>
          <a:prstGeom prst="rect">
            <a:avLst/>
          </a:prstGeom>
          <a:noFill/>
          <a:ln/>
        </p:spPr>
        <p:txBody>
          <a:bodyPr wrap="square" lIns="0" tIns="0" rIns="0" bIns="0" rtlCol="0" anchor="ctr"/>
          <a:lstStyle/>
          <a:p>
            <a:pPr algn="ctr" indent="0" marL="0">
              <a:buNone/>
            </a:pPr>
            <a:r>
              <a:rPr lang="en-US" sz="1400" b="1" dirty="0">
                <a:solidFill>
                  <a:srgbClr val="1B365D"/>
                </a:solidFill>
                <a:latin typeface="Calibri" pitchFamily="34" charset="0"/>
                <a:ea typeface="Calibri" pitchFamily="34" charset="-122"/>
                <a:cs typeface="Calibri" pitchFamily="34" charset="-120"/>
              </a:rPr>
              <a:t>Raw Data</a:t>
            </a:r>
            <a:endParaRPr lang="en-US" sz="1400" dirty="0"/>
          </a:p>
        </p:txBody>
      </p:sp>
      <p:sp>
        <p:nvSpPr>
          <p:cNvPr id="6" name="Shape 4"/>
          <p:cNvSpPr/>
          <p:nvPr/>
        </p:nvSpPr>
        <p:spPr>
          <a:xfrm>
            <a:off x="3968496" y="1682496"/>
            <a:ext cx="438912" cy="0"/>
          </a:xfrm>
          <a:prstGeom prst="line">
            <a:avLst/>
          </a:prstGeom>
          <a:noFill/>
          <a:ln w="19050">
            <a:solidFill>
              <a:srgbClr val="5C6675"/>
            </a:solidFill>
            <a:prstDash val="solid"/>
            <a:tailEnd type="triangle"/>
          </a:ln>
        </p:spPr>
      </p:sp>
      <p:sp>
        <p:nvSpPr>
          <p:cNvPr id="7" name="Shape 5"/>
          <p:cNvSpPr/>
          <p:nvPr/>
        </p:nvSpPr>
        <p:spPr>
          <a:xfrm>
            <a:off x="4498848" y="1371600"/>
            <a:ext cx="3310128" cy="621792"/>
          </a:xfrm>
          <a:prstGeom prst="roundRect">
            <a:avLst>
              <a:gd name="adj" fmla="val 8824"/>
            </a:avLst>
          </a:prstGeom>
          <a:solidFill>
            <a:srgbClr val="FDF6EF"/>
          </a:solidFill>
          <a:ln w="17780">
            <a:solidFill>
              <a:srgbClr val="C2703A"/>
            </a:solidFill>
            <a:prstDash val="solid"/>
          </a:ln>
        </p:spPr>
      </p:sp>
      <p:sp>
        <p:nvSpPr>
          <p:cNvPr id="8" name="Text 6"/>
          <p:cNvSpPr/>
          <p:nvPr/>
        </p:nvSpPr>
        <p:spPr>
          <a:xfrm>
            <a:off x="4498848" y="1371600"/>
            <a:ext cx="3310128" cy="621792"/>
          </a:xfrm>
          <a:prstGeom prst="rect">
            <a:avLst/>
          </a:prstGeom>
          <a:noFill/>
          <a:ln/>
        </p:spPr>
        <p:txBody>
          <a:bodyPr wrap="square" lIns="0" tIns="0" rIns="0" bIns="0" rtlCol="0" anchor="ctr"/>
          <a:lstStyle/>
          <a:p>
            <a:pPr algn="ctr" indent="0" marL="0">
              <a:buNone/>
            </a:pPr>
            <a:r>
              <a:rPr lang="en-US" sz="1400" b="1" dirty="0">
                <a:solidFill>
                  <a:srgbClr val="C2703A"/>
                </a:solidFill>
                <a:latin typeface="Calibri" pitchFamily="34" charset="0"/>
                <a:ea typeface="Calibri" pitchFamily="34" charset="-122"/>
                <a:cs typeface="Calibri" pitchFamily="34" charset="-120"/>
              </a:rPr>
              <a:t>Feature Engineering</a:t>
            </a:r>
            <a:endParaRPr lang="en-US" sz="1400" dirty="0"/>
          </a:p>
        </p:txBody>
      </p:sp>
      <p:sp>
        <p:nvSpPr>
          <p:cNvPr id="9" name="Shape 7"/>
          <p:cNvSpPr/>
          <p:nvPr/>
        </p:nvSpPr>
        <p:spPr>
          <a:xfrm>
            <a:off x="7900416" y="1682496"/>
            <a:ext cx="438912" cy="0"/>
          </a:xfrm>
          <a:prstGeom prst="line">
            <a:avLst/>
          </a:prstGeom>
          <a:noFill/>
          <a:ln w="19050">
            <a:solidFill>
              <a:srgbClr val="5C6675"/>
            </a:solidFill>
            <a:prstDash val="solid"/>
            <a:tailEnd type="triangle"/>
          </a:ln>
        </p:spPr>
      </p:sp>
      <p:sp>
        <p:nvSpPr>
          <p:cNvPr id="10" name="Shape 8"/>
          <p:cNvSpPr/>
          <p:nvPr/>
        </p:nvSpPr>
        <p:spPr>
          <a:xfrm>
            <a:off x="8430768" y="1371600"/>
            <a:ext cx="3310128" cy="621792"/>
          </a:xfrm>
          <a:prstGeom prst="roundRect">
            <a:avLst>
              <a:gd name="adj" fmla="val 8824"/>
            </a:avLst>
          </a:prstGeom>
          <a:solidFill>
            <a:srgbClr val="F4F6F9"/>
          </a:solidFill>
          <a:ln w="17780">
            <a:solidFill>
              <a:srgbClr val="1B365D"/>
            </a:solidFill>
            <a:prstDash val="solid"/>
          </a:ln>
        </p:spPr>
      </p:sp>
      <p:sp>
        <p:nvSpPr>
          <p:cNvPr id="11" name="Text 9"/>
          <p:cNvSpPr/>
          <p:nvPr/>
        </p:nvSpPr>
        <p:spPr>
          <a:xfrm>
            <a:off x="8430768" y="1371600"/>
            <a:ext cx="3310128" cy="621792"/>
          </a:xfrm>
          <a:prstGeom prst="rect">
            <a:avLst/>
          </a:prstGeom>
          <a:noFill/>
          <a:ln/>
        </p:spPr>
        <p:txBody>
          <a:bodyPr wrap="square" lIns="0" tIns="0" rIns="0" bIns="0" rtlCol="0" anchor="ctr"/>
          <a:lstStyle/>
          <a:p>
            <a:pPr algn="ctr" indent="0" marL="0">
              <a:buNone/>
            </a:pPr>
            <a:r>
              <a:rPr lang="en-US" sz="1400" b="1" dirty="0">
                <a:solidFill>
                  <a:srgbClr val="1B365D"/>
                </a:solidFill>
                <a:latin typeface="Calibri" pitchFamily="34" charset="0"/>
                <a:ea typeface="Calibri" pitchFamily="34" charset="-122"/>
                <a:cs typeface="Calibri" pitchFamily="34" charset="-120"/>
              </a:rPr>
              <a:t>ML-Ready Features</a:t>
            </a:r>
            <a:endParaRPr lang="en-US" sz="1400" dirty="0"/>
          </a:p>
        </p:txBody>
      </p:sp>
      <p:sp>
        <p:nvSpPr>
          <p:cNvPr id="12" name="Shape 10"/>
          <p:cNvSpPr/>
          <p:nvPr/>
        </p:nvSpPr>
        <p:spPr>
          <a:xfrm>
            <a:off x="566928" y="2286000"/>
            <a:ext cx="3493008" cy="2834640"/>
          </a:xfrm>
          <a:prstGeom prst="roundRect">
            <a:avLst>
              <a:gd name="adj" fmla="val 1935"/>
            </a:avLst>
          </a:prstGeom>
          <a:solidFill>
            <a:srgbClr val="F4F6F9"/>
          </a:solidFill>
          <a:ln w="12700">
            <a:solidFill>
              <a:srgbClr val="D6DCE5"/>
            </a:solidFill>
            <a:prstDash val="solid"/>
          </a:ln>
        </p:spPr>
      </p:sp>
      <p:sp>
        <p:nvSpPr>
          <p:cNvPr id="13" name="Text 11"/>
          <p:cNvSpPr/>
          <p:nvPr/>
        </p:nvSpPr>
        <p:spPr>
          <a:xfrm>
            <a:off x="786384" y="2468880"/>
            <a:ext cx="3108960" cy="274320"/>
          </a:xfrm>
          <a:prstGeom prst="rect">
            <a:avLst/>
          </a:prstGeom>
          <a:noFill/>
          <a:ln/>
        </p:spPr>
        <p:txBody>
          <a:bodyPr wrap="square" lIns="0" tIns="0" rIns="0" bIns="0" rtlCol="0" anchor="ctr"/>
          <a:lstStyle/>
          <a:p>
            <a:pPr indent="0" marL="0">
              <a:buNone/>
            </a:pPr>
            <a:r>
              <a:rPr lang="en-US" sz="1300" b="1" dirty="0">
                <a:solidFill>
                  <a:srgbClr val="1B365D"/>
                </a:solidFill>
                <a:latin typeface="Calibri" pitchFamily="34" charset="0"/>
                <a:ea typeface="Calibri" pitchFamily="34" charset="-122"/>
                <a:cs typeface="Calibri" pitchFamily="34" charset="-120"/>
              </a:rPr>
              <a:t>Derived property features</a:t>
            </a:r>
            <a:endParaRPr lang="en-US" sz="1300" dirty="0"/>
          </a:p>
        </p:txBody>
      </p:sp>
      <p:sp>
        <p:nvSpPr>
          <p:cNvPr id="14" name="Text 12"/>
          <p:cNvSpPr/>
          <p:nvPr/>
        </p:nvSpPr>
        <p:spPr>
          <a:xfrm>
            <a:off x="786384" y="2798064"/>
            <a:ext cx="3072384" cy="2103120"/>
          </a:xfrm>
          <a:prstGeom prst="rect">
            <a:avLst/>
          </a:prstGeom>
          <a:noFill/>
          <a:ln/>
        </p:spPr>
        <p:txBody>
          <a:bodyPr wrap="square" lIns="0" tIns="0" rIns="0" bIns="0" rtlCol="0" anchor="ctr"/>
          <a:lstStyle/>
          <a:p>
            <a:pPr marL="342900" indent="-342900">
              <a:lnSpc>
                <a:spcPts val="1500"/>
              </a:lnSpc>
              <a:spcAft>
                <a:spcPts val="600"/>
              </a:spcAft>
              <a:buSzPct val="100000"/>
              <a:buChar char="•"/>
            </a:pPr>
            <a:r>
              <a:rPr lang="en-US" sz="1150" dirty="0">
                <a:solidFill>
                  <a:srgbClr val="1F2430"/>
                </a:solidFill>
                <a:latin typeface="Calibri" pitchFamily="34" charset="0"/>
                <a:ea typeface="Calibri" pitchFamily="34" charset="-122"/>
                <a:cs typeface="Calibri" pitchFamily="34" charset="-120"/>
              </a:rPr>
              <a:t>Price per sq.ft — target normalisation</a:t>
            </a:r>
            <a:endParaRPr lang="en-US" sz="1150" dirty="0"/>
          </a:p>
          <a:p>
            <a:pPr marL="342900" indent="-342900">
              <a:lnSpc>
                <a:spcPts val="1500"/>
              </a:lnSpc>
              <a:spcAft>
                <a:spcPts val="600"/>
              </a:spcAft>
              <a:buSzPct val="100000"/>
              <a:buChar char="•"/>
            </a:pPr>
            <a:r>
              <a:rPr lang="en-US" sz="1150" dirty="0">
                <a:solidFill>
                  <a:srgbClr val="1F2430"/>
                </a:solidFill>
                <a:latin typeface="Calibri" pitchFamily="34" charset="0"/>
                <a:ea typeface="Calibri" pitchFamily="34" charset="-122"/>
                <a:cs typeface="Calibri" pitchFamily="34" charset="-120"/>
              </a:rPr>
              <a:t>Area per room</a:t>
            </a:r>
            <a:endParaRPr lang="en-US" sz="1150" dirty="0"/>
          </a:p>
          <a:p>
            <a:pPr marL="342900" indent="-342900">
              <a:lnSpc>
                <a:spcPts val="1500"/>
              </a:lnSpc>
              <a:spcAft>
                <a:spcPts val="600"/>
              </a:spcAft>
              <a:buSzPct val="100000"/>
              <a:buChar char="•"/>
            </a:pPr>
            <a:r>
              <a:rPr lang="en-US" sz="1150" dirty="0">
                <a:solidFill>
                  <a:srgbClr val="1F2430"/>
                </a:solidFill>
                <a:latin typeface="Calibri" pitchFamily="34" charset="0"/>
                <a:ea typeface="Calibri" pitchFamily="34" charset="-122"/>
                <a:cs typeface="Calibri" pitchFamily="34" charset="-120"/>
              </a:rPr>
              <a:t>Bathrooms per room</a:t>
            </a:r>
            <a:endParaRPr lang="en-US" sz="1150" dirty="0"/>
          </a:p>
          <a:p>
            <a:pPr marL="342900" indent="-342900">
              <a:lnSpc>
                <a:spcPts val="1500"/>
              </a:lnSpc>
              <a:spcAft>
                <a:spcPts val="600"/>
              </a:spcAft>
              <a:buSzPct val="100000"/>
              <a:buChar char="•"/>
            </a:pPr>
            <a:r>
              <a:rPr lang="en-US" sz="1150" dirty="0">
                <a:solidFill>
                  <a:srgbClr val="1F2430"/>
                </a:solidFill>
                <a:latin typeface="Calibri" pitchFamily="34" charset="0"/>
                <a:ea typeface="Calibri" pitchFamily="34" charset="-122"/>
                <a:cs typeface="Calibri" pitchFamily="34" charset="-120"/>
              </a:rPr>
              <a:t>Property age (where date data exists)</a:t>
            </a:r>
            <a:endParaRPr lang="en-US" sz="1150" dirty="0"/>
          </a:p>
        </p:txBody>
      </p:sp>
      <p:sp>
        <p:nvSpPr>
          <p:cNvPr id="15" name="Shape 13"/>
          <p:cNvSpPr/>
          <p:nvPr/>
        </p:nvSpPr>
        <p:spPr>
          <a:xfrm>
            <a:off x="4297680" y="2286000"/>
            <a:ext cx="3493008" cy="2834640"/>
          </a:xfrm>
          <a:prstGeom prst="roundRect">
            <a:avLst>
              <a:gd name="adj" fmla="val 1935"/>
            </a:avLst>
          </a:prstGeom>
          <a:solidFill>
            <a:srgbClr val="F4F6F9"/>
          </a:solidFill>
          <a:ln w="12700">
            <a:solidFill>
              <a:srgbClr val="D6DCE5"/>
            </a:solidFill>
            <a:prstDash val="solid"/>
          </a:ln>
        </p:spPr>
      </p:sp>
      <p:sp>
        <p:nvSpPr>
          <p:cNvPr id="16" name="Text 14"/>
          <p:cNvSpPr/>
          <p:nvPr/>
        </p:nvSpPr>
        <p:spPr>
          <a:xfrm>
            <a:off x="4517136" y="2468880"/>
            <a:ext cx="3108960" cy="274320"/>
          </a:xfrm>
          <a:prstGeom prst="rect">
            <a:avLst/>
          </a:prstGeom>
          <a:noFill/>
          <a:ln/>
        </p:spPr>
        <p:txBody>
          <a:bodyPr wrap="square" lIns="0" tIns="0" rIns="0" bIns="0" rtlCol="0" anchor="ctr"/>
          <a:lstStyle/>
          <a:p>
            <a:pPr indent="0" marL="0">
              <a:buNone/>
            </a:pPr>
            <a:r>
              <a:rPr lang="en-US" sz="1300" b="1" dirty="0">
                <a:solidFill>
                  <a:srgbClr val="1B365D"/>
                </a:solidFill>
                <a:latin typeface="Calibri" pitchFamily="34" charset="0"/>
                <a:ea typeface="Calibri" pitchFamily="34" charset="-122"/>
                <a:cs typeface="Calibri" pitchFamily="34" charset="-120"/>
              </a:rPr>
              <a:t>Derived location features</a:t>
            </a:r>
            <a:endParaRPr lang="en-US" sz="1300" dirty="0"/>
          </a:p>
        </p:txBody>
      </p:sp>
      <p:sp>
        <p:nvSpPr>
          <p:cNvPr id="17" name="Text 15"/>
          <p:cNvSpPr/>
          <p:nvPr/>
        </p:nvSpPr>
        <p:spPr>
          <a:xfrm>
            <a:off x="4517136" y="2798064"/>
            <a:ext cx="3072384" cy="2103120"/>
          </a:xfrm>
          <a:prstGeom prst="rect">
            <a:avLst/>
          </a:prstGeom>
          <a:noFill/>
          <a:ln/>
        </p:spPr>
        <p:txBody>
          <a:bodyPr wrap="square" lIns="0" tIns="0" rIns="0" bIns="0" rtlCol="0" anchor="ctr"/>
          <a:lstStyle/>
          <a:p>
            <a:pPr marL="342900" indent="-342900">
              <a:lnSpc>
                <a:spcPts val="1500"/>
              </a:lnSpc>
              <a:spcAft>
                <a:spcPts val="600"/>
              </a:spcAft>
              <a:buSzPct val="100000"/>
              <a:buChar char="•"/>
            </a:pPr>
            <a:r>
              <a:rPr lang="en-US" sz="1150" dirty="0">
                <a:solidFill>
                  <a:srgbClr val="1F2430"/>
                </a:solidFill>
                <a:latin typeface="Calibri" pitchFamily="34" charset="0"/>
                <a:ea typeface="Calibri" pitchFamily="34" charset="-122"/>
                <a:cs typeface="Calibri" pitchFamily="34" charset="-120"/>
              </a:rPr>
              <a:t>Locality-level median price</a:t>
            </a:r>
            <a:endParaRPr lang="en-US" sz="1150" dirty="0"/>
          </a:p>
          <a:p>
            <a:pPr marL="342900" indent="-342900">
              <a:lnSpc>
                <a:spcPts val="1500"/>
              </a:lnSpc>
              <a:spcAft>
                <a:spcPts val="600"/>
              </a:spcAft>
              <a:buSzPct val="100000"/>
              <a:buChar char="•"/>
            </a:pPr>
            <a:r>
              <a:rPr lang="en-US" sz="1150" dirty="0">
                <a:solidFill>
                  <a:srgbClr val="1F2430"/>
                </a:solidFill>
                <a:latin typeface="Calibri" pitchFamily="34" charset="0"/>
                <a:ea typeface="Calibri" pitchFamily="34" charset="-122"/>
                <a:cs typeface="Calibri" pitchFamily="34" charset="-120"/>
              </a:rPr>
              <a:t>Locality-level record count</a:t>
            </a:r>
            <a:endParaRPr lang="en-US" sz="1150" dirty="0"/>
          </a:p>
          <a:p>
            <a:pPr marL="342900" indent="-342900">
              <a:lnSpc>
                <a:spcPts val="1500"/>
              </a:lnSpc>
              <a:spcAft>
                <a:spcPts val="600"/>
              </a:spcAft>
              <a:buSzPct val="100000"/>
              <a:buChar char="•"/>
            </a:pPr>
            <a:r>
              <a:rPr lang="en-US" sz="1150" dirty="0">
                <a:solidFill>
                  <a:srgbClr val="1F2430"/>
                </a:solidFill>
                <a:latin typeface="Calibri" pitchFamily="34" charset="0"/>
                <a:ea typeface="Calibri" pitchFamily="34" charset="-122"/>
                <a:cs typeface="Calibri" pitchFamily="34" charset="-120"/>
              </a:rPr>
              <a:t>Administrative ward and zone</a:t>
            </a:r>
            <a:endParaRPr lang="en-US" sz="1150" dirty="0"/>
          </a:p>
        </p:txBody>
      </p:sp>
      <p:sp>
        <p:nvSpPr>
          <p:cNvPr id="18" name="Shape 16"/>
          <p:cNvSpPr/>
          <p:nvPr/>
        </p:nvSpPr>
        <p:spPr>
          <a:xfrm>
            <a:off x="8028432" y="2286000"/>
            <a:ext cx="3493008" cy="2834640"/>
          </a:xfrm>
          <a:prstGeom prst="roundRect">
            <a:avLst>
              <a:gd name="adj" fmla="val 1935"/>
            </a:avLst>
          </a:prstGeom>
          <a:solidFill>
            <a:srgbClr val="F4F6F9"/>
          </a:solidFill>
          <a:ln w="12700">
            <a:solidFill>
              <a:srgbClr val="D6DCE5"/>
            </a:solidFill>
            <a:prstDash val="solid"/>
          </a:ln>
        </p:spPr>
      </p:sp>
      <p:sp>
        <p:nvSpPr>
          <p:cNvPr id="19" name="Text 17"/>
          <p:cNvSpPr/>
          <p:nvPr/>
        </p:nvSpPr>
        <p:spPr>
          <a:xfrm>
            <a:off x="8247888" y="2468880"/>
            <a:ext cx="3108960" cy="274320"/>
          </a:xfrm>
          <a:prstGeom prst="rect">
            <a:avLst/>
          </a:prstGeom>
          <a:noFill/>
          <a:ln/>
        </p:spPr>
        <p:txBody>
          <a:bodyPr wrap="square" lIns="0" tIns="0" rIns="0" bIns="0" rtlCol="0" anchor="ctr"/>
          <a:lstStyle/>
          <a:p>
            <a:pPr indent="0" marL="0">
              <a:buNone/>
            </a:pPr>
            <a:r>
              <a:rPr lang="en-US" sz="1300" b="1" dirty="0">
                <a:solidFill>
                  <a:srgbClr val="1B365D"/>
                </a:solidFill>
                <a:latin typeface="Calibri" pitchFamily="34" charset="0"/>
                <a:ea typeface="Calibri" pitchFamily="34" charset="-122"/>
                <a:cs typeface="Calibri" pitchFamily="34" charset="-120"/>
              </a:rPr>
              <a:t>Derived accessibility features</a:t>
            </a:r>
            <a:endParaRPr lang="en-US" sz="1300" dirty="0"/>
          </a:p>
        </p:txBody>
      </p:sp>
      <p:sp>
        <p:nvSpPr>
          <p:cNvPr id="20" name="Text 18"/>
          <p:cNvSpPr/>
          <p:nvPr/>
        </p:nvSpPr>
        <p:spPr>
          <a:xfrm>
            <a:off x="8247888" y="2798064"/>
            <a:ext cx="3072384" cy="2103120"/>
          </a:xfrm>
          <a:prstGeom prst="rect">
            <a:avLst/>
          </a:prstGeom>
          <a:noFill/>
          <a:ln/>
        </p:spPr>
        <p:txBody>
          <a:bodyPr wrap="square" lIns="0" tIns="0" rIns="0" bIns="0" rtlCol="0" anchor="ctr"/>
          <a:lstStyle/>
          <a:p>
            <a:pPr marL="342900" indent="-342900">
              <a:lnSpc>
                <a:spcPts val="1500"/>
              </a:lnSpc>
              <a:spcAft>
                <a:spcPts val="600"/>
              </a:spcAft>
              <a:buSzPct val="100000"/>
              <a:buChar char="•"/>
            </a:pPr>
            <a:r>
              <a:rPr lang="en-US" sz="1150" dirty="0">
                <a:solidFill>
                  <a:srgbClr val="1F2430"/>
                </a:solidFill>
                <a:latin typeface="Calibri" pitchFamily="34" charset="0"/>
                <a:ea typeface="Calibri" pitchFamily="34" charset="-122"/>
                <a:cs typeface="Calibri" pitchFamily="34" charset="-120"/>
              </a:rPr>
              <a:t>Distance to nearest metro station</a:t>
            </a:r>
            <a:endParaRPr lang="en-US" sz="1150" dirty="0"/>
          </a:p>
          <a:p>
            <a:pPr marL="342900" indent="-342900">
              <a:lnSpc>
                <a:spcPts val="1500"/>
              </a:lnSpc>
              <a:spcAft>
                <a:spcPts val="600"/>
              </a:spcAft>
              <a:buSzPct val="100000"/>
              <a:buChar char="•"/>
            </a:pPr>
            <a:r>
              <a:rPr lang="en-US" sz="1150" dirty="0">
                <a:solidFill>
                  <a:srgbClr val="1F2430"/>
                </a:solidFill>
                <a:latin typeface="Calibri" pitchFamily="34" charset="0"/>
                <a:ea typeface="Calibri" pitchFamily="34" charset="-122"/>
                <a:cs typeface="Calibri" pitchFamily="34" charset="-120"/>
              </a:rPr>
              <a:t>Distance to nearest railway station</a:t>
            </a:r>
            <a:endParaRPr lang="en-US" sz="1150" dirty="0"/>
          </a:p>
          <a:p>
            <a:pPr marL="342900" indent="-342900">
              <a:lnSpc>
                <a:spcPts val="1500"/>
              </a:lnSpc>
              <a:spcAft>
                <a:spcPts val="600"/>
              </a:spcAft>
              <a:buSzPct val="100000"/>
              <a:buChar char="•"/>
            </a:pPr>
            <a:r>
              <a:rPr lang="en-US" sz="1150" dirty="0">
                <a:solidFill>
                  <a:srgbClr val="1F2430"/>
                </a:solidFill>
                <a:latin typeface="Calibri" pitchFamily="34" charset="0"/>
                <a:ea typeface="Calibri" pitchFamily="34" charset="-122"/>
                <a:cs typeface="Calibri" pitchFamily="34" charset="-120"/>
              </a:rPr>
              <a:t>Distance to nearest bus stop</a:t>
            </a:r>
            <a:endParaRPr lang="en-US" sz="1150" dirty="0"/>
          </a:p>
          <a:p>
            <a:pPr marL="342900" indent="-342900">
              <a:lnSpc>
                <a:spcPts val="1500"/>
              </a:lnSpc>
              <a:spcAft>
                <a:spcPts val="600"/>
              </a:spcAft>
              <a:buSzPct val="100000"/>
              <a:buChar char="•"/>
            </a:pPr>
            <a:r>
              <a:rPr lang="en-US" sz="1150" dirty="0">
                <a:solidFill>
                  <a:srgbClr val="1F2430"/>
                </a:solidFill>
                <a:latin typeface="Calibri" pitchFamily="34" charset="0"/>
                <a:ea typeface="Calibri" pitchFamily="34" charset="-122"/>
                <a:cs typeface="Calibri" pitchFamily="34" charset="-120"/>
              </a:rPr>
              <a:t>Distance to nearest hospital and school</a:t>
            </a:r>
            <a:endParaRPr lang="en-US" sz="1150" dirty="0"/>
          </a:p>
          <a:p>
            <a:pPr marL="342900" indent="-342900">
              <a:lnSpc>
                <a:spcPts val="1500"/>
              </a:lnSpc>
              <a:spcAft>
                <a:spcPts val="600"/>
              </a:spcAft>
              <a:buSzPct val="100000"/>
              <a:buChar char="•"/>
            </a:pPr>
            <a:r>
              <a:rPr lang="en-US" sz="1150" dirty="0">
                <a:solidFill>
                  <a:srgbClr val="1F2430"/>
                </a:solidFill>
                <a:latin typeface="Calibri" pitchFamily="34" charset="0"/>
                <a:ea typeface="Calibri" pitchFamily="34" charset="-122"/>
                <a:cs typeface="Calibri" pitchFamily="34" charset="-120"/>
              </a:rPr>
              <a:t>Count of amenities within a fixed radius</a:t>
            </a:r>
            <a:endParaRPr lang="en-US" sz="1150" dirty="0"/>
          </a:p>
        </p:txBody>
      </p:sp>
      <p:sp>
        <p:nvSpPr>
          <p:cNvPr id="21" name="Text 19"/>
          <p:cNvSpPr/>
          <p:nvPr/>
        </p:nvSpPr>
        <p:spPr>
          <a:xfrm>
            <a:off x="566928" y="5340096"/>
            <a:ext cx="11027664" cy="548640"/>
          </a:xfrm>
          <a:prstGeom prst="rect">
            <a:avLst/>
          </a:prstGeom>
          <a:noFill/>
          <a:ln/>
        </p:spPr>
        <p:txBody>
          <a:bodyPr wrap="square" lIns="0" tIns="0" rIns="0" bIns="0" rtlCol="0" anchor="ctr"/>
          <a:lstStyle/>
          <a:p>
            <a:pPr indent="0" marL="0">
              <a:lnSpc>
                <a:spcPts val="1700"/>
              </a:lnSpc>
              <a:buNone/>
            </a:pPr>
            <a:r>
              <a:rPr lang="en-US" sz="1200" i="1" dirty="0">
                <a:solidFill>
                  <a:srgbClr val="5C6675"/>
                </a:solidFill>
                <a:latin typeface="Calibri" pitchFamily="34" charset="0"/>
                <a:ea typeface="Calibri" pitchFamily="34" charset="-122"/>
                <a:cs typeface="Calibri" pitchFamily="34" charset="-120"/>
              </a:rPr>
              <a:t>The final feature set will depend on data availability and on the results of preprocessing. Features derived from the target variable will be excluded to avoid target leakage.</a:t>
            </a:r>
            <a:endParaRPr lang="en-US" sz="1200" dirty="0"/>
          </a:p>
        </p:txBody>
      </p:sp>
      <p:sp>
        <p:nvSpPr>
          <p:cNvPr id="22" name="Text 20"/>
          <p:cNvSpPr/>
          <p:nvPr/>
        </p:nvSpPr>
        <p:spPr>
          <a:xfrm>
            <a:off x="11045952" y="6419088"/>
            <a:ext cx="548640" cy="256032"/>
          </a:xfrm>
          <a:prstGeom prst="rect">
            <a:avLst/>
          </a:prstGeom>
          <a:noFill/>
          <a:ln/>
        </p:spPr>
        <p:txBody>
          <a:bodyPr wrap="square" lIns="0" tIns="0" rIns="0" bIns="0" rtlCol="0" anchor="ctr"/>
          <a:lstStyle/>
          <a:p>
            <a:pPr algn="r" indent="0" marL="0">
              <a:buNone/>
            </a:pPr>
            <a:r>
              <a:rPr lang="en-US" sz="1000" dirty="0">
                <a:solidFill>
                  <a:srgbClr val="5C6675"/>
                </a:solidFill>
                <a:latin typeface="Calibri" pitchFamily="34" charset="0"/>
                <a:ea typeface="Calibri" pitchFamily="34" charset="-122"/>
                <a:cs typeface="Calibri" pitchFamily="34" charset="-120"/>
              </a:rPr>
              <a:t>13</a:t>
            </a:r>
            <a:endParaRPr lang="en-US" sz="1000" dirty="0"/>
          </a:p>
        </p:txBody>
      </p:sp>
      <p:sp>
        <p:nvSpPr>
          <p:cNvPr id="23" name="Text 21"/>
          <p:cNvSpPr/>
          <p:nvPr/>
        </p:nvSpPr>
        <p:spPr>
          <a:xfrm>
            <a:off x="566928" y="6419088"/>
            <a:ext cx="7315200" cy="256032"/>
          </a:xfrm>
          <a:prstGeom prst="rect">
            <a:avLst/>
          </a:prstGeom>
          <a:noFill/>
          <a:ln/>
        </p:spPr>
        <p:txBody>
          <a:bodyPr wrap="square" lIns="0" tIns="0" rIns="0" bIns="0" rtlCol="0" anchor="ctr"/>
          <a:lstStyle/>
          <a:p>
            <a:pPr indent="0" marL="0">
              <a:buNone/>
            </a:pPr>
            <a:r>
              <a:rPr lang="en-US" sz="1000" dirty="0">
                <a:solidFill>
                  <a:srgbClr val="5C6675"/>
                </a:solidFill>
                <a:latin typeface="Calibri" pitchFamily="34" charset="0"/>
                <a:ea typeface="Calibri" pitchFamily="34" charset="-122"/>
                <a:cs typeface="Calibri" pitchFamily="34" charset="-120"/>
              </a:rPr>
              <a:t>Project Review 1  ·  B.Tech CSE (AI &amp; ML)  ·  SRMIST</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8229600" cy="237744"/>
          </a:xfrm>
          <a:prstGeom prst="rect">
            <a:avLst/>
          </a:prstGeom>
          <a:noFill/>
          <a:ln/>
        </p:spPr>
        <p:txBody>
          <a:bodyPr wrap="square" lIns="0" tIns="0" rIns="0" bIns="0" rtlCol="0" anchor="ctr"/>
          <a:lstStyle/>
          <a:p>
            <a:pPr indent="0" marL="0">
              <a:buNone/>
            </a:pPr>
            <a:r>
              <a:rPr lang="en-US" sz="1100" b="1" spc="160" kern="0" dirty="0">
                <a:solidFill>
                  <a:srgbClr val="C2703A"/>
                </a:solidFill>
                <a:latin typeface="Calibri" pitchFamily="34" charset="0"/>
                <a:ea typeface="Calibri" pitchFamily="34" charset="-122"/>
                <a:cs typeface="Calibri" pitchFamily="34" charset="-120"/>
              </a:rPr>
              <a:t>WORKFLOW</a:t>
            </a:r>
            <a:endParaRPr lang="en-US" sz="1100" dirty="0"/>
          </a:p>
        </p:txBody>
      </p:sp>
      <p:sp>
        <p:nvSpPr>
          <p:cNvPr id="3" name="Text 1"/>
          <p:cNvSpPr/>
          <p:nvPr/>
        </p:nvSpPr>
        <p:spPr>
          <a:xfrm>
            <a:off x="566928" y="566928"/>
            <a:ext cx="11027664" cy="566928"/>
          </a:xfrm>
          <a:prstGeom prst="rect">
            <a:avLst/>
          </a:prstGeom>
          <a:noFill/>
          <a:ln/>
        </p:spPr>
        <p:txBody>
          <a:bodyPr wrap="square" lIns="0" tIns="0" rIns="0" bIns="0" rtlCol="0" anchor="ctr"/>
          <a:lstStyle/>
          <a:p>
            <a:pPr indent="0" marL="0">
              <a:buNone/>
            </a:pPr>
            <a:r>
              <a:rPr lang="en-US" sz="3000" b="1" dirty="0">
                <a:solidFill>
                  <a:srgbClr val="1B365D"/>
                </a:solidFill>
                <a:latin typeface="Cambria" pitchFamily="34" charset="0"/>
                <a:ea typeface="Cambria" pitchFamily="34" charset="-122"/>
                <a:cs typeface="Cambria" pitchFamily="34" charset="-120"/>
              </a:rPr>
              <a:t>Proposed Machine Learning Methodology</a:t>
            </a:r>
            <a:endParaRPr lang="en-US" sz="3000" dirty="0"/>
          </a:p>
        </p:txBody>
      </p:sp>
      <p:sp>
        <p:nvSpPr>
          <p:cNvPr id="4" name="Shape 2"/>
          <p:cNvSpPr/>
          <p:nvPr/>
        </p:nvSpPr>
        <p:spPr>
          <a:xfrm>
            <a:off x="566928" y="1481328"/>
            <a:ext cx="3200400" cy="566928"/>
          </a:xfrm>
          <a:prstGeom prst="roundRect">
            <a:avLst>
              <a:gd name="adj" fmla="val 8065"/>
            </a:avLst>
          </a:prstGeom>
          <a:solidFill>
            <a:srgbClr val="F4F6F9"/>
          </a:solidFill>
          <a:ln w="15240">
            <a:solidFill>
              <a:srgbClr val="D6DCE5"/>
            </a:solidFill>
            <a:prstDash val="solid"/>
          </a:ln>
        </p:spPr>
      </p:sp>
      <p:sp>
        <p:nvSpPr>
          <p:cNvPr id="5" name="Text 3"/>
          <p:cNvSpPr/>
          <p:nvPr/>
        </p:nvSpPr>
        <p:spPr>
          <a:xfrm>
            <a:off x="713232" y="1481328"/>
            <a:ext cx="2926080" cy="566928"/>
          </a:xfrm>
          <a:prstGeom prst="rect">
            <a:avLst/>
          </a:prstGeom>
          <a:noFill/>
          <a:ln/>
        </p:spPr>
        <p:txBody>
          <a:bodyPr wrap="square" lIns="0" tIns="0" rIns="0" bIns="0" rtlCol="0" anchor="ctr"/>
          <a:lstStyle/>
          <a:p>
            <a:pPr indent="0" marL="0">
              <a:buNone/>
            </a:pPr>
            <a:r>
              <a:rPr lang="en-US" sz="1250" dirty="0">
                <a:solidFill>
                  <a:srgbClr val="1F2430"/>
                </a:solidFill>
                <a:latin typeface="Calibri" pitchFamily="34" charset="0"/>
                <a:ea typeface="Calibri" pitchFamily="34" charset="-122"/>
                <a:cs typeface="Calibri" pitchFamily="34" charset="-120"/>
              </a:rPr>
              <a:t>1.  Dataset</a:t>
            </a:r>
            <a:endParaRPr lang="en-US" sz="1250" dirty="0"/>
          </a:p>
        </p:txBody>
      </p:sp>
      <p:sp>
        <p:nvSpPr>
          <p:cNvPr id="6" name="Shape 4"/>
          <p:cNvSpPr/>
          <p:nvPr/>
        </p:nvSpPr>
        <p:spPr>
          <a:xfrm>
            <a:off x="2167128" y="2084832"/>
            <a:ext cx="0" cy="201168"/>
          </a:xfrm>
          <a:prstGeom prst="line">
            <a:avLst/>
          </a:prstGeom>
          <a:noFill/>
          <a:ln w="15240">
            <a:solidFill>
              <a:srgbClr val="5C6675"/>
            </a:solidFill>
            <a:prstDash val="solid"/>
            <a:tailEnd type="triangle"/>
          </a:ln>
        </p:spPr>
      </p:sp>
      <p:sp>
        <p:nvSpPr>
          <p:cNvPr id="7" name="Shape 5"/>
          <p:cNvSpPr/>
          <p:nvPr/>
        </p:nvSpPr>
        <p:spPr>
          <a:xfrm>
            <a:off x="566928" y="2322576"/>
            <a:ext cx="3200400" cy="566928"/>
          </a:xfrm>
          <a:prstGeom prst="roundRect">
            <a:avLst>
              <a:gd name="adj" fmla="val 8065"/>
            </a:avLst>
          </a:prstGeom>
          <a:solidFill>
            <a:srgbClr val="F4F6F9"/>
          </a:solidFill>
          <a:ln w="15240">
            <a:solidFill>
              <a:srgbClr val="D6DCE5"/>
            </a:solidFill>
            <a:prstDash val="solid"/>
          </a:ln>
        </p:spPr>
      </p:sp>
      <p:sp>
        <p:nvSpPr>
          <p:cNvPr id="8" name="Text 6"/>
          <p:cNvSpPr/>
          <p:nvPr/>
        </p:nvSpPr>
        <p:spPr>
          <a:xfrm>
            <a:off x="713232" y="2322576"/>
            <a:ext cx="2926080" cy="566928"/>
          </a:xfrm>
          <a:prstGeom prst="rect">
            <a:avLst/>
          </a:prstGeom>
          <a:noFill/>
          <a:ln/>
        </p:spPr>
        <p:txBody>
          <a:bodyPr wrap="square" lIns="0" tIns="0" rIns="0" bIns="0" rtlCol="0" anchor="ctr"/>
          <a:lstStyle/>
          <a:p>
            <a:pPr indent="0" marL="0">
              <a:buNone/>
            </a:pPr>
            <a:r>
              <a:rPr lang="en-US" sz="1250" dirty="0">
                <a:solidFill>
                  <a:srgbClr val="1F2430"/>
                </a:solidFill>
                <a:latin typeface="Calibri" pitchFamily="34" charset="0"/>
                <a:ea typeface="Calibri" pitchFamily="34" charset="-122"/>
                <a:cs typeface="Calibri" pitchFamily="34" charset="-120"/>
              </a:rPr>
              <a:t>2.  Data Cleaning</a:t>
            </a:r>
            <a:endParaRPr lang="en-US" sz="1250" dirty="0"/>
          </a:p>
        </p:txBody>
      </p:sp>
      <p:sp>
        <p:nvSpPr>
          <p:cNvPr id="9" name="Shape 7"/>
          <p:cNvSpPr/>
          <p:nvPr/>
        </p:nvSpPr>
        <p:spPr>
          <a:xfrm>
            <a:off x="2167128" y="2926080"/>
            <a:ext cx="0" cy="201168"/>
          </a:xfrm>
          <a:prstGeom prst="line">
            <a:avLst/>
          </a:prstGeom>
          <a:noFill/>
          <a:ln w="15240">
            <a:solidFill>
              <a:srgbClr val="5C6675"/>
            </a:solidFill>
            <a:prstDash val="solid"/>
            <a:tailEnd type="triangle"/>
          </a:ln>
        </p:spPr>
      </p:sp>
      <p:sp>
        <p:nvSpPr>
          <p:cNvPr id="10" name="Shape 8"/>
          <p:cNvSpPr/>
          <p:nvPr/>
        </p:nvSpPr>
        <p:spPr>
          <a:xfrm>
            <a:off x="566928" y="3163824"/>
            <a:ext cx="3200400" cy="566928"/>
          </a:xfrm>
          <a:prstGeom prst="roundRect">
            <a:avLst>
              <a:gd name="adj" fmla="val 8065"/>
            </a:avLst>
          </a:prstGeom>
          <a:solidFill>
            <a:srgbClr val="F4F6F9"/>
          </a:solidFill>
          <a:ln w="15240">
            <a:solidFill>
              <a:srgbClr val="D6DCE5"/>
            </a:solidFill>
            <a:prstDash val="solid"/>
          </a:ln>
        </p:spPr>
      </p:sp>
      <p:sp>
        <p:nvSpPr>
          <p:cNvPr id="11" name="Text 9"/>
          <p:cNvSpPr/>
          <p:nvPr/>
        </p:nvSpPr>
        <p:spPr>
          <a:xfrm>
            <a:off x="713232" y="3163824"/>
            <a:ext cx="2926080" cy="566928"/>
          </a:xfrm>
          <a:prstGeom prst="rect">
            <a:avLst/>
          </a:prstGeom>
          <a:noFill/>
          <a:ln/>
        </p:spPr>
        <p:txBody>
          <a:bodyPr wrap="square" lIns="0" tIns="0" rIns="0" bIns="0" rtlCol="0" anchor="ctr"/>
          <a:lstStyle/>
          <a:p>
            <a:pPr indent="0" marL="0">
              <a:buNone/>
            </a:pPr>
            <a:r>
              <a:rPr lang="en-US" sz="1250" dirty="0">
                <a:solidFill>
                  <a:srgbClr val="1F2430"/>
                </a:solidFill>
                <a:latin typeface="Calibri" pitchFamily="34" charset="0"/>
                <a:ea typeface="Calibri" pitchFamily="34" charset="-122"/>
                <a:cs typeface="Calibri" pitchFamily="34" charset="-120"/>
              </a:rPr>
              <a:t>3.  Exploratory Data Analysis</a:t>
            </a:r>
            <a:endParaRPr lang="en-US" sz="1250" dirty="0"/>
          </a:p>
        </p:txBody>
      </p:sp>
      <p:sp>
        <p:nvSpPr>
          <p:cNvPr id="12" name="Shape 10"/>
          <p:cNvSpPr/>
          <p:nvPr/>
        </p:nvSpPr>
        <p:spPr>
          <a:xfrm>
            <a:off x="2167128" y="3767328"/>
            <a:ext cx="0" cy="201168"/>
          </a:xfrm>
          <a:prstGeom prst="line">
            <a:avLst/>
          </a:prstGeom>
          <a:noFill/>
          <a:ln w="15240">
            <a:solidFill>
              <a:srgbClr val="5C6675"/>
            </a:solidFill>
            <a:prstDash val="solid"/>
            <a:tailEnd type="triangle"/>
          </a:ln>
        </p:spPr>
      </p:sp>
      <p:sp>
        <p:nvSpPr>
          <p:cNvPr id="13" name="Shape 11"/>
          <p:cNvSpPr/>
          <p:nvPr/>
        </p:nvSpPr>
        <p:spPr>
          <a:xfrm>
            <a:off x="566928" y="4005072"/>
            <a:ext cx="3200400" cy="566928"/>
          </a:xfrm>
          <a:prstGeom prst="roundRect">
            <a:avLst>
              <a:gd name="adj" fmla="val 8065"/>
            </a:avLst>
          </a:prstGeom>
          <a:solidFill>
            <a:srgbClr val="F4F6F9"/>
          </a:solidFill>
          <a:ln w="15240">
            <a:solidFill>
              <a:srgbClr val="D6DCE5"/>
            </a:solidFill>
            <a:prstDash val="solid"/>
          </a:ln>
        </p:spPr>
      </p:sp>
      <p:sp>
        <p:nvSpPr>
          <p:cNvPr id="14" name="Text 12"/>
          <p:cNvSpPr/>
          <p:nvPr/>
        </p:nvSpPr>
        <p:spPr>
          <a:xfrm>
            <a:off x="713232" y="4005072"/>
            <a:ext cx="2926080" cy="566928"/>
          </a:xfrm>
          <a:prstGeom prst="rect">
            <a:avLst/>
          </a:prstGeom>
          <a:noFill/>
          <a:ln/>
        </p:spPr>
        <p:txBody>
          <a:bodyPr wrap="square" lIns="0" tIns="0" rIns="0" bIns="0" rtlCol="0" anchor="ctr"/>
          <a:lstStyle/>
          <a:p>
            <a:pPr indent="0" marL="0">
              <a:buNone/>
            </a:pPr>
            <a:r>
              <a:rPr lang="en-US" sz="1250" dirty="0">
                <a:solidFill>
                  <a:srgbClr val="1F2430"/>
                </a:solidFill>
                <a:latin typeface="Calibri" pitchFamily="34" charset="0"/>
                <a:ea typeface="Calibri" pitchFamily="34" charset="-122"/>
                <a:cs typeface="Calibri" pitchFamily="34" charset="-120"/>
              </a:rPr>
              <a:t>4.  Feature Engineering</a:t>
            </a:r>
            <a:endParaRPr lang="en-US" sz="1250" dirty="0"/>
          </a:p>
        </p:txBody>
      </p:sp>
      <p:sp>
        <p:nvSpPr>
          <p:cNvPr id="15" name="Shape 13"/>
          <p:cNvSpPr/>
          <p:nvPr/>
        </p:nvSpPr>
        <p:spPr>
          <a:xfrm>
            <a:off x="2167128" y="4608576"/>
            <a:ext cx="0" cy="201168"/>
          </a:xfrm>
          <a:prstGeom prst="line">
            <a:avLst/>
          </a:prstGeom>
          <a:noFill/>
          <a:ln w="15240">
            <a:solidFill>
              <a:srgbClr val="5C6675"/>
            </a:solidFill>
            <a:prstDash val="solid"/>
            <a:tailEnd type="triangle"/>
          </a:ln>
        </p:spPr>
      </p:sp>
      <p:sp>
        <p:nvSpPr>
          <p:cNvPr id="16" name="Shape 14"/>
          <p:cNvSpPr/>
          <p:nvPr/>
        </p:nvSpPr>
        <p:spPr>
          <a:xfrm>
            <a:off x="566928" y="4846320"/>
            <a:ext cx="3200400" cy="566928"/>
          </a:xfrm>
          <a:prstGeom prst="roundRect">
            <a:avLst>
              <a:gd name="adj" fmla="val 8065"/>
            </a:avLst>
          </a:prstGeom>
          <a:solidFill>
            <a:srgbClr val="F4F6F9"/>
          </a:solidFill>
          <a:ln w="15240">
            <a:solidFill>
              <a:srgbClr val="D6DCE5"/>
            </a:solidFill>
            <a:prstDash val="solid"/>
          </a:ln>
        </p:spPr>
      </p:sp>
      <p:sp>
        <p:nvSpPr>
          <p:cNvPr id="17" name="Text 15"/>
          <p:cNvSpPr/>
          <p:nvPr/>
        </p:nvSpPr>
        <p:spPr>
          <a:xfrm>
            <a:off x="713232" y="4846320"/>
            <a:ext cx="2926080" cy="566928"/>
          </a:xfrm>
          <a:prstGeom prst="rect">
            <a:avLst/>
          </a:prstGeom>
          <a:noFill/>
          <a:ln/>
        </p:spPr>
        <p:txBody>
          <a:bodyPr wrap="square" lIns="0" tIns="0" rIns="0" bIns="0" rtlCol="0" anchor="ctr"/>
          <a:lstStyle/>
          <a:p>
            <a:pPr indent="0" marL="0">
              <a:buNone/>
            </a:pPr>
            <a:r>
              <a:rPr lang="en-US" sz="1250" dirty="0">
                <a:solidFill>
                  <a:srgbClr val="1F2430"/>
                </a:solidFill>
                <a:latin typeface="Calibri" pitchFamily="34" charset="0"/>
                <a:ea typeface="Calibri" pitchFamily="34" charset="-122"/>
                <a:cs typeface="Calibri" pitchFamily="34" charset="-120"/>
              </a:rPr>
              <a:t>5.  Feature Selection</a:t>
            </a:r>
            <a:endParaRPr lang="en-US" sz="1250" dirty="0"/>
          </a:p>
        </p:txBody>
      </p:sp>
      <p:sp>
        <p:nvSpPr>
          <p:cNvPr id="18" name="Shape 16"/>
          <p:cNvSpPr/>
          <p:nvPr/>
        </p:nvSpPr>
        <p:spPr>
          <a:xfrm>
            <a:off x="4315968" y="1481328"/>
            <a:ext cx="3200400" cy="566928"/>
          </a:xfrm>
          <a:prstGeom prst="roundRect">
            <a:avLst>
              <a:gd name="adj" fmla="val 8065"/>
            </a:avLst>
          </a:prstGeom>
          <a:solidFill>
            <a:srgbClr val="F4F6F9"/>
          </a:solidFill>
          <a:ln w="15240">
            <a:solidFill>
              <a:srgbClr val="D6DCE5"/>
            </a:solidFill>
            <a:prstDash val="solid"/>
          </a:ln>
        </p:spPr>
      </p:sp>
      <p:sp>
        <p:nvSpPr>
          <p:cNvPr id="19" name="Text 17"/>
          <p:cNvSpPr/>
          <p:nvPr/>
        </p:nvSpPr>
        <p:spPr>
          <a:xfrm>
            <a:off x="4462272" y="1481328"/>
            <a:ext cx="2926080" cy="566928"/>
          </a:xfrm>
          <a:prstGeom prst="rect">
            <a:avLst/>
          </a:prstGeom>
          <a:noFill/>
          <a:ln/>
        </p:spPr>
        <p:txBody>
          <a:bodyPr wrap="square" lIns="0" tIns="0" rIns="0" bIns="0" rtlCol="0" anchor="ctr"/>
          <a:lstStyle/>
          <a:p>
            <a:pPr indent="0" marL="0">
              <a:buNone/>
            </a:pPr>
            <a:r>
              <a:rPr lang="en-US" sz="1250" dirty="0">
                <a:solidFill>
                  <a:srgbClr val="1F2430"/>
                </a:solidFill>
                <a:latin typeface="Calibri" pitchFamily="34" charset="0"/>
                <a:ea typeface="Calibri" pitchFamily="34" charset="-122"/>
                <a:cs typeface="Calibri" pitchFamily="34" charset="-120"/>
              </a:rPr>
              <a:t>6.  Train / Validation / Test Split</a:t>
            </a:r>
            <a:endParaRPr lang="en-US" sz="1250" dirty="0"/>
          </a:p>
        </p:txBody>
      </p:sp>
      <p:sp>
        <p:nvSpPr>
          <p:cNvPr id="20" name="Shape 18"/>
          <p:cNvSpPr/>
          <p:nvPr/>
        </p:nvSpPr>
        <p:spPr>
          <a:xfrm>
            <a:off x="5916168" y="2084832"/>
            <a:ext cx="0" cy="201168"/>
          </a:xfrm>
          <a:prstGeom prst="line">
            <a:avLst/>
          </a:prstGeom>
          <a:noFill/>
          <a:ln w="15240">
            <a:solidFill>
              <a:srgbClr val="5C6675"/>
            </a:solidFill>
            <a:prstDash val="solid"/>
            <a:tailEnd type="triangle"/>
          </a:ln>
        </p:spPr>
      </p:sp>
      <p:sp>
        <p:nvSpPr>
          <p:cNvPr id="21" name="Shape 19"/>
          <p:cNvSpPr/>
          <p:nvPr/>
        </p:nvSpPr>
        <p:spPr>
          <a:xfrm>
            <a:off x="4315968" y="2322576"/>
            <a:ext cx="3200400" cy="566928"/>
          </a:xfrm>
          <a:prstGeom prst="roundRect">
            <a:avLst>
              <a:gd name="adj" fmla="val 8065"/>
            </a:avLst>
          </a:prstGeom>
          <a:solidFill>
            <a:srgbClr val="F4F6F9"/>
          </a:solidFill>
          <a:ln w="15240">
            <a:solidFill>
              <a:srgbClr val="D6DCE5"/>
            </a:solidFill>
            <a:prstDash val="solid"/>
          </a:ln>
        </p:spPr>
      </p:sp>
      <p:sp>
        <p:nvSpPr>
          <p:cNvPr id="22" name="Text 20"/>
          <p:cNvSpPr/>
          <p:nvPr/>
        </p:nvSpPr>
        <p:spPr>
          <a:xfrm>
            <a:off x="4462272" y="2322576"/>
            <a:ext cx="2926080" cy="566928"/>
          </a:xfrm>
          <a:prstGeom prst="rect">
            <a:avLst/>
          </a:prstGeom>
          <a:noFill/>
          <a:ln/>
        </p:spPr>
        <p:txBody>
          <a:bodyPr wrap="square" lIns="0" tIns="0" rIns="0" bIns="0" rtlCol="0" anchor="ctr"/>
          <a:lstStyle/>
          <a:p>
            <a:pPr indent="0" marL="0">
              <a:buNone/>
            </a:pPr>
            <a:r>
              <a:rPr lang="en-US" sz="1250" dirty="0">
                <a:solidFill>
                  <a:srgbClr val="1F2430"/>
                </a:solidFill>
                <a:latin typeface="Calibri" pitchFamily="34" charset="0"/>
                <a:ea typeface="Calibri" pitchFamily="34" charset="-122"/>
                <a:cs typeface="Calibri" pitchFamily="34" charset="-120"/>
              </a:rPr>
              <a:t>7.  Model Training</a:t>
            </a:r>
            <a:endParaRPr lang="en-US" sz="1250" dirty="0"/>
          </a:p>
        </p:txBody>
      </p:sp>
      <p:sp>
        <p:nvSpPr>
          <p:cNvPr id="23" name="Shape 21"/>
          <p:cNvSpPr/>
          <p:nvPr/>
        </p:nvSpPr>
        <p:spPr>
          <a:xfrm>
            <a:off x="5916168" y="2926080"/>
            <a:ext cx="0" cy="201168"/>
          </a:xfrm>
          <a:prstGeom prst="line">
            <a:avLst/>
          </a:prstGeom>
          <a:noFill/>
          <a:ln w="15240">
            <a:solidFill>
              <a:srgbClr val="5C6675"/>
            </a:solidFill>
            <a:prstDash val="solid"/>
            <a:tailEnd type="triangle"/>
          </a:ln>
        </p:spPr>
      </p:sp>
      <p:sp>
        <p:nvSpPr>
          <p:cNvPr id="24" name="Shape 22"/>
          <p:cNvSpPr/>
          <p:nvPr/>
        </p:nvSpPr>
        <p:spPr>
          <a:xfrm>
            <a:off x="4315968" y="3163824"/>
            <a:ext cx="3200400" cy="566928"/>
          </a:xfrm>
          <a:prstGeom prst="roundRect">
            <a:avLst>
              <a:gd name="adj" fmla="val 8065"/>
            </a:avLst>
          </a:prstGeom>
          <a:solidFill>
            <a:srgbClr val="F4F6F9"/>
          </a:solidFill>
          <a:ln w="15240">
            <a:solidFill>
              <a:srgbClr val="D6DCE5"/>
            </a:solidFill>
            <a:prstDash val="solid"/>
          </a:ln>
        </p:spPr>
      </p:sp>
      <p:sp>
        <p:nvSpPr>
          <p:cNvPr id="25" name="Text 23"/>
          <p:cNvSpPr/>
          <p:nvPr/>
        </p:nvSpPr>
        <p:spPr>
          <a:xfrm>
            <a:off x="4462272" y="3163824"/>
            <a:ext cx="2926080" cy="566928"/>
          </a:xfrm>
          <a:prstGeom prst="rect">
            <a:avLst/>
          </a:prstGeom>
          <a:noFill/>
          <a:ln/>
        </p:spPr>
        <p:txBody>
          <a:bodyPr wrap="square" lIns="0" tIns="0" rIns="0" bIns="0" rtlCol="0" anchor="ctr"/>
          <a:lstStyle/>
          <a:p>
            <a:pPr indent="0" marL="0">
              <a:buNone/>
            </a:pPr>
            <a:r>
              <a:rPr lang="en-US" sz="1250" dirty="0">
                <a:solidFill>
                  <a:srgbClr val="1F2430"/>
                </a:solidFill>
                <a:latin typeface="Calibri" pitchFamily="34" charset="0"/>
                <a:ea typeface="Calibri" pitchFamily="34" charset="-122"/>
                <a:cs typeface="Calibri" pitchFamily="34" charset="-120"/>
              </a:rPr>
              <a:t>8.  Cross Validation</a:t>
            </a:r>
            <a:endParaRPr lang="en-US" sz="1250" dirty="0"/>
          </a:p>
        </p:txBody>
      </p:sp>
      <p:sp>
        <p:nvSpPr>
          <p:cNvPr id="26" name="Shape 24"/>
          <p:cNvSpPr/>
          <p:nvPr/>
        </p:nvSpPr>
        <p:spPr>
          <a:xfrm>
            <a:off x="5916168" y="3767328"/>
            <a:ext cx="0" cy="201168"/>
          </a:xfrm>
          <a:prstGeom prst="line">
            <a:avLst/>
          </a:prstGeom>
          <a:noFill/>
          <a:ln w="15240">
            <a:solidFill>
              <a:srgbClr val="5C6675"/>
            </a:solidFill>
            <a:prstDash val="solid"/>
            <a:tailEnd type="triangle"/>
          </a:ln>
        </p:spPr>
      </p:sp>
      <p:sp>
        <p:nvSpPr>
          <p:cNvPr id="27" name="Shape 25"/>
          <p:cNvSpPr/>
          <p:nvPr/>
        </p:nvSpPr>
        <p:spPr>
          <a:xfrm>
            <a:off x="4315968" y="4005072"/>
            <a:ext cx="3200400" cy="566928"/>
          </a:xfrm>
          <a:prstGeom prst="roundRect">
            <a:avLst>
              <a:gd name="adj" fmla="val 8065"/>
            </a:avLst>
          </a:prstGeom>
          <a:solidFill>
            <a:srgbClr val="F4F6F9"/>
          </a:solidFill>
          <a:ln w="15240">
            <a:solidFill>
              <a:srgbClr val="D6DCE5"/>
            </a:solidFill>
            <a:prstDash val="solid"/>
          </a:ln>
        </p:spPr>
      </p:sp>
      <p:sp>
        <p:nvSpPr>
          <p:cNvPr id="28" name="Text 26"/>
          <p:cNvSpPr/>
          <p:nvPr/>
        </p:nvSpPr>
        <p:spPr>
          <a:xfrm>
            <a:off x="4462272" y="4005072"/>
            <a:ext cx="2926080" cy="566928"/>
          </a:xfrm>
          <a:prstGeom prst="rect">
            <a:avLst/>
          </a:prstGeom>
          <a:noFill/>
          <a:ln/>
        </p:spPr>
        <p:txBody>
          <a:bodyPr wrap="square" lIns="0" tIns="0" rIns="0" bIns="0" rtlCol="0" anchor="ctr"/>
          <a:lstStyle/>
          <a:p>
            <a:pPr indent="0" marL="0">
              <a:buNone/>
            </a:pPr>
            <a:r>
              <a:rPr lang="en-US" sz="1250" dirty="0">
                <a:solidFill>
                  <a:srgbClr val="1F2430"/>
                </a:solidFill>
                <a:latin typeface="Calibri" pitchFamily="34" charset="0"/>
                <a:ea typeface="Calibri" pitchFamily="34" charset="-122"/>
                <a:cs typeface="Calibri" pitchFamily="34" charset="-120"/>
              </a:rPr>
              <a:t>9.  Hyperparameter Tuning</a:t>
            </a:r>
            <a:endParaRPr lang="en-US" sz="1250" dirty="0"/>
          </a:p>
        </p:txBody>
      </p:sp>
      <p:sp>
        <p:nvSpPr>
          <p:cNvPr id="29" name="Shape 27"/>
          <p:cNvSpPr/>
          <p:nvPr/>
        </p:nvSpPr>
        <p:spPr>
          <a:xfrm>
            <a:off x="5916168" y="4608576"/>
            <a:ext cx="0" cy="201168"/>
          </a:xfrm>
          <a:prstGeom prst="line">
            <a:avLst/>
          </a:prstGeom>
          <a:noFill/>
          <a:ln w="15240">
            <a:solidFill>
              <a:srgbClr val="5C6675"/>
            </a:solidFill>
            <a:prstDash val="solid"/>
            <a:tailEnd type="triangle"/>
          </a:ln>
        </p:spPr>
      </p:sp>
      <p:sp>
        <p:nvSpPr>
          <p:cNvPr id="30" name="Shape 28"/>
          <p:cNvSpPr/>
          <p:nvPr/>
        </p:nvSpPr>
        <p:spPr>
          <a:xfrm>
            <a:off x="4315968" y="4846320"/>
            <a:ext cx="3200400" cy="566928"/>
          </a:xfrm>
          <a:prstGeom prst="roundRect">
            <a:avLst>
              <a:gd name="adj" fmla="val 8065"/>
            </a:avLst>
          </a:prstGeom>
          <a:solidFill>
            <a:srgbClr val="F4F6F9"/>
          </a:solidFill>
          <a:ln w="15240">
            <a:solidFill>
              <a:srgbClr val="D6DCE5"/>
            </a:solidFill>
            <a:prstDash val="solid"/>
          </a:ln>
        </p:spPr>
      </p:sp>
      <p:sp>
        <p:nvSpPr>
          <p:cNvPr id="31" name="Text 29"/>
          <p:cNvSpPr/>
          <p:nvPr/>
        </p:nvSpPr>
        <p:spPr>
          <a:xfrm>
            <a:off x="4462272" y="4846320"/>
            <a:ext cx="2926080" cy="566928"/>
          </a:xfrm>
          <a:prstGeom prst="rect">
            <a:avLst/>
          </a:prstGeom>
          <a:noFill/>
          <a:ln/>
        </p:spPr>
        <p:txBody>
          <a:bodyPr wrap="square" lIns="0" tIns="0" rIns="0" bIns="0" rtlCol="0" anchor="ctr"/>
          <a:lstStyle/>
          <a:p>
            <a:pPr indent="0" marL="0">
              <a:buNone/>
            </a:pPr>
            <a:r>
              <a:rPr lang="en-US" sz="1250" dirty="0">
                <a:solidFill>
                  <a:srgbClr val="1F2430"/>
                </a:solidFill>
                <a:latin typeface="Calibri" pitchFamily="34" charset="0"/>
                <a:ea typeface="Calibri" pitchFamily="34" charset="-122"/>
                <a:cs typeface="Calibri" pitchFamily="34" charset="-120"/>
              </a:rPr>
              <a:t>10.  Model Evaluation</a:t>
            </a:r>
            <a:endParaRPr lang="en-US" sz="1250" dirty="0"/>
          </a:p>
        </p:txBody>
      </p:sp>
      <p:sp>
        <p:nvSpPr>
          <p:cNvPr id="32" name="Shape 30"/>
          <p:cNvSpPr/>
          <p:nvPr/>
        </p:nvSpPr>
        <p:spPr>
          <a:xfrm>
            <a:off x="8083296" y="1481328"/>
            <a:ext cx="3200400" cy="566928"/>
          </a:xfrm>
          <a:prstGeom prst="roundRect">
            <a:avLst>
              <a:gd name="adj" fmla="val 8065"/>
            </a:avLst>
          </a:prstGeom>
          <a:solidFill>
            <a:srgbClr val="1B365D"/>
          </a:solidFill>
          <a:ln w="15240">
            <a:solidFill>
              <a:srgbClr val="1B365D"/>
            </a:solidFill>
            <a:prstDash val="solid"/>
          </a:ln>
        </p:spPr>
      </p:sp>
      <p:sp>
        <p:nvSpPr>
          <p:cNvPr id="33" name="Text 31"/>
          <p:cNvSpPr/>
          <p:nvPr/>
        </p:nvSpPr>
        <p:spPr>
          <a:xfrm>
            <a:off x="8229600" y="1481328"/>
            <a:ext cx="2926080" cy="566928"/>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11.  Best Performing Model</a:t>
            </a:r>
            <a:endParaRPr lang="en-US" sz="1250" dirty="0"/>
          </a:p>
        </p:txBody>
      </p:sp>
      <p:sp>
        <p:nvSpPr>
          <p:cNvPr id="34" name="Shape 32"/>
          <p:cNvSpPr/>
          <p:nvPr/>
        </p:nvSpPr>
        <p:spPr>
          <a:xfrm>
            <a:off x="9683496" y="2084832"/>
            <a:ext cx="0" cy="201168"/>
          </a:xfrm>
          <a:prstGeom prst="line">
            <a:avLst/>
          </a:prstGeom>
          <a:noFill/>
          <a:ln w="15240">
            <a:solidFill>
              <a:srgbClr val="5C6675"/>
            </a:solidFill>
            <a:prstDash val="solid"/>
            <a:tailEnd type="triangle"/>
          </a:ln>
        </p:spPr>
      </p:sp>
      <p:sp>
        <p:nvSpPr>
          <p:cNvPr id="35" name="Shape 33"/>
          <p:cNvSpPr/>
          <p:nvPr/>
        </p:nvSpPr>
        <p:spPr>
          <a:xfrm>
            <a:off x="8083296" y="2322576"/>
            <a:ext cx="3200400" cy="566928"/>
          </a:xfrm>
          <a:prstGeom prst="roundRect">
            <a:avLst>
              <a:gd name="adj" fmla="val 8065"/>
            </a:avLst>
          </a:prstGeom>
          <a:solidFill>
            <a:srgbClr val="F4F6F9"/>
          </a:solidFill>
          <a:ln w="15240">
            <a:solidFill>
              <a:srgbClr val="D6DCE5"/>
            </a:solidFill>
            <a:prstDash val="solid"/>
          </a:ln>
        </p:spPr>
      </p:sp>
      <p:sp>
        <p:nvSpPr>
          <p:cNvPr id="36" name="Text 34"/>
          <p:cNvSpPr/>
          <p:nvPr/>
        </p:nvSpPr>
        <p:spPr>
          <a:xfrm>
            <a:off x="8229600" y="2322576"/>
            <a:ext cx="2926080" cy="566928"/>
          </a:xfrm>
          <a:prstGeom prst="rect">
            <a:avLst/>
          </a:prstGeom>
          <a:noFill/>
          <a:ln/>
        </p:spPr>
        <p:txBody>
          <a:bodyPr wrap="square" lIns="0" tIns="0" rIns="0" bIns="0" rtlCol="0" anchor="ctr"/>
          <a:lstStyle/>
          <a:p>
            <a:pPr indent="0" marL="0">
              <a:buNone/>
            </a:pPr>
            <a:r>
              <a:rPr lang="en-US" sz="1250" dirty="0">
                <a:solidFill>
                  <a:srgbClr val="1F2430"/>
                </a:solidFill>
                <a:latin typeface="Calibri" pitchFamily="34" charset="0"/>
                <a:ea typeface="Calibri" pitchFamily="34" charset="-122"/>
                <a:cs typeface="Calibri" pitchFamily="34" charset="-120"/>
              </a:rPr>
              <a:t>12.  Prediction</a:t>
            </a:r>
            <a:endParaRPr lang="en-US" sz="1250" dirty="0"/>
          </a:p>
        </p:txBody>
      </p:sp>
      <p:sp>
        <p:nvSpPr>
          <p:cNvPr id="37" name="Shape 35"/>
          <p:cNvSpPr/>
          <p:nvPr/>
        </p:nvSpPr>
        <p:spPr>
          <a:xfrm>
            <a:off x="9683496" y="2926080"/>
            <a:ext cx="0" cy="201168"/>
          </a:xfrm>
          <a:prstGeom prst="line">
            <a:avLst/>
          </a:prstGeom>
          <a:noFill/>
          <a:ln w="15240">
            <a:solidFill>
              <a:srgbClr val="5C6675"/>
            </a:solidFill>
            <a:prstDash val="solid"/>
            <a:tailEnd type="triangle"/>
          </a:ln>
        </p:spPr>
      </p:sp>
      <p:sp>
        <p:nvSpPr>
          <p:cNvPr id="38" name="Shape 36"/>
          <p:cNvSpPr/>
          <p:nvPr/>
        </p:nvSpPr>
        <p:spPr>
          <a:xfrm>
            <a:off x="8083296" y="3163824"/>
            <a:ext cx="3200400" cy="566928"/>
          </a:xfrm>
          <a:prstGeom prst="roundRect">
            <a:avLst>
              <a:gd name="adj" fmla="val 8065"/>
            </a:avLst>
          </a:prstGeom>
          <a:solidFill>
            <a:srgbClr val="1B365D"/>
          </a:solidFill>
          <a:ln w="15240">
            <a:solidFill>
              <a:srgbClr val="1B365D"/>
            </a:solidFill>
            <a:prstDash val="solid"/>
          </a:ln>
        </p:spPr>
      </p:sp>
      <p:sp>
        <p:nvSpPr>
          <p:cNvPr id="39" name="Text 37"/>
          <p:cNvSpPr/>
          <p:nvPr/>
        </p:nvSpPr>
        <p:spPr>
          <a:xfrm>
            <a:off x="8229600" y="3163824"/>
            <a:ext cx="2926080" cy="566928"/>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13.  Explainability</a:t>
            </a:r>
            <a:endParaRPr lang="en-US" sz="1250" dirty="0"/>
          </a:p>
        </p:txBody>
      </p:sp>
      <p:sp>
        <p:nvSpPr>
          <p:cNvPr id="40" name="Shape 38"/>
          <p:cNvSpPr/>
          <p:nvPr/>
        </p:nvSpPr>
        <p:spPr>
          <a:xfrm>
            <a:off x="8083296" y="4114800"/>
            <a:ext cx="3529584" cy="1700784"/>
          </a:xfrm>
          <a:prstGeom prst="roundRect">
            <a:avLst>
              <a:gd name="adj" fmla="val 3226"/>
            </a:avLst>
          </a:prstGeom>
          <a:solidFill>
            <a:srgbClr val="FDF6EF"/>
          </a:solidFill>
          <a:ln w="12700">
            <a:solidFill>
              <a:srgbClr val="D6DCE5"/>
            </a:solidFill>
            <a:prstDash val="solid"/>
          </a:ln>
        </p:spPr>
      </p:sp>
      <p:sp>
        <p:nvSpPr>
          <p:cNvPr id="41" name="Text 39"/>
          <p:cNvSpPr/>
          <p:nvPr/>
        </p:nvSpPr>
        <p:spPr>
          <a:xfrm>
            <a:off x="8284464" y="4261104"/>
            <a:ext cx="3108960" cy="256032"/>
          </a:xfrm>
          <a:prstGeom prst="rect">
            <a:avLst/>
          </a:prstGeom>
          <a:noFill/>
          <a:ln/>
        </p:spPr>
        <p:txBody>
          <a:bodyPr wrap="square" lIns="0" tIns="0" rIns="0" bIns="0" rtlCol="0" anchor="ctr"/>
          <a:lstStyle/>
          <a:p>
            <a:pPr indent="0" marL="0">
              <a:buNone/>
            </a:pPr>
            <a:r>
              <a:rPr lang="en-US" sz="1250" b="1" dirty="0">
                <a:solidFill>
                  <a:srgbClr val="C2703A"/>
                </a:solidFill>
                <a:latin typeface="Calibri" pitchFamily="34" charset="0"/>
                <a:ea typeface="Calibri" pitchFamily="34" charset="-122"/>
                <a:cs typeface="Calibri" pitchFamily="34" charset="-120"/>
              </a:rPr>
              <a:t>Evaluation protocol</a:t>
            </a:r>
            <a:endParaRPr lang="en-US" sz="1250" dirty="0"/>
          </a:p>
        </p:txBody>
      </p:sp>
      <p:sp>
        <p:nvSpPr>
          <p:cNvPr id="42" name="Text 40"/>
          <p:cNvSpPr/>
          <p:nvPr/>
        </p:nvSpPr>
        <p:spPr>
          <a:xfrm>
            <a:off x="8284464" y="4535424"/>
            <a:ext cx="3127248" cy="1188720"/>
          </a:xfrm>
          <a:prstGeom prst="rect">
            <a:avLst/>
          </a:prstGeom>
          <a:noFill/>
          <a:ln/>
        </p:spPr>
        <p:txBody>
          <a:bodyPr wrap="square" lIns="0" tIns="0" rIns="0" bIns="0" rtlCol="0" anchor="ctr"/>
          <a:lstStyle/>
          <a:p>
            <a:pPr indent="0" marL="0">
              <a:lnSpc>
                <a:spcPts val="1600"/>
              </a:lnSpc>
              <a:buNone/>
            </a:pPr>
            <a:r>
              <a:rPr lang="en-US" sz="1150" dirty="0">
                <a:solidFill>
                  <a:srgbClr val="1F2430"/>
                </a:solidFill>
                <a:latin typeface="Calibri" pitchFamily="34" charset="0"/>
                <a:ea typeface="Calibri" pitchFamily="34" charset="-122"/>
                <a:cs typeface="Calibri" pitchFamily="34" charset="-120"/>
              </a:rPr>
              <a:t>All candidate models will be trained and evaluated under an identical preprocessing pipeline and data split, so that the comparison reflects the algorithm rather than differences in preparation.</a:t>
            </a:r>
            <a:endParaRPr lang="en-US" sz="1150" dirty="0"/>
          </a:p>
        </p:txBody>
      </p:sp>
      <p:sp>
        <p:nvSpPr>
          <p:cNvPr id="43" name="Text 41"/>
          <p:cNvSpPr/>
          <p:nvPr/>
        </p:nvSpPr>
        <p:spPr>
          <a:xfrm>
            <a:off x="11045952" y="6419088"/>
            <a:ext cx="548640" cy="256032"/>
          </a:xfrm>
          <a:prstGeom prst="rect">
            <a:avLst/>
          </a:prstGeom>
          <a:noFill/>
          <a:ln/>
        </p:spPr>
        <p:txBody>
          <a:bodyPr wrap="square" lIns="0" tIns="0" rIns="0" bIns="0" rtlCol="0" anchor="ctr"/>
          <a:lstStyle/>
          <a:p>
            <a:pPr algn="r" indent="0" marL="0">
              <a:buNone/>
            </a:pPr>
            <a:r>
              <a:rPr lang="en-US" sz="1000" dirty="0">
                <a:solidFill>
                  <a:srgbClr val="5C6675"/>
                </a:solidFill>
                <a:latin typeface="Calibri" pitchFamily="34" charset="0"/>
                <a:ea typeface="Calibri" pitchFamily="34" charset="-122"/>
                <a:cs typeface="Calibri" pitchFamily="34" charset="-120"/>
              </a:rPr>
              <a:t>14</a:t>
            </a:r>
            <a:endParaRPr lang="en-US" sz="1000" dirty="0"/>
          </a:p>
        </p:txBody>
      </p:sp>
      <p:sp>
        <p:nvSpPr>
          <p:cNvPr id="44" name="Text 42"/>
          <p:cNvSpPr/>
          <p:nvPr/>
        </p:nvSpPr>
        <p:spPr>
          <a:xfrm>
            <a:off x="566928" y="6419088"/>
            <a:ext cx="7315200" cy="256032"/>
          </a:xfrm>
          <a:prstGeom prst="rect">
            <a:avLst/>
          </a:prstGeom>
          <a:noFill/>
          <a:ln/>
        </p:spPr>
        <p:txBody>
          <a:bodyPr wrap="square" lIns="0" tIns="0" rIns="0" bIns="0" rtlCol="0" anchor="ctr"/>
          <a:lstStyle/>
          <a:p>
            <a:pPr indent="0" marL="0">
              <a:buNone/>
            </a:pPr>
            <a:r>
              <a:rPr lang="en-US" sz="1000" dirty="0">
                <a:solidFill>
                  <a:srgbClr val="5C6675"/>
                </a:solidFill>
                <a:latin typeface="Calibri" pitchFamily="34" charset="0"/>
                <a:ea typeface="Calibri" pitchFamily="34" charset="-122"/>
                <a:cs typeface="Calibri" pitchFamily="34" charset="-120"/>
              </a:rPr>
              <a:t>Project Review 1  ·  B.Tech CSE (AI &amp; ML)  ·  SRMIST</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8229600" cy="237744"/>
          </a:xfrm>
          <a:prstGeom prst="rect">
            <a:avLst/>
          </a:prstGeom>
          <a:noFill/>
          <a:ln/>
        </p:spPr>
        <p:txBody>
          <a:bodyPr wrap="square" lIns="0" tIns="0" rIns="0" bIns="0" rtlCol="0" anchor="ctr"/>
          <a:lstStyle/>
          <a:p>
            <a:pPr indent="0" marL="0">
              <a:buNone/>
            </a:pPr>
            <a:r>
              <a:rPr lang="en-US" sz="1100" b="1" spc="160" kern="0" dirty="0">
                <a:solidFill>
                  <a:srgbClr val="C2703A"/>
                </a:solidFill>
                <a:latin typeface="Calibri" pitchFamily="34" charset="0"/>
                <a:ea typeface="Calibri" pitchFamily="34" charset="-122"/>
                <a:cs typeface="Calibri" pitchFamily="34" charset="-120"/>
              </a:rPr>
              <a:t>REGRESSION MODELS</a:t>
            </a:r>
            <a:endParaRPr lang="en-US" sz="1100" dirty="0"/>
          </a:p>
        </p:txBody>
      </p:sp>
      <p:sp>
        <p:nvSpPr>
          <p:cNvPr id="3" name="Text 1"/>
          <p:cNvSpPr/>
          <p:nvPr/>
        </p:nvSpPr>
        <p:spPr>
          <a:xfrm>
            <a:off x="566928" y="566928"/>
            <a:ext cx="11027664" cy="566928"/>
          </a:xfrm>
          <a:prstGeom prst="rect">
            <a:avLst/>
          </a:prstGeom>
          <a:noFill/>
          <a:ln/>
        </p:spPr>
        <p:txBody>
          <a:bodyPr wrap="square" lIns="0" tIns="0" rIns="0" bIns="0" rtlCol="0" anchor="ctr"/>
          <a:lstStyle/>
          <a:p>
            <a:pPr indent="0" marL="0">
              <a:buNone/>
            </a:pPr>
            <a:r>
              <a:rPr lang="en-US" sz="3000" b="1" dirty="0">
                <a:solidFill>
                  <a:srgbClr val="1B365D"/>
                </a:solidFill>
                <a:latin typeface="Cambria" pitchFamily="34" charset="0"/>
                <a:ea typeface="Cambria" pitchFamily="34" charset="-122"/>
                <a:cs typeface="Cambria" pitchFamily="34" charset="-120"/>
              </a:rPr>
              <a:t>Candidate Machine Learning Algorithms</a:t>
            </a:r>
            <a:endParaRPr lang="en-US" sz="3000" dirty="0"/>
          </a:p>
        </p:txBody>
      </p:sp>
      <p:sp>
        <p:nvSpPr>
          <p:cNvPr id="4" name="Text 2"/>
          <p:cNvSpPr/>
          <p:nvPr/>
        </p:nvSpPr>
        <p:spPr>
          <a:xfrm>
            <a:off x="566928" y="1335024"/>
            <a:ext cx="11027664" cy="274320"/>
          </a:xfrm>
          <a:prstGeom prst="rect">
            <a:avLst/>
          </a:prstGeom>
          <a:noFill/>
          <a:ln/>
        </p:spPr>
        <p:txBody>
          <a:bodyPr wrap="square" lIns="0" tIns="0" rIns="0" bIns="0" rtlCol="0" anchor="ctr"/>
          <a:lstStyle/>
          <a:p>
            <a:pPr indent="0" marL="0">
              <a:buNone/>
            </a:pPr>
            <a:r>
              <a:rPr lang="en-US" sz="1250" i="1" dirty="0">
                <a:solidFill>
                  <a:srgbClr val="5C6675"/>
                </a:solidFill>
                <a:latin typeface="Calibri" pitchFamily="34" charset="0"/>
                <a:ea typeface="Calibri" pitchFamily="34" charset="-122"/>
                <a:cs typeface="Calibri" pitchFamily="34" charset="-120"/>
              </a:rPr>
              <a:t>Four regression algorithms are proposed. The intention is to compare them under a common protocol rather than to assume in advance which will perform best.</a:t>
            </a:r>
            <a:endParaRPr lang="en-US" sz="1250" dirty="0"/>
          </a:p>
        </p:txBody>
      </p:sp>
      <p:sp>
        <p:nvSpPr>
          <p:cNvPr id="5" name="Shape 3"/>
          <p:cNvSpPr/>
          <p:nvPr/>
        </p:nvSpPr>
        <p:spPr>
          <a:xfrm>
            <a:off x="566928" y="1737360"/>
            <a:ext cx="5376672" cy="2029968"/>
          </a:xfrm>
          <a:prstGeom prst="roundRect">
            <a:avLst>
              <a:gd name="adj" fmla="val 2703"/>
            </a:avLst>
          </a:prstGeom>
          <a:solidFill>
            <a:srgbClr val="F4F6F9"/>
          </a:solidFill>
          <a:ln w="12700">
            <a:solidFill>
              <a:srgbClr val="D6DCE5"/>
            </a:solidFill>
            <a:prstDash val="solid"/>
          </a:ln>
        </p:spPr>
      </p:sp>
      <p:sp>
        <p:nvSpPr>
          <p:cNvPr id="6" name="Shape 4"/>
          <p:cNvSpPr/>
          <p:nvPr/>
        </p:nvSpPr>
        <p:spPr>
          <a:xfrm>
            <a:off x="786384" y="1938528"/>
            <a:ext cx="365760" cy="365760"/>
          </a:xfrm>
          <a:prstGeom prst="ellipse">
            <a:avLst/>
          </a:prstGeom>
          <a:solidFill>
            <a:srgbClr val="1B365D"/>
          </a:solidFill>
          <a:ln w="12700">
            <a:solidFill>
              <a:srgbClr val="1B365D"/>
            </a:solidFill>
            <a:prstDash val="solid"/>
          </a:ln>
        </p:spPr>
      </p:sp>
      <p:sp>
        <p:nvSpPr>
          <p:cNvPr id="7" name="Text 5"/>
          <p:cNvSpPr/>
          <p:nvPr/>
        </p:nvSpPr>
        <p:spPr>
          <a:xfrm>
            <a:off x="786384" y="1938528"/>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8" name="Text 6"/>
          <p:cNvSpPr/>
          <p:nvPr/>
        </p:nvSpPr>
        <p:spPr>
          <a:xfrm>
            <a:off x="1261872" y="1920240"/>
            <a:ext cx="3291840" cy="256032"/>
          </a:xfrm>
          <a:prstGeom prst="rect">
            <a:avLst/>
          </a:prstGeom>
          <a:noFill/>
          <a:ln/>
        </p:spPr>
        <p:txBody>
          <a:bodyPr wrap="square" lIns="0" tIns="0" rIns="0" bIns="0" rtlCol="0" anchor="ctr"/>
          <a:lstStyle/>
          <a:p>
            <a:pPr indent="0" marL="0">
              <a:buNone/>
            </a:pPr>
            <a:r>
              <a:rPr lang="en-US" sz="1400" b="1" dirty="0">
                <a:solidFill>
                  <a:srgbClr val="1B365D"/>
                </a:solidFill>
                <a:latin typeface="Calibri" pitchFamily="34" charset="0"/>
                <a:ea typeface="Calibri" pitchFamily="34" charset="-122"/>
                <a:cs typeface="Calibri" pitchFamily="34" charset="-120"/>
              </a:rPr>
              <a:t>Linear Regression</a:t>
            </a:r>
            <a:endParaRPr lang="en-US" sz="1400" dirty="0"/>
          </a:p>
        </p:txBody>
      </p:sp>
      <p:sp>
        <p:nvSpPr>
          <p:cNvPr id="9" name="Text 7"/>
          <p:cNvSpPr/>
          <p:nvPr/>
        </p:nvSpPr>
        <p:spPr>
          <a:xfrm>
            <a:off x="1261872" y="2176272"/>
            <a:ext cx="4480560" cy="219456"/>
          </a:xfrm>
          <a:prstGeom prst="rect">
            <a:avLst/>
          </a:prstGeom>
          <a:noFill/>
          <a:ln/>
        </p:spPr>
        <p:txBody>
          <a:bodyPr wrap="square" lIns="0" tIns="0" rIns="0" bIns="0" rtlCol="0" anchor="ctr"/>
          <a:lstStyle/>
          <a:p>
            <a:pPr indent="0" marL="0">
              <a:buNone/>
            </a:pPr>
            <a:r>
              <a:rPr lang="en-US" sz="1050" b="1" spc="60" kern="0" dirty="0">
                <a:solidFill>
                  <a:srgbClr val="C2703A"/>
                </a:solidFill>
                <a:latin typeface="Calibri" pitchFamily="34" charset="0"/>
                <a:ea typeface="Calibri" pitchFamily="34" charset="-122"/>
                <a:cs typeface="Calibri" pitchFamily="34" charset="-120"/>
              </a:rPr>
              <a:t>Baseline model</a:t>
            </a:r>
            <a:endParaRPr lang="en-US" sz="1050" dirty="0"/>
          </a:p>
        </p:txBody>
      </p:sp>
      <p:sp>
        <p:nvSpPr>
          <p:cNvPr id="10" name="Text 8"/>
          <p:cNvSpPr/>
          <p:nvPr/>
        </p:nvSpPr>
        <p:spPr>
          <a:xfrm>
            <a:off x="786384" y="2487168"/>
            <a:ext cx="4937760" cy="768096"/>
          </a:xfrm>
          <a:prstGeom prst="rect">
            <a:avLst/>
          </a:prstGeom>
          <a:noFill/>
          <a:ln/>
        </p:spPr>
        <p:txBody>
          <a:bodyPr wrap="square" lIns="0" tIns="0" rIns="0" bIns="0" rtlCol="0" anchor="ctr"/>
          <a:lstStyle/>
          <a:p>
            <a:pPr indent="0" marL="0">
              <a:lnSpc>
                <a:spcPts val="1600"/>
              </a:lnSpc>
              <a:buNone/>
            </a:pPr>
            <a:r>
              <a:rPr lang="en-US" sz="1150" dirty="0">
                <a:solidFill>
                  <a:srgbClr val="1F2430"/>
                </a:solidFill>
                <a:latin typeface="Calibri" pitchFamily="34" charset="0"/>
                <a:ea typeface="Calibri" pitchFamily="34" charset="-122"/>
                <a:cs typeface="Calibri" pitchFamily="34" charset="-120"/>
              </a:rPr>
              <a:t>Fits a linear relationship between the input features and the target. Included as a reference point against which the more complex models are judged.</a:t>
            </a:r>
            <a:endParaRPr lang="en-US" sz="1150" dirty="0"/>
          </a:p>
        </p:txBody>
      </p:sp>
      <p:sp>
        <p:nvSpPr>
          <p:cNvPr id="11" name="Text 9"/>
          <p:cNvSpPr/>
          <p:nvPr/>
        </p:nvSpPr>
        <p:spPr>
          <a:xfrm>
            <a:off x="786384" y="3310128"/>
            <a:ext cx="4937760" cy="310896"/>
          </a:xfrm>
          <a:prstGeom prst="rect">
            <a:avLst/>
          </a:prstGeom>
          <a:noFill/>
          <a:ln/>
        </p:spPr>
        <p:txBody>
          <a:bodyPr wrap="square" lIns="0" tIns="0" rIns="0" bIns="0" rtlCol="0" anchor="ctr"/>
          <a:lstStyle/>
          <a:p>
            <a:pPr indent="0" marL="0">
              <a:buNone/>
            </a:pPr>
            <a:r>
              <a:rPr lang="en-US" sz="1050" i="1" dirty="0">
                <a:solidFill>
                  <a:srgbClr val="5C6675"/>
                </a:solidFill>
                <a:latin typeface="Calibri" pitchFamily="34" charset="0"/>
                <a:ea typeface="Calibri" pitchFamily="34" charset="-122"/>
                <a:cs typeface="Calibri" pitchFamily="34" charset="-120"/>
              </a:rPr>
              <a:t>Assumes linearity and independence of predictors.</a:t>
            </a:r>
            <a:endParaRPr lang="en-US" sz="1050" dirty="0"/>
          </a:p>
        </p:txBody>
      </p:sp>
      <p:sp>
        <p:nvSpPr>
          <p:cNvPr id="12" name="Shape 10"/>
          <p:cNvSpPr/>
          <p:nvPr/>
        </p:nvSpPr>
        <p:spPr>
          <a:xfrm>
            <a:off x="6181344" y="1737360"/>
            <a:ext cx="5376672" cy="2029968"/>
          </a:xfrm>
          <a:prstGeom prst="roundRect">
            <a:avLst>
              <a:gd name="adj" fmla="val 2703"/>
            </a:avLst>
          </a:prstGeom>
          <a:solidFill>
            <a:srgbClr val="F4F6F9"/>
          </a:solidFill>
          <a:ln w="12700">
            <a:solidFill>
              <a:srgbClr val="D6DCE5"/>
            </a:solidFill>
            <a:prstDash val="solid"/>
          </a:ln>
        </p:spPr>
      </p:sp>
      <p:sp>
        <p:nvSpPr>
          <p:cNvPr id="13" name="Shape 11"/>
          <p:cNvSpPr/>
          <p:nvPr/>
        </p:nvSpPr>
        <p:spPr>
          <a:xfrm>
            <a:off x="6400800" y="1938528"/>
            <a:ext cx="365760" cy="365760"/>
          </a:xfrm>
          <a:prstGeom prst="ellipse">
            <a:avLst/>
          </a:prstGeom>
          <a:solidFill>
            <a:srgbClr val="1B365D"/>
          </a:solidFill>
          <a:ln w="12700">
            <a:solidFill>
              <a:srgbClr val="1B365D"/>
            </a:solidFill>
            <a:prstDash val="solid"/>
          </a:ln>
        </p:spPr>
      </p:sp>
      <p:sp>
        <p:nvSpPr>
          <p:cNvPr id="14" name="Text 12"/>
          <p:cNvSpPr/>
          <p:nvPr/>
        </p:nvSpPr>
        <p:spPr>
          <a:xfrm>
            <a:off x="6400800" y="1938528"/>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5" name="Text 13"/>
          <p:cNvSpPr/>
          <p:nvPr/>
        </p:nvSpPr>
        <p:spPr>
          <a:xfrm>
            <a:off x="6876288" y="1920240"/>
            <a:ext cx="3291840" cy="256032"/>
          </a:xfrm>
          <a:prstGeom prst="rect">
            <a:avLst/>
          </a:prstGeom>
          <a:noFill/>
          <a:ln/>
        </p:spPr>
        <p:txBody>
          <a:bodyPr wrap="square" lIns="0" tIns="0" rIns="0" bIns="0" rtlCol="0" anchor="ctr"/>
          <a:lstStyle/>
          <a:p>
            <a:pPr indent="0" marL="0">
              <a:buNone/>
            </a:pPr>
            <a:r>
              <a:rPr lang="en-US" sz="1400" b="1" dirty="0">
                <a:solidFill>
                  <a:srgbClr val="1B365D"/>
                </a:solidFill>
                <a:latin typeface="Calibri" pitchFamily="34" charset="0"/>
                <a:ea typeface="Calibri" pitchFamily="34" charset="-122"/>
                <a:cs typeface="Calibri" pitchFamily="34" charset="-120"/>
              </a:rPr>
              <a:t>Random Forest Regressor</a:t>
            </a:r>
            <a:endParaRPr lang="en-US" sz="1400" dirty="0"/>
          </a:p>
        </p:txBody>
      </p:sp>
      <p:sp>
        <p:nvSpPr>
          <p:cNvPr id="16" name="Text 14"/>
          <p:cNvSpPr/>
          <p:nvPr/>
        </p:nvSpPr>
        <p:spPr>
          <a:xfrm>
            <a:off x="6876288" y="2176272"/>
            <a:ext cx="4480560" cy="219456"/>
          </a:xfrm>
          <a:prstGeom prst="rect">
            <a:avLst/>
          </a:prstGeom>
          <a:noFill/>
          <a:ln/>
        </p:spPr>
        <p:txBody>
          <a:bodyPr wrap="square" lIns="0" tIns="0" rIns="0" bIns="0" rtlCol="0" anchor="ctr"/>
          <a:lstStyle/>
          <a:p>
            <a:pPr indent="0" marL="0">
              <a:buNone/>
            </a:pPr>
            <a:r>
              <a:rPr lang="en-US" sz="1050" b="1" spc="60" kern="0" dirty="0">
                <a:solidFill>
                  <a:srgbClr val="C2703A"/>
                </a:solidFill>
                <a:latin typeface="Calibri" pitchFamily="34" charset="0"/>
                <a:ea typeface="Calibri" pitchFamily="34" charset="-122"/>
                <a:cs typeface="Calibri" pitchFamily="34" charset="-120"/>
              </a:rPr>
              <a:t>Bagging ensemble</a:t>
            </a:r>
            <a:endParaRPr lang="en-US" sz="1050" dirty="0"/>
          </a:p>
        </p:txBody>
      </p:sp>
      <p:sp>
        <p:nvSpPr>
          <p:cNvPr id="17" name="Text 15"/>
          <p:cNvSpPr/>
          <p:nvPr/>
        </p:nvSpPr>
        <p:spPr>
          <a:xfrm>
            <a:off x="6400800" y="2487168"/>
            <a:ext cx="4937760" cy="768096"/>
          </a:xfrm>
          <a:prstGeom prst="rect">
            <a:avLst/>
          </a:prstGeom>
          <a:noFill/>
          <a:ln/>
        </p:spPr>
        <p:txBody>
          <a:bodyPr wrap="square" lIns="0" tIns="0" rIns="0" bIns="0" rtlCol="0" anchor="ctr"/>
          <a:lstStyle/>
          <a:p>
            <a:pPr indent="0" marL="0">
              <a:lnSpc>
                <a:spcPts val="1600"/>
              </a:lnSpc>
              <a:buNone/>
            </a:pPr>
            <a:r>
              <a:rPr lang="en-US" sz="1150" dirty="0">
                <a:solidFill>
                  <a:srgbClr val="1F2430"/>
                </a:solidFill>
                <a:latin typeface="Calibri" pitchFamily="34" charset="0"/>
                <a:ea typeface="Calibri" pitchFamily="34" charset="-122"/>
                <a:cs typeface="Calibri" pitchFamily="34" charset="-120"/>
              </a:rPr>
              <a:t>Averages the predictions of many decision trees trained on bootstrap samples. Captures non-linear relationships and interactions between features.</a:t>
            </a:r>
            <a:endParaRPr lang="en-US" sz="1150" dirty="0"/>
          </a:p>
        </p:txBody>
      </p:sp>
      <p:sp>
        <p:nvSpPr>
          <p:cNvPr id="18" name="Text 16"/>
          <p:cNvSpPr/>
          <p:nvPr/>
        </p:nvSpPr>
        <p:spPr>
          <a:xfrm>
            <a:off x="6400800" y="3310128"/>
            <a:ext cx="4937760" cy="310896"/>
          </a:xfrm>
          <a:prstGeom prst="rect">
            <a:avLst/>
          </a:prstGeom>
          <a:noFill/>
          <a:ln/>
        </p:spPr>
        <p:txBody>
          <a:bodyPr wrap="square" lIns="0" tIns="0" rIns="0" bIns="0" rtlCol="0" anchor="ctr"/>
          <a:lstStyle/>
          <a:p>
            <a:pPr indent="0" marL="0">
              <a:buNone/>
            </a:pPr>
            <a:r>
              <a:rPr lang="en-US" sz="1050" i="1" dirty="0">
                <a:solidFill>
                  <a:srgbClr val="5C6675"/>
                </a:solidFill>
                <a:latin typeface="Calibri" pitchFamily="34" charset="0"/>
                <a:ea typeface="Calibri" pitchFamily="34" charset="-122"/>
                <a:cs typeface="Calibri" pitchFamily="34" charset="-120"/>
              </a:rPr>
              <a:t>Less sensitive to outliers; harder to interpret directly.</a:t>
            </a:r>
            <a:endParaRPr lang="en-US" sz="1050" dirty="0"/>
          </a:p>
        </p:txBody>
      </p:sp>
      <p:sp>
        <p:nvSpPr>
          <p:cNvPr id="19" name="Shape 17"/>
          <p:cNvSpPr/>
          <p:nvPr/>
        </p:nvSpPr>
        <p:spPr>
          <a:xfrm>
            <a:off x="566928" y="3950208"/>
            <a:ext cx="5376672" cy="2029968"/>
          </a:xfrm>
          <a:prstGeom prst="roundRect">
            <a:avLst>
              <a:gd name="adj" fmla="val 2703"/>
            </a:avLst>
          </a:prstGeom>
          <a:solidFill>
            <a:srgbClr val="F4F6F9"/>
          </a:solidFill>
          <a:ln w="12700">
            <a:solidFill>
              <a:srgbClr val="D6DCE5"/>
            </a:solidFill>
            <a:prstDash val="solid"/>
          </a:ln>
        </p:spPr>
      </p:sp>
      <p:sp>
        <p:nvSpPr>
          <p:cNvPr id="20" name="Shape 18"/>
          <p:cNvSpPr/>
          <p:nvPr/>
        </p:nvSpPr>
        <p:spPr>
          <a:xfrm>
            <a:off x="786384" y="4151376"/>
            <a:ext cx="365760" cy="365760"/>
          </a:xfrm>
          <a:prstGeom prst="ellipse">
            <a:avLst/>
          </a:prstGeom>
          <a:solidFill>
            <a:srgbClr val="1B365D"/>
          </a:solidFill>
          <a:ln w="12700">
            <a:solidFill>
              <a:srgbClr val="1B365D"/>
            </a:solidFill>
            <a:prstDash val="solid"/>
          </a:ln>
        </p:spPr>
      </p:sp>
      <p:sp>
        <p:nvSpPr>
          <p:cNvPr id="21" name="Text 19"/>
          <p:cNvSpPr/>
          <p:nvPr/>
        </p:nvSpPr>
        <p:spPr>
          <a:xfrm>
            <a:off x="786384" y="4151376"/>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2" name="Text 20"/>
          <p:cNvSpPr/>
          <p:nvPr/>
        </p:nvSpPr>
        <p:spPr>
          <a:xfrm>
            <a:off x="1261872" y="4133088"/>
            <a:ext cx="3291840" cy="256032"/>
          </a:xfrm>
          <a:prstGeom prst="rect">
            <a:avLst/>
          </a:prstGeom>
          <a:noFill/>
          <a:ln/>
        </p:spPr>
        <p:txBody>
          <a:bodyPr wrap="square" lIns="0" tIns="0" rIns="0" bIns="0" rtlCol="0" anchor="ctr"/>
          <a:lstStyle/>
          <a:p>
            <a:pPr indent="0" marL="0">
              <a:buNone/>
            </a:pPr>
            <a:r>
              <a:rPr lang="en-US" sz="1400" b="1" dirty="0">
                <a:solidFill>
                  <a:srgbClr val="1B365D"/>
                </a:solidFill>
                <a:latin typeface="Calibri" pitchFamily="34" charset="0"/>
                <a:ea typeface="Calibri" pitchFamily="34" charset="-122"/>
                <a:cs typeface="Calibri" pitchFamily="34" charset="-120"/>
              </a:rPr>
              <a:t>Gradient Boosting Regressor</a:t>
            </a:r>
            <a:endParaRPr lang="en-US" sz="1400" dirty="0"/>
          </a:p>
        </p:txBody>
      </p:sp>
      <p:sp>
        <p:nvSpPr>
          <p:cNvPr id="23" name="Text 21"/>
          <p:cNvSpPr/>
          <p:nvPr/>
        </p:nvSpPr>
        <p:spPr>
          <a:xfrm>
            <a:off x="1261872" y="4389120"/>
            <a:ext cx="4480560" cy="219456"/>
          </a:xfrm>
          <a:prstGeom prst="rect">
            <a:avLst/>
          </a:prstGeom>
          <a:noFill/>
          <a:ln/>
        </p:spPr>
        <p:txBody>
          <a:bodyPr wrap="square" lIns="0" tIns="0" rIns="0" bIns="0" rtlCol="0" anchor="ctr"/>
          <a:lstStyle/>
          <a:p>
            <a:pPr indent="0" marL="0">
              <a:buNone/>
            </a:pPr>
            <a:r>
              <a:rPr lang="en-US" sz="1050" b="1" spc="60" kern="0" dirty="0">
                <a:solidFill>
                  <a:srgbClr val="C2703A"/>
                </a:solidFill>
                <a:latin typeface="Calibri" pitchFamily="34" charset="0"/>
                <a:ea typeface="Calibri" pitchFamily="34" charset="-122"/>
                <a:cs typeface="Calibri" pitchFamily="34" charset="-120"/>
              </a:rPr>
              <a:t>Sequential ensemble</a:t>
            </a:r>
            <a:endParaRPr lang="en-US" sz="1050" dirty="0"/>
          </a:p>
        </p:txBody>
      </p:sp>
      <p:sp>
        <p:nvSpPr>
          <p:cNvPr id="24" name="Text 22"/>
          <p:cNvSpPr/>
          <p:nvPr/>
        </p:nvSpPr>
        <p:spPr>
          <a:xfrm>
            <a:off x="786384" y="4700016"/>
            <a:ext cx="4937760" cy="768096"/>
          </a:xfrm>
          <a:prstGeom prst="rect">
            <a:avLst/>
          </a:prstGeom>
          <a:noFill/>
          <a:ln/>
        </p:spPr>
        <p:txBody>
          <a:bodyPr wrap="square" lIns="0" tIns="0" rIns="0" bIns="0" rtlCol="0" anchor="ctr"/>
          <a:lstStyle/>
          <a:p>
            <a:pPr indent="0" marL="0">
              <a:lnSpc>
                <a:spcPts val="1600"/>
              </a:lnSpc>
              <a:buNone/>
            </a:pPr>
            <a:r>
              <a:rPr lang="en-US" sz="1150" dirty="0">
                <a:solidFill>
                  <a:srgbClr val="1F2430"/>
                </a:solidFill>
                <a:latin typeface="Calibri" pitchFamily="34" charset="0"/>
                <a:ea typeface="Calibri" pitchFamily="34" charset="-122"/>
                <a:cs typeface="Calibri" pitchFamily="34" charset="-120"/>
              </a:rPr>
              <a:t>Builds trees sequentially, with each tree fitted to the residual errors of the previous ones, progressively reducing prediction error.</a:t>
            </a:r>
            <a:endParaRPr lang="en-US" sz="1150" dirty="0"/>
          </a:p>
        </p:txBody>
      </p:sp>
      <p:sp>
        <p:nvSpPr>
          <p:cNvPr id="25" name="Text 23"/>
          <p:cNvSpPr/>
          <p:nvPr/>
        </p:nvSpPr>
        <p:spPr>
          <a:xfrm>
            <a:off x="786384" y="5522976"/>
            <a:ext cx="4937760" cy="310896"/>
          </a:xfrm>
          <a:prstGeom prst="rect">
            <a:avLst/>
          </a:prstGeom>
          <a:noFill/>
          <a:ln/>
        </p:spPr>
        <p:txBody>
          <a:bodyPr wrap="square" lIns="0" tIns="0" rIns="0" bIns="0" rtlCol="0" anchor="ctr"/>
          <a:lstStyle/>
          <a:p>
            <a:pPr indent="0" marL="0">
              <a:buNone/>
            </a:pPr>
            <a:r>
              <a:rPr lang="en-US" sz="1050" i="1" dirty="0">
                <a:solidFill>
                  <a:srgbClr val="5C6675"/>
                </a:solidFill>
                <a:latin typeface="Calibri" pitchFamily="34" charset="0"/>
                <a:ea typeface="Calibri" pitchFamily="34" charset="-122"/>
                <a:cs typeface="Calibri" pitchFamily="34" charset="-120"/>
              </a:rPr>
              <a:t>Often accurate; sensitive to hyperparameter settings.</a:t>
            </a:r>
            <a:endParaRPr lang="en-US" sz="1050" dirty="0"/>
          </a:p>
        </p:txBody>
      </p:sp>
      <p:sp>
        <p:nvSpPr>
          <p:cNvPr id="26" name="Shape 24"/>
          <p:cNvSpPr/>
          <p:nvPr/>
        </p:nvSpPr>
        <p:spPr>
          <a:xfrm>
            <a:off x="6181344" y="3950208"/>
            <a:ext cx="5376672" cy="2029968"/>
          </a:xfrm>
          <a:prstGeom prst="roundRect">
            <a:avLst>
              <a:gd name="adj" fmla="val 2703"/>
            </a:avLst>
          </a:prstGeom>
          <a:solidFill>
            <a:srgbClr val="F4F6F9"/>
          </a:solidFill>
          <a:ln w="12700">
            <a:solidFill>
              <a:srgbClr val="D6DCE5"/>
            </a:solidFill>
            <a:prstDash val="solid"/>
          </a:ln>
        </p:spPr>
      </p:sp>
      <p:sp>
        <p:nvSpPr>
          <p:cNvPr id="27" name="Shape 25"/>
          <p:cNvSpPr/>
          <p:nvPr/>
        </p:nvSpPr>
        <p:spPr>
          <a:xfrm>
            <a:off x="6400800" y="4151376"/>
            <a:ext cx="365760" cy="365760"/>
          </a:xfrm>
          <a:prstGeom prst="ellipse">
            <a:avLst/>
          </a:prstGeom>
          <a:solidFill>
            <a:srgbClr val="1B365D"/>
          </a:solidFill>
          <a:ln w="12700">
            <a:solidFill>
              <a:srgbClr val="1B365D"/>
            </a:solidFill>
            <a:prstDash val="solid"/>
          </a:ln>
        </p:spPr>
      </p:sp>
      <p:sp>
        <p:nvSpPr>
          <p:cNvPr id="28" name="Text 26"/>
          <p:cNvSpPr/>
          <p:nvPr/>
        </p:nvSpPr>
        <p:spPr>
          <a:xfrm>
            <a:off x="6400800" y="4151376"/>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9" name="Text 27"/>
          <p:cNvSpPr/>
          <p:nvPr/>
        </p:nvSpPr>
        <p:spPr>
          <a:xfrm>
            <a:off x="6876288" y="4133088"/>
            <a:ext cx="3291840" cy="256032"/>
          </a:xfrm>
          <a:prstGeom prst="rect">
            <a:avLst/>
          </a:prstGeom>
          <a:noFill/>
          <a:ln/>
        </p:spPr>
        <p:txBody>
          <a:bodyPr wrap="square" lIns="0" tIns="0" rIns="0" bIns="0" rtlCol="0" anchor="ctr"/>
          <a:lstStyle/>
          <a:p>
            <a:pPr indent="0" marL="0">
              <a:buNone/>
            </a:pPr>
            <a:r>
              <a:rPr lang="en-US" sz="1400" b="1" dirty="0">
                <a:solidFill>
                  <a:srgbClr val="1B365D"/>
                </a:solidFill>
                <a:latin typeface="Calibri" pitchFamily="34" charset="0"/>
                <a:ea typeface="Calibri" pitchFamily="34" charset="-122"/>
                <a:cs typeface="Calibri" pitchFamily="34" charset="-120"/>
              </a:rPr>
              <a:t>XGBoost Regressor</a:t>
            </a:r>
            <a:endParaRPr lang="en-US" sz="1400" dirty="0"/>
          </a:p>
        </p:txBody>
      </p:sp>
      <p:sp>
        <p:nvSpPr>
          <p:cNvPr id="30" name="Text 28"/>
          <p:cNvSpPr/>
          <p:nvPr/>
        </p:nvSpPr>
        <p:spPr>
          <a:xfrm>
            <a:off x="6876288" y="4389120"/>
            <a:ext cx="4480560" cy="219456"/>
          </a:xfrm>
          <a:prstGeom prst="rect">
            <a:avLst/>
          </a:prstGeom>
          <a:noFill/>
          <a:ln/>
        </p:spPr>
        <p:txBody>
          <a:bodyPr wrap="square" lIns="0" tIns="0" rIns="0" bIns="0" rtlCol="0" anchor="ctr"/>
          <a:lstStyle/>
          <a:p>
            <a:pPr indent="0" marL="0">
              <a:buNone/>
            </a:pPr>
            <a:r>
              <a:rPr lang="en-US" sz="1050" b="1" spc="60" kern="0" dirty="0">
                <a:solidFill>
                  <a:srgbClr val="C2703A"/>
                </a:solidFill>
                <a:latin typeface="Calibri" pitchFamily="34" charset="0"/>
                <a:ea typeface="Calibri" pitchFamily="34" charset="-122"/>
                <a:cs typeface="Calibri" pitchFamily="34" charset="-120"/>
              </a:rPr>
              <a:t>Regularised boosting</a:t>
            </a:r>
            <a:endParaRPr lang="en-US" sz="1050" dirty="0"/>
          </a:p>
        </p:txBody>
      </p:sp>
      <p:sp>
        <p:nvSpPr>
          <p:cNvPr id="31" name="Text 29"/>
          <p:cNvSpPr/>
          <p:nvPr/>
        </p:nvSpPr>
        <p:spPr>
          <a:xfrm>
            <a:off x="6400800" y="4700016"/>
            <a:ext cx="4937760" cy="768096"/>
          </a:xfrm>
          <a:prstGeom prst="rect">
            <a:avLst/>
          </a:prstGeom>
          <a:noFill/>
          <a:ln/>
        </p:spPr>
        <p:txBody>
          <a:bodyPr wrap="square" lIns="0" tIns="0" rIns="0" bIns="0" rtlCol="0" anchor="ctr"/>
          <a:lstStyle/>
          <a:p>
            <a:pPr indent="0" marL="0">
              <a:lnSpc>
                <a:spcPts val="1600"/>
              </a:lnSpc>
              <a:buNone/>
            </a:pPr>
            <a:r>
              <a:rPr lang="en-US" sz="1150" dirty="0">
                <a:solidFill>
                  <a:srgbClr val="1F2430"/>
                </a:solidFill>
                <a:latin typeface="Calibri" pitchFamily="34" charset="0"/>
                <a:ea typeface="Calibri" pitchFamily="34" charset="-122"/>
                <a:cs typeface="Calibri" pitchFamily="34" charset="-120"/>
              </a:rPr>
              <a:t>An optimised gradient boosting implementation with regularisation, widely used for structured and tabular datasets.</a:t>
            </a:r>
            <a:endParaRPr lang="en-US" sz="1150" dirty="0"/>
          </a:p>
        </p:txBody>
      </p:sp>
      <p:sp>
        <p:nvSpPr>
          <p:cNvPr id="32" name="Text 30"/>
          <p:cNvSpPr/>
          <p:nvPr/>
        </p:nvSpPr>
        <p:spPr>
          <a:xfrm>
            <a:off x="6400800" y="5522976"/>
            <a:ext cx="4937760" cy="310896"/>
          </a:xfrm>
          <a:prstGeom prst="rect">
            <a:avLst/>
          </a:prstGeom>
          <a:noFill/>
          <a:ln/>
        </p:spPr>
        <p:txBody>
          <a:bodyPr wrap="square" lIns="0" tIns="0" rIns="0" bIns="0" rtlCol="0" anchor="ctr"/>
          <a:lstStyle/>
          <a:p>
            <a:pPr indent="0" marL="0">
              <a:buNone/>
            </a:pPr>
            <a:r>
              <a:rPr lang="en-US" sz="1050" i="1" dirty="0">
                <a:solidFill>
                  <a:srgbClr val="5C6675"/>
                </a:solidFill>
                <a:latin typeface="Calibri" pitchFamily="34" charset="0"/>
                <a:ea typeface="Calibri" pitchFamily="34" charset="-122"/>
                <a:cs typeface="Calibri" pitchFamily="34" charset="-120"/>
              </a:rPr>
              <a:t>Efficient on tabular data; requires tuning.</a:t>
            </a:r>
            <a:endParaRPr lang="en-US" sz="1050" dirty="0"/>
          </a:p>
        </p:txBody>
      </p:sp>
      <p:sp>
        <p:nvSpPr>
          <p:cNvPr id="33" name="Text 31"/>
          <p:cNvSpPr/>
          <p:nvPr/>
        </p:nvSpPr>
        <p:spPr>
          <a:xfrm>
            <a:off x="11045952" y="6419088"/>
            <a:ext cx="548640" cy="256032"/>
          </a:xfrm>
          <a:prstGeom prst="rect">
            <a:avLst/>
          </a:prstGeom>
          <a:noFill/>
          <a:ln/>
        </p:spPr>
        <p:txBody>
          <a:bodyPr wrap="square" lIns="0" tIns="0" rIns="0" bIns="0" rtlCol="0" anchor="ctr"/>
          <a:lstStyle/>
          <a:p>
            <a:pPr algn="r" indent="0" marL="0">
              <a:buNone/>
            </a:pPr>
            <a:r>
              <a:rPr lang="en-US" sz="1000" dirty="0">
                <a:solidFill>
                  <a:srgbClr val="5C6675"/>
                </a:solidFill>
                <a:latin typeface="Calibri" pitchFamily="34" charset="0"/>
                <a:ea typeface="Calibri" pitchFamily="34" charset="-122"/>
                <a:cs typeface="Calibri" pitchFamily="34" charset="-120"/>
              </a:rPr>
              <a:t>15</a:t>
            </a:r>
            <a:endParaRPr lang="en-US" sz="1000" dirty="0"/>
          </a:p>
        </p:txBody>
      </p:sp>
      <p:sp>
        <p:nvSpPr>
          <p:cNvPr id="34" name="Text 32"/>
          <p:cNvSpPr/>
          <p:nvPr/>
        </p:nvSpPr>
        <p:spPr>
          <a:xfrm>
            <a:off x="566928" y="6419088"/>
            <a:ext cx="7315200" cy="256032"/>
          </a:xfrm>
          <a:prstGeom prst="rect">
            <a:avLst/>
          </a:prstGeom>
          <a:noFill/>
          <a:ln/>
        </p:spPr>
        <p:txBody>
          <a:bodyPr wrap="square" lIns="0" tIns="0" rIns="0" bIns="0" rtlCol="0" anchor="ctr"/>
          <a:lstStyle/>
          <a:p>
            <a:pPr indent="0" marL="0">
              <a:buNone/>
            </a:pPr>
            <a:r>
              <a:rPr lang="en-US" sz="1000" dirty="0">
                <a:solidFill>
                  <a:srgbClr val="5C6675"/>
                </a:solidFill>
                <a:latin typeface="Calibri" pitchFamily="34" charset="0"/>
                <a:ea typeface="Calibri" pitchFamily="34" charset="-122"/>
                <a:cs typeface="Calibri" pitchFamily="34" charset="-120"/>
              </a:rPr>
              <a:t>Project Review 1  ·  B.Tech CSE (AI &amp; ML)  ·  SRMIST</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8229600" cy="237744"/>
          </a:xfrm>
          <a:prstGeom prst="rect">
            <a:avLst/>
          </a:prstGeom>
          <a:noFill/>
          <a:ln/>
        </p:spPr>
        <p:txBody>
          <a:bodyPr wrap="square" lIns="0" tIns="0" rIns="0" bIns="0" rtlCol="0" anchor="ctr"/>
          <a:lstStyle/>
          <a:p>
            <a:pPr indent="0" marL="0">
              <a:buNone/>
            </a:pPr>
            <a:r>
              <a:rPr lang="en-US" sz="1100" b="1" spc="160" kern="0" dirty="0">
                <a:solidFill>
                  <a:srgbClr val="C2703A"/>
                </a:solidFill>
                <a:latin typeface="Calibri" pitchFamily="34" charset="0"/>
                <a:ea typeface="Calibri" pitchFamily="34" charset="-122"/>
                <a:cs typeface="Calibri" pitchFamily="34" charset="-120"/>
              </a:rPr>
              <a:t>METRICS AND COMPARISON</a:t>
            </a:r>
            <a:endParaRPr lang="en-US" sz="1100" dirty="0"/>
          </a:p>
        </p:txBody>
      </p:sp>
      <p:sp>
        <p:nvSpPr>
          <p:cNvPr id="3" name="Text 1"/>
          <p:cNvSpPr/>
          <p:nvPr/>
        </p:nvSpPr>
        <p:spPr>
          <a:xfrm>
            <a:off x="566928" y="566928"/>
            <a:ext cx="11027664" cy="566928"/>
          </a:xfrm>
          <a:prstGeom prst="rect">
            <a:avLst/>
          </a:prstGeom>
          <a:noFill/>
          <a:ln/>
        </p:spPr>
        <p:txBody>
          <a:bodyPr wrap="square" lIns="0" tIns="0" rIns="0" bIns="0" rtlCol="0" anchor="ctr"/>
          <a:lstStyle/>
          <a:p>
            <a:pPr indent="0" marL="0">
              <a:buNone/>
            </a:pPr>
            <a:r>
              <a:rPr lang="en-US" sz="3000" b="1" dirty="0">
                <a:solidFill>
                  <a:srgbClr val="1B365D"/>
                </a:solidFill>
                <a:latin typeface="Cambria" pitchFamily="34" charset="0"/>
                <a:ea typeface="Cambria" pitchFamily="34" charset="-122"/>
                <a:cs typeface="Cambria" pitchFamily="34" charset="-120"/>
              </a:rPr>
              <a:t>Model Evaluation</a:t>
            </a:r>
            <a:endParaRPr lang="en-US" sz="3000" dirty="0"/>
          </a:p>
        </p:txBody>
      </p:sp>
      <p:sp>
        <p:nvSpPr>
          <p:cNvPr id="4" name="Shape 2"/>
          <p:cNvSpPr/>
          <p:nvPr/>
        </p:nvSpPr>
        <p:spPr>
          <a:xfrm>
            <a:off x="566928" y="1389888"/>
            <a:ext cx="5486400" cy="932688"/>
          </a:xfrm>
          <a:prstGeom prst="roundRect">
            <a:avLst>
              <a:gd name="adj" fmla="val 5882"/>
            </a:avLst>
          </a:prstGeom>
          <a:solidFill>
            <a:srgbClr val="F4F6F9"/>
          </a:solidFill>
          <a:ln w="12700">
            <a:solidFill>
              <a:srgbClr val="D6DCE5"/>
            </a:solidFill>
            <a:prstDash val="solid"/>
          </a:ln>
        </p:spPr>
      </p:sp>
      <p:sp>
        <p:nvSpPr>
          <p:cNvPr id="5" name="Text 3"/>
          <p:cNvSpPr/>
          <p:nvPr/>
        </p:nvSpPr>
        <p:spPr>
          <a:xfrm>
            <a:off x="749808" y="1499616"/>
            <a:ext cx="1005840" cy="365760"/>
          </a:xfrm>
          <a:prstGeom prst="rect">
            <a:avLst/>
          </a:prstGeom>
          <a:noFill/>
          <a:ln/>
        </p:spPr>
        <p:txBody>
          <a:bodyPr wrap="square" lIns="0" tIns="0" rIns="0" bIns="0" rtlCol="0" anchor="ctr"/>
          <a:lstStyle/>
          <a:p>
            <a:pPr indent="0" marL="0">
              <a:buNone/>
            </a:pPr>
            <a:r>
              <a:rPr lang="en-US" sz="1900" b="1" dirty="0">
                <a:solidFill>
                  <a:srgbClr val="C2703A"/>
                </a:solidFill>
                <a:latin typeface="Cambria" pitchFamily="34" charset="0"/>
                <a:ea typeface="Cambria" pitchFamily="34" charset="-122"/>
                <a:cs typeface="Cambria" pitchFamily="34" charset="-120"/>
              </a:rPr>
              <a:t>MAE</a:t>
            </a:r>
            <a:endParaRPr lang="en-US" sz="1900" dirty="0"/>
          </a:p>
        </p:txBody>
      </p:sp>
      <p:sp>
        <p:nvSpPr>
          <p:cNvPr id="6" name="Text 4"/>
          <p:cNvSpPr/>
          <p:nvPr/>
        </p:nvSpPr>
        <p:spPr>
          <a:xfrm>
            <a:off x="1810512" y="1508760"/>
            <a:ext cx="4023360" cy="237744"/>
          </a:xfrm>
          <a:prstGeom prst="rect">
            <a:avLst/>
          </a:prstGeom>
          <a:noFill/>
          <a:ln/>
        </p:spPr>
        <p:txBody>
          <a:bodyPr wrap="square" lIns="0" tIns="0" rIns="0" bIns="0" rtlCol="0" anchor="ctr"/>
          <a:lstStyle/>
          <a:p>
            <a:pPr indent="0" marL="0">
              <a:buNone/>
            </a:pPr>
            <a:r>
              <a:rPr lang="en-US" sz="1250" b="1" dirty="0">
                <a:solidFill>
                  <a:srgbClr val="1B365D"/>
                </a:solidFill>
                <a:latin typeface="Calibri" pitchFamily="34" charset="0"/>
                <a:ea typeface="Calibri" pitchFamily="34" charset="-122"/>
                <a:cs typeface="Calibri" pitchFamily="34" charset="-120"/>
              </a:rPr>
              <a:t>Mean Absolute Error</a:t>
            </a:r>
            <a:endParaRPr lang="en-US" sz="1250" dirty="0"/>
          </a:p>
        </p:txBody>
      </p:sp>
      <p:sp>
        <p:nvSpPr>
          <p:cNvPr id="7" name="Text 5"/>
          <p:cNvSpPr/>
          <p:nvPr/>
        </p:nvSpPr>
        <p:spPr>
          <a:xfrm>
            <a:off x="1810512" y="1755648"/>
            <a:ext cx="4059936" cy="493776"/>
          </a:xfrm>
          <a:prstGeom prst="rect">
            <a:avLst/>
          </a:prstGeom>
          <a:noFill/>
          <a:ln/>
        </p:spPr>
        <p:txBody>
          <a:bodyPr wrap="square" lIns="0" tIns="0" rIns="0" bIns="0" rtlCol="0" anchor="ctr"/>
          <a:lstStyle/>
          <a:p>
            <a:pPr indent="0" marL="0">
              <a:lnSpc>
                <a:spcPts val="1400"/>
              </a:lnSpc>
              <a:buNone/>
            </a:pPr>
            <a:r>
              <a:rPr lang="en-US" sz="1080" dirty="0">
                <a:solidFill>
                  <a:srgbClr val="5C6675"/>
                </a:solidFill>
                <a:latin typeface="Calibri" pitchFamily="34" charset="0"/>
                <a:ea typeface="Calibri" pitchFamily="34" charset="-122"/>
                <a:cs typeface="Calibri" pitchFamily="34" charset="-120"/>
              </a:rPr>
              <a:t>The average magnitude of the prediction error, expressed in the same unit as the target. Treats all errors equally.</a:t>
            </a:r>
            <a:endParaRPr lang="en-US" sz="1080" dirty="0"/>
          </a:p>
        </p:txBody>
      </p:sp>
      <p:sp>
        <p:nvSpPr>
          <p:cNvPr id="8" name="Shape 6"/>
          <p:cNvSpPr/>
          <p:nvPr/>
        </p:nvSpPr>
        <p:spPr>
          <a:xfrm>
            <a:off x="566928" y="2450592"/>
            <a:ext cx="5486400" cy="932688"/>
          </a:xfrm>
          <a:prstGeom prst="roundRect">
            <a:avLst>
              <a:gd name="adj" fmla="val 5882"/>
            </a:avLst>
          </a:prstGeom>
          <a:solidFill>
            <a:srgbClr val="F4F6F9"/>
          </a:solidFill>
          <a:ln w="12700">
            <a:solidFill>
              <a:srgbClr val="D6DCE5"/>
            </a:solidFill>
            <a:prstDash val="solid"/>
          </a:ln>
        </p:spPr>
      </p:sp>
      <p:sp>
        <p:nvSpPr>
          <p:cNvPr id="9" name="Text 7"/>
          <p:cNvSpPr/>
          <p:nvPr/>
        </p:nvSpPr>
        <p:spPr>
          <a:xfrm>
            <a:off x="749808" y="2560320"/>
            <a:ext cx="1005840" cy="365760"/>
          </a:xfrm>
          <a:prstGeom prst="rect">
            <a:avLst/>
          </a:prstGeom>
          <a:noFill/>
          <a:ln/>
        </p:spPr>
        <p:txBody>
          <a:bodyPr wrap="square" lIns="0" tIns="0" rIns="0" bIns="0" rtlCol="0" anchor="ctr"/>
          <a:lstStyle/>
          <a:p>
            <a:pPr indent="0" marL="0">
              <a:buNone/>
            </a:pPr>
            <a:r>
              <a:rPr lang="en-US" sz="1900" b="1" dirty="0">
                <a:solidFill>
                  <a:srgbClr val="C2703A"/>
                </a:solidFill>
                <a:latin typeface="Cambria" pitchFamily="34" charset="0"/>
                <a:ea typeface="Cambria" pitchFamily="34" charset="-122"/>
                <a:cs typeface="Cambria" pitchFamily="34" charset="-120"/>
              </a:rPr>
              <a:t>RMSE</a:t>
            </a:r>
            <a:endParaRPr lang="en-US" sz="1900" dirty="0"/>
          </a:p>
        </p:txBody>
      </p:sp>
      <p:sp>
        <p:nvSpPr>
          <p:cNvPr id="10" name="Text 8"/>
          <p:cNvSpPr/>
          <p:nvPr/>
        </p:nvSpPr>
        <p:spPr>
          <a:xfrm>
            <a:off x="1810512" y="2569464"/>
            <a:ext cx="4023360" cy="237744"/>
          </a:xfrm>
          <a:prstGeom prst="rect">
            <a:avLst/>
          </a:prstGeom>
          <a:noFill/>
          <a:ln/>
        </p:spPr>
        <p:txBody>
          <a:bodyPr wrap="square" lIns="0" tIns="0" rIns="0" bIns="0" rtlCol="0" anchor="ctr"/>
          <a:lstStyle/>
          <a:p>
            <a:pPr indent="0" marL="0">
              <a:buNone/>
            </a:pPr>
            <a:r>
              <a:rPr lang="en-US" sz="1250" b="1" dirty="0">
                <a:solidFill>
                  <a:srgbClr val="1B365D"/>
                </a:solidFill>
                <a:latin typeface="Calibri" pitchFamily="34" charset="0"/>
                <a:ea typeface="Calibri" pitchFamily="34" charset="-122"/>
                <a:cs typeface="Calibri" pitchFamily="34" charset="-120"/>
              </a:rPr>
              <a:t>Root Mean Squared Error</a:t>
            </a:r>
            <a:endParaRPr lang="en-US" sz="1250" dirty="0"/>
          </a:p>
        </p:txBody>
      </p:sp>
      <p:sp>
        <p:nvSpPr>
          <p:cNvPr id="11" name="Text 9"/>
          <p:cNvSpPr/>
          <p:nvPr/>
        </p:nvSpPr>
        <p:spPr>
          <a:xfrm>
            <a:off x="1810512" y="2816352"/>
            <a:ext cx="4059936" cy="493776"/>
          </a:xfrm>
          <a:prstGeom prst="rect">
            <a:avLst/>
          </a:prstGeom>
          <a:noFill/>
          <a:ln/>
        </p:spPr>
        <p:txBody>
          <a:bodyPr wrap="square" lIns="0" tIns="0" rIns="0" bIns="0" rtlCol="0" anchor="ctr"/>
          <a:lstStyle/>
          <a:p>
            <a:pPr indent="0" marL="0">
              <a:lnSpc>
                <a:spcPts val="1400"/>
              </a:lnSpc>
              <a:buNone/>
            </a:pPr>
            <a:r>
              <a:rPr lang="en-US" sz="1080" dirty="0">
                <a:solidFill>
                  <a:srgbClr val="5C6675"/>
                </a:solidFill>
                <a:latin typeface="Calibri" pitchFamily="34" charset="0"/>
                <a:ea typeface="Calibri" pitchFamily="34" charset="-122"/>
                <a:cs typeface="Calibri" pitchFamily="34" charset="-120"/>
              </a:rPr>
              <a:t>Penalises larger errors more heavily than smaller ones, and is therefore sensitive to occasional large mistakes.</a:t>
            </a:r>
            <a:endParaRPr lang="en-US" sz="1080" dirty="0"/>
          </a:p>
        </p:txBody>
      </p:sp>
      <p:sp>
        <p:nvSpPr>
          <p:cNvPr id="12" name="Shape 10"/>
          <p:cNvSpPr/>
          <p:nvPr/>
        </p:nvSpPr>
        <p:spPr>
          <a:xfrm>
            <a:off x="566928" y="3511296"/>
            <a:ext cx="5486400" cy="932688"/>
          </a:xfrm>
          <a:prstGeom prst="roundRect">
            <a:avLst>
              <a:gd name="adj" fmla="val 5882"/>
            </a:avLst>
          </a:prstGeom>
          <a:solidFill>
            <a:srgbClr val="F4F6F9"/>
          </a:solidFill>
          <a:ln w="12700">
            <a:solidFill>
              <a:srgbClr val="D6DCE5"/>
            </a:solidFill>
            <a:prstDash val="solid"/>
          </a:ln>
        </p:spPr>
      </p:sp>
      <p:sp>
        <p:nvSpPr>
          <p:cNvPr id="13" name="Text 11"/>
          <p:cNvSpPr/>
          <p:nvPr/>
        </p:nvSpPr>
        <p:spPr>
          <a:xfrm>
            <a:off x="749808" y="3621024"/>
            <a:ext cx="1005840" cy="365760"/>
          </a:xfrm>
          <a:prstGeom prst="rect">
            <a:avLst/>
          </a:prstGeom>
          <a:noFill/>
          <a:ln/>
        </p:spPr>
        <p:txBody>
          <a:bodyPr wrap="square" lIns="0" tIns="0" rIns="0" bIns="0" rtlCol="0" anchor="ctr"/>
          <a:lstStyle/>
          <a:p>
            <a:pPr indent="0" marL="0">
              <a:buNone/>
            </a:pPr>
            <a:r>
              <a:rPr lang="en-US" sz="1900" b="1" dirty="0">
                <a:solidFill>
                  <a:srgbClr val="C2703A"/>
                </a:solidFill>
                <a:latin typeface="Cambria" pitchFamily="34" charset="0"/>
                <a:ea typeface="Cambria" pitchFamily="34" charset="-122"/>
                <a:cs typeface="Cambria" pitchFamily="34" charset="-120"/>
              </a:rPr>
              <a:t>R²</a:t>
            </a:r>
            <a:endParaRPr lang="en-US" sz="1900" dirty="0"/>
          </a:p>
        </p:txBody>
      </p:sp>
      <p:sp>
        <p:nvSpPr>
          <p:cNvPr id="14" name="Text 12"/>
          <p:cNvSpPr/>
          <p:nvPr/>
        </p:nvSpPr>
        <p:spPr>
          <a:xfrm>
            <a:off x="1810512" y="3630168"/>
            <a:ext cx="4023360" cy="237744"/>
          </a:xfrm>
          <a:prstGeom prst="rect">
            <a:avLst/>
          </a:prstGeom>
          <a:noFill/>
          <a:ln/>
        </p:spPr>
        <p:txBody>
          <a:bodyPr wrap="square" lIns="0" tIns="0" rIns="0" bIns="0" rtlCol="0" anchor="ctr"/>
          <a:lstStyle/>
          <a:p>
            <a:pPr indent="0" marL="0">
              <a:buNone/>
            </a:pPr>
            <a:r>
              <a:rPr lang="en-US" sz="1250" b="1" dirty="0">
                <a:solidFill>
                  <a:srgbClr val="1B365D"/>
                </a:solidFill>
                <a:latin typeface="Calibri" pitchFamily="34" charset="0"/>
                <a:ea typeface="Calibri" pitchFamily="34" charset="-122"/>
                <a:cs typeface="Calibri" pitchFamily="34" charset="-120"/>
              </a:rPr>
              <a:t>Coefficient of Determination</a:t>
            </a:r>
            <a:endParaRPr lang="en-US" sz="1250" dirty="0"/>
          </a:p>
        </p:txBody>
      </p:sp>
      <p:sp>
        <p:nvSpPr>
          <p:cNvPr id="15" name="Text 13"/>
          <p:cNvSpPr/>
          <p:nvPr/>
        </p:nvSpPr>
        <p:spPr>
          <a:xfrm>
            <a:off x="1810512" y="3877056"/>
            <a:ext cx="4059936" cy="493776"/>
          </a:xfrm>
          <a:prstGeom prst="rect">
            <a:avLst/>
          </a:prstGeom>
          <a:noFill/>
          <a:ln/>
        </p:spPr>
        <p:txBody>
          <a:bodyPr wrap="square" lIns="0" tIns="0" rIns="0" bIns="0" rtlCol="0" anchor="ctr"/>
          <a:lstStyle/>
          <a:p>
            <a:pPr indent="0" marL="0">
              <a:lnSpc>
                <a:spcPts val="1400"/>
              </a:lnSpc>
              <a:buNone/>
            </a:pPr>
            <a:r>
              <a:rPr lang="en-US" sz="1080" dirty="0">
                <a:solidFill>
                  <a:srgbClr val="5C6675"/>
                </a:solidFill>
                <a:latin typeface="Calibri" pitchFamily="34" charset="0"/>
                <a:ea typeface="Calibri" pitchFamily="34" charset="-122"/>
                <a:cs typeface="Calibri" pitchFamily="34" charset="-120"/>
              </a:rPr>
              <a:t>The proportion of variance in the target explained by the model. A value of 0 corresponds to predicting the mean.</a:t>
            </a:r>
            <a:endParaRPr lang="en-US" sz="1080" dirty="0"/>
          </a:p>
        </p:txBody>
      </p:sp>
      <p:sp>
        <p:nvSpPr>
          <p:cNvPr id="16" name="Shape 14"/>
          <p:cNvSpPr/>
          <p:nvPr/>
        </p:nvSpPr>
        <p:spPr>
          <a:xfrm>
            <a:off x="566928" y="4572000"/>
            <a:ext cx="5486400" cy="932688"/>
          </a:xfrm>
          <a:prstGeom prst="roundRect">
            <a:avLst>
              <a:gd name="adj" fmla="val 5882"/>
            </a:avLst>
          </a:prstGeom>
          <a:solidFill>
            <a:srgbClr val="F4F6F9"/>
          </a:solidFill>
          <a:ln w="12700">
            <a:solidFill>
              <a:srgbClr val="D6DCE5"/>
            </a:solidFill>
            <a:prstDash val="solid"/>
          </a:ln>
        </p:spPr>
      </p:sp>
      <p:sp>
        <p:nvSpPr>
          <p:cNvPr id="17" name="Text 15"/>
          <p:cNvSpPr/>
          <p:nvPr/>
        </p:nvSpPr>
        <p:spPr>
          <a:xfrm>
            <a:off x="749808" y="4681728"/>
            <a:ext cx="1005840" cy="365760"/>
          </a:xfrm>
          <a:prstGeom prst="rect">
            <a:avLst/>
          </a:prstGeom>
          <a:noFill/>
          <a:ln/>
        </p:spPr>
        <p:txBody>
          <a:bodyPr wrap="square" lIns="0" tIns="0" rIns="0" bIns="0" rtlCol="0" anchor="ctr"/>
          <a:lstStyle/>
          <a:p>
            <a:pPr indent="0" marL="0">
              <a:buNone/>
            </a:pPr>
            <a:r>
              <a:rPr lang="en-US" sz="1900" b="1" dirty="0">
                <a:solidFill>
                  <a:srgbClr val="C2703A"/>
                </a:solidFill>
                <a:latin typeface="Cambria" pitchFamily="34" charset="0"/>
                <a:ea typeface="Cambria" pitchFamily="34" charset="-122"/>
                <a:cs typeface="Cambria" pitchFamily="34" charset="-120"/>
              </a:rPr>
              <a:t>MAPE</a:t>
            </a:r>
            <a:endParaRPr lang="en-US" sz="1900" dirty="0"/>
          </a:p>
        </p:txBody>
      </p:sp>
      <p:sp>
        <p:nvSpPr>
          <p:cNvPr id="18" name="Text 16"/>
          <p:cNvSpPr/>
          <p:nvPr/>
        </p:nvSpPr>
        <p:spPr>
          <a:xfrm>
            <a:off x="1810512" y="4690872"/>
            <a:ext cx="4023360" cy="237744"/>
          </a:xfrm>
          <a:prstGeom prst="rect">
            <a:avLst/>
          </a:prstGeom>
          <a:noFill/>
          <a:ln/>
        </p:spPr>
        <p:txBody>
          <a:bodyPr wrap="square" lIns="0" tIns="0" rIns="0" bIns="0" rtlCol="0" anchor="ctr"/>
          <a:lstStyle/>
          <a:p>
            <a:pPr indent="0" marL="0">
              <a:buNone/>
            </a:pPr>
            <a:r>
              <a:rPr lang="en-US" sz="1250" b="1" dirty="0">
                <a:solidFill>
                  <a:srgbClr val="1B365D"/>
                </a:solidFill>
                <a:latin typeface="Calibri" pitchFamily="34" charset="0"/>
                <a:ea typeface="Calibri" pitchFamily="34" charset="-122"/>
                <a:cs typeface="Calibri" pitchFamily="34" charset="-120"/>
              </a:rPr>
              <a:t>Mean Absolute Percentage Error</a:t>
            </a:r>
            <a:endParaRPr lang="en-US" sz="1250" dirty="0"/>
          </a:p>
        </p:txBody>
      </p:sp>
      <p:sp>
        <p:nvSpPr>
          <p:cNvPr id="19" name="Text 17"/>
          <p:cNvSpPr/>
          <p:nvPr/>
        </p:nvSpPr>
        <p:spPr>
          <a:xfrm>
            <a:off x="1810512" y="4937760"/>
            <a:ext cx="4059936" cy="493776"/>
          </a:xfrm>
          <a:prstGeom prst="rect">
            <a:avLst/>
          </a:prstGeom>
          <a:noFill/>
          <a:ln/>
        </p:spPr>
        <p:txBody>
          <a:bodyPr wrap="square" lIns="0" tIns="0" rIns="0" bIns="0" rtlCol="0" anchor="ctr"/>
          <a:lstStyle/>
          <a:p>
            <a:pPr indent="0" marL="0">
              <a:lnSpc>
                <a:spcPts val="1400"/>
              </a:lnSpc>
              <a:buNone/>
            </a:pPr>
            <a:r>
              <a:rPr lang="en-US" sz="1080" dirty="0">
                <a:solidFill>
                  <a:srgbClr val="5C6675"/>
                </a:solidFill>
                <a:latin typeface="Calibri" pitchFamily="34" charset="0"/>
                <a:ea typeface="Calibri" pitchFamily="34" charset="-122"/>
                <a:cs typeface="Calibri" pitchFamily="34" charset="-120"/>
              </a:rPr>
              <a:t>Expresses error as a percentage of the actual value, allowing comparison across differently priced properties.</a:t>
            </a:r>
            <a:endParaRPr lang="en-US" sz="108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6272784" y="1389888"/>
          <a:ext cx="5321808" cy="914400"/>
        </p:xfrm>
        <a:graphic>
          <a:graphicData uri="http://schemas.openxmlformats.org/drawingml/2006/table">
            <a:tbl>
              <a:tblPr/>
              <a:tblGrid>
                <a:gridCol w="2084832"/>
                <a:gridCol w="1078992"/>
                <a:gridCol w="1078992"/>
                <a:gridCol w="1078992"/>
              </a:tblGrid>
              <a:tr h="384048">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Model</a:t>
                      </a:r>
                      <a:endParaRPr lang="en-US" sz="120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solidFill>
                      <a:srgbClr val="1B365D"/>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MAE</a:t>
                      </a:r>
                      <a:endParaRPr lang="en-US" sz="120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solidFill>
                      <a:srgbClr val="1B365D"/>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RMSE</a:t>
                      </a:r>
                      <a:endParaRPr lang="en-US" sz="120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solidFill>
                      <a:srgbClr val="1B365D"/>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R²</a:t>
                      </a:r>
                      <a:endParaRPr lang="en-US" sz="120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solidFill>
                      <a:srgbClr val="1B365D"/>
                    </a:solidFill>
                  </a:tcPr>
                </a:tc>
              </a:tr>
              <a:tr h="384048">
                <a:tc>
                  <a:txBody>
                    <a:bodyPr/>
                    <a:lstStyle/>
                    <a:p>
                      <a:pPr algn="l" indent="0" marL="0">
                        <a:buNone/>
                      </a:pPr>
                      <a:r>
                        <a:rPr lang="en-US" sz="1100" dirty="0">
                          <a:solidFill>
                            <a:srgbClr val="1F2430"/>
                          </a:solidFill>
                          <a:latin typeface="Calibri" pitchFamily="34" charset="0"/>
                          <a:ea typeface="Calibri" pitchFamily="34" charset="-122"/>
                          <a:cs typeface="Calibri" pitchFamily="34" charset="-120"/>
                        </a:rPr>
                        <a:t>Linear Regression</a:t>
                      </a:r>
                      <a:endParaRPr lang="en-US" sz="110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tcPr>
                </a:tc>
                <a:tc>
                  <a:txBody>
                    <a:bodyPr/>
                    <a:lstStyle/>
                    <a:p>
                      <a:pPr algn="l" indent="0" marL="0">
                        <a:buNone/>
                      </a:pPr>
                      <a:r>
                        <a:rPr lang="en-US" sz="1100" dirty="0">
                          <a:solidFill>
                            <a:srgbClr val="1F2430"/>
                          </a:solidFill>
                          <a:latin typeface="Calibri" pitchFamily="34" charset="0"/>
                          <a:ea typeface="Calibri" pitchFamily="34" charset="-122"/>
                          <a:cs typeface="Calibri" pitchFamily="34" charset="-120"/>
                        </a:rPr>
                        <a:t>To be calculated</a:t>
                      </a:r>
                      <a:endParaRPr lang="en-US" sz="110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tcPr>
                </a:tc>
                <a:tc>
                  <a:txBody>
                    <a:bodyPr/>
                    <a:lstStyle/>
                    <a:p>
                      <a:pPr algn="l" indent="0" marL="0">
                        <a:buNone/>
                      </a:pPr>
                      <a:r>
                        <a:rPr lang="en-US" sz="1100" dirty="0">
                          <a:solidFill>
                            <a:srgbClr val="1F2430"/>
                          </a:solidFill>
                          <a:latin typeface="Calibri" pitchFamily="34" charset="0"/>
                          <a:ea typeface="Calibri" pitchFamily="34" charset="-122"/>
                          <a:cs typeface="Calibri" pitchFamily="34" charset="-120"/>
                        </a:rPr>
                        <a:t>To be calculated</a:t>
                      </a:r>
                      <a:endParaRPr lang="en-US" sz="110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tcPr>
                </a:tc>
                <a:tc>
                  <a:txBody>
                    <a:bodyPr/>
                    <a:lstStyle/>
                    <a:p>
                      <a:pPr algn="l" indent="0" marL="0">
                        <a:buNone/>
                      </a:pPr>
                      <a:r>
                        <a:rPr lang="en-US" sz="1100" dirty="0">
                          <a:solidFill>
                            <a:srgbClr val="1F2430"/>
                          </a:solidFill>
                          <a:latin typeface="Calibri" pitchFamily="34" charset="0"/>
                          <a:ea typeface="Calibri" pitchFamily="34" charset="-122"/>
                          <a:cs typeface="Calibri" pitchFamily="34" charset="-120"/>
                        </a:rPr>
                        <a:t>To be calculated</a:t>
                      </a:r>
                      <a:endParaRPr lang="en-US" sz="110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tcPr>
                </a:tc>
              </a:tr>
              <a:tr h="384048">
                <a:tc>
                  <a:txBody>
                    <a:bodyPr/>
                    <a:lstStyle/>
                    <a:p>
                      <a:pPr algn="l" indent="0" marL="0">
                        <a:buNone/>
                      </a:pPr>
                      <a:r>
                        <a:rPr lang="en-US" sz="1100" dirty="0">
                          <a:solidFill>
                            <a:srgbClr val="1F2430"/>
                          </a:solidFill>
                          <a:latin typeface="Calibri" pitchFamily="34" charset="0"/>
                          <a:ea typeface="Calibri" pitchFamily="34" charset="-122"/>
                          <a:cs typeface="Calibri" pitchFamily="34" charset="-120"/>
                        </a:rPr>
                        <a:t>Random Forest Regressor</a:t>
                      </a:r>
                      <a:endParaRPr lang="en-US" sz="110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tcPr>
                </a:tc>
                <a:tc>
                  <a:txBody>
                    <a:bodyPr/>
                    <a:lstStyle/>
                    <a:p>
                      <a:pPr algn="l" indent="0" marL="0">
                        <a:buNone/>
                      </a:pPr>
                      <a:r>
                        <a:rPr lang="en-US" sz="1100" dirty="0">
                          <a:solidFill>
                            <a:srgbClr val="1F2430"/>
                          </a:solidFill>
                          <a:latin typeface="Calibri" pitchFamily="34" charset="0"/>
                          <a:ea typeface="Calibri" pitchFamily="34" charset="-122"/>
                          <a:cs typeface="Calibri" pitchFamily="34" charset="-120"/>
                        </a:rPr>
                        <a:t>To be calculated</a:t>
                      </a:r>
                      <a:endParaRPr lang="en-US" sz="110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tcPr>
                </a:tc>
                <a:tc>
                  <a:txBody>
                    <a:bodyPr/>
                    <a:lstStyle/>
                    <a:p>
                      <a:pPr algn="l" indent="0" marL="0">
                        <a:buNone/>
                      </a:pPr>
                      <a:r>
                        <a:rPr lang="en-US" sz="1100" dirty="0">
                          <a:solidFill>
                            <a:srgbClr val="1F2430"/>
                          </a:solidFill>
                          <a:latin typeface="Calibri" pitchFamily="34" charset="0"/>
                          <a:ea typeface="Calibri" pitchFamily="34" charset="-122"/>
                          <a:cs typeface="Calibri" pitchFamily="34" charset="-120"/>
                        </a:rPr>
                        <a:t>To be calculated</a:t>
                      </a:r>
                      <a:endParaRPr lang="en-US" sz="110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tcPr>
                </a:tc>
                <a:tc>
                  <a:txBody>
                    <a:bodyPr/>
                    <a:lstStyle/>
                    <a:p>
                      <a:pPr algn="l" indent="0" marL="0">
                        <a:buNone/>
                      </a:pPr>
                      <a:r>
                        <a:rPr lang="en-US" sz="1100" dirty="0">
                          <a:solidFill>
                            <a:srgbClr val="1F2430"/>
                          </a:solidFill>
                          <a:latin typeface="Calibri" pitchFamily="34" charset="0"/>
                          <a:ea typeface="Calibri" pitchFamily="34" charset="-122"/>
                          <a:cs typeface="Calibri" pitchFamily="34" charset="-120"/>
                        </a:rPr>
                        <a:t>To be calculated</a:t>
                      </a:r>
                      <a:endParaRPr lang="en-US" sz="110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tcPr>
                </a:tc>
              </a:tr>
              <a:tr h="384048">
                <a:tc>
                  <a:txBody>
                    <a:bodyPr/>
                    <a:lstStyle/>
                    <a:p>
                      <a:pPr algn="l" indent="0" marL="0">
                        <a:buNone/>
                      </a:pPr>
                      <a:r>
                        <a:rPr lang="en-US" sz="1100" dirty="0">
                          <a:solidFill>
                            <a:srgbClr val="1F2430"/>
                          </a:solidFill>
                          <a:latin typeface="Calibri" pitchFamily="34" charset="0"/>
                          <a:ea typeface="Calibri" pitchFamily="34" charset="-122"/>
                          <a:cs typeface="Calibri" pitchFamily="34" charset="-120"/>
                        </a:rPr>
                        <a:t>Gradient Boosting Regressor</a:t>
                      </a:r>
                      <a:endParaRPr lang="en-US" sz="110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tcPr>
                </a:tc>
                <a:tc>
                  <a:txBody>
                    <a:bodyPr/>
                    <a:lstStyle/>
                    <a:p>
                      <a:pPr algn="l" indent="0" marL="0">
                        <a:buNone/>
                      </a:pPr>
                      <a:r>
                        <a:rPr lang="en-US" sz="1100" dirty="0">
                          <a:solidFill>
                            <a:srgbClr val="1F2430"/>
                          </a:solidFill>
                          <a:latin typeface="Calibri" pitchFamily="34" charset="0"/>
                          <a:ea typeface="Calibri" pitchFamily="34" charset="-122"/>
                          <a:cs typeface="Calibri" pitchFamily="34" charset="-120"/>
                        </a:rPr>
                        <a:t>To be calculated</a:t>
                      </a:r>
                      <a:endParaRPr lang="en-US" sz="110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tcPr>
                </a:tc>
                <a:tc>
                  <a:txBody>
                    <a:bodyPr/>
                    <a:lstStyle/>
                    <a:p>
                      <a:pPr algn="l" indent="0" marL="0">
                        <a:buNone/>
                      </a:pPr>
                      <a:r>
                        <a:rPr lang="en-US" sz="1100" dirty="0">
                          <a:solidFill>
                            <a:srgbClr val="1F2430"/>
                          </a:solidFill>
                          <a:latin typeface="Calibri" pitchFamily="34" charset="0"/>
                          <a:ea typeface="Calibri" pitchFamily="34" charset="-122"/>
                          <a:cs typeface="Calibri" pitchFamily="34" charset="-120"/>
                        </a:rPr>
                        <a:t>To be calculated</a:t>
                      </a:r>
                      <a:endParaRPr lang="en-US" sz="110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tcPr>
                </a:tc>
                <a:tc>
                  <a:txBody>
                    <a:bodyPr/>
                    <a:lstStyle/>
                    <a:p>
                      <a:pPr algn="l" indent="0" marL="0">
                        <a:buNone/>
                      </a:pPr>
                      <a:r>
                        <a:rPr lang="en-US" sz="1100" dirty="0">
                          <a:solidFill>
                            <a:srgbClr val="1F2430"/>
                          </a:solidFill>
                          <a:latin typeface="Calibri" pitchFamily="34" charset="0"/>
                          <a:ea typeface="Calibri" pitchFamily="34" charset="-122"/>
                          <a:cs typeface="Calibri" pitchFamily="34" charset="-120"/>
                        </a:rPr>
                        <a:t>To be calculated</a:t>
                      </a:r>
                      <a:endParaRPr lang="en-US" sz="110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tcPr>
                </a:tc>
              </a:tr>
              <a:tr h="384048">
                <a:tc>
                  <a:txBody>
                    <a:bodyPr/>
                    <a:lstStyle/>
                    <a:p>
                      <a:pPr algn="l" indent="0" marL="0">
                        <a:buNone/>
                      </a:pPr>
                      <a:r>
                        <a:rPr lang="en-US" sz="1100" dirty="0">
                          <a:solidFill>
                            <a:srgbClr val="1F2430"/>
                          </a:solidFill>
                          <a:latin typeface="Calibri" pitchFamily="34" charset="0"/>
                          <a:ea typeface="Calibri" pitchFamily="34" charset="-122"/>
                          <a:cs typeface="Calibri" pitchFamily="34" charset="-120"/>
                        </a:rPr>
                        <a:t>XGBoost Regressor</a:t>
                      </a:r>
                      <a:endParaRPr lang="en-US" sz="110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tcPr>
                </a:tc>
                <a:tc>
                  <a:txBody>
                    <a:bodyPr/>
                    <a:lstStyle/>
                    <a:p>
                      <a:pPr algn="l" indent="0" marL="0">
                        <a:buNone/>
                      </a:pPr>
                      <a:r>
                        <a:rPr lang="en-US" sz="1100" dirty="0">
                          <a:solidFill>
                            <a:srgbClr val="1F2430"/>
                          </a:solidFill>
                          <a:latin typeface="Calibri" pitchFamily="34" charset="0"/>
                          <a:ea typeface="Calibri" pitchFamily="34" charset="-122"/>
                          <a:cs typeface="Calibri" pitchFamily="34" charset="-120"/>
                        </a:rPr>
                        <a:t>To be calculated</a:t>
                      </a:r>
                      <a:endParaRPr lang="en-US" sz="110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tcPr>
                </a:tc>
                <a:tc>
                  <a:txBody>
                    <a:bodyPr/>
                    <a:lstStyle/>
                    <a:p>
                      <a:pPr algn="l" indent="0" marL="0">
                        <a:buNone/>
                      </a:pPr>
                      <a:r>
                        <a:rPr lang="en-US" sz="1100" dirty="0">
                          <a:solidFill>
                            <a:srgbClr val="1F2430"/>
                          </a:solidFill>
                          <a:latin typeface="Calibri" pitchFamily="34" charset="0"/>
                          <a:ea typeface="Calibri" pitchFamily="34" charset="-122"/>
                          <a:cs typeface="Calibri" pitchFamily="34" charset="-120"/>
                        </a:rPr>
                        <a:t>To be calculated</a:t>
                      </a:r>
                      <a:endParaRPr lang="en-US" sz="110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tcPr>
                </a:tc>
                <a:tc>
                  <a:txBody>
                    <a:bodyPr/>
                    <a:lstStyle/>
                    <a:p>
                      <a:pPr algn="l" indent="0" marL="0">
                        <a:buNone/>
                      </a:pPr>
                      <a:r>
                        <a:rPr lang="en-US" sz="1100" dirty="0">
                          <a:solidFill>
                            <a:srgbClr val="1F2430"/>
                          </a:solidFill>
                          <a:latin typeface="Calibri" pitchFamily="34" charset="0"/>
                          <a:ea typeface="Calibri" pitchFamily="34" charset="-122"/>
                          <a:cs typeface="Calibri" pitchFamily="34" charset="-120"/>
                        </a:rPr>
                        <a:t>To be calculated</a:t>
                      </a:r>
                      <a:endParaRPr lang="en-US" sz="110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tcPr>
                </a:tc>
              </a:tr>
            </a:tbl>
          </a:graphicData>
        </a:graphic>
      </p:graphicFrame>
      <p:sp>
        <p:nvSpPr>
          <p:cNvPr id="21" name="Shape 18"/>
          <p:cNvSpPr/>
          <p:nvPr/>
        </p:nvSpPr>
        <p:spPr>
          <a:xfrm>
            <a:off x="6272784" y="3657600"/>
            <a:ext cx="5321808" cy="2395728"/>
          </a:xfrm>
          <a:prstGeom prst="roundRect">
            <a:avLst>
              <a:gd name="adj" fmla="val 2290"/>
            </a:avLst>
          </a:prstGeom>
          <a:solidFill>
            <a:srgbClr val="FDF6EF"/>
          </a:solidFill>
          <a:ln w="12700">
            <a:solidFill>
              <a:srgbClr val="D6DCE5"/>
            </a:solidFill>
            <a:prstDash val="solid"/>
          </a:ln>
        </p:spPr>
      </p:sp>
      <p:sp>
        <p:nvSpPr>
          <p:cNvPr id="22" name="Text 19"/>
          <p:cNvSpPr/>
          <p:nvPr/>
        </p:nvSpPr>
        <p:spPr>
          <a:xfrm>
            <a:off x="6473952" y="3822192"/>
            <a:ext cx="4937760" cy="256032"/>
          </a:xfrm>
          <a:prstGeom prst="rect">
            <a:avLst/>
          </a:prstGeom>
          <a:noFill/>
          <a:ln/>
        </p:spPr>
        <p:txBody>
          <a:bodyPr wrap="square" lIns="0" tIns="0" rIns="0" bIns="0" rtlCol="0" anchor="ctr"/>
          <a:lstStyle/>
          <a:p>
            <a:pPr indent="0" marL="0">
              <a:buNone/>
            </a:pPr>
            <a:r>
              <a:rPr lang="en-US" sz="1350" b="1" dirty="0">
                <a:solidFill>
                  <a:srgbClr val="C2703A"/>
                </a:solidFill>
                <a:latin typeface="Cambria" pitchFamily="34" charset="0"/>
                <a:ea typeface="Cambria" pitchFamily="34" charset="-122"/>
                <a:cs typeface="Cambria" pitchFamily="34" charset="-120"/>
              </a:rPr>
              <a:t>Note on the comparison</a:t>
            </a:r>
            <a:endParaRPr lang="en-US" sz="1350" dirty="0"/>
          </a:p>
        </p:txBody>
      </p:sp>
      <p:sp>
        <p:nvSpPr>
          <p:cNvPr id="23" name="Text 20"/>
          <p:cNvSpPr/>
          <p:nvPr/>
        </p:nvSpPr>
        <p:spPr>
          <a:xfrm>
            <a:off x="6473952" y="4114800"/>
            <a:ext cx="4937760" cy="1828800"/>
          </a:xfrm>
          <a:prstGeom prst="rect">
            <a:avLst/>
          </a:prstGeom>
          <a:noFill/>
          <a:ln/>
        </p:spPr>
        <p:txBody>
          <a:bodyPr wrap="square" lIns="0" tIns="0" rIns="0" bIns="0" rtlCol="0" anchor="ctr"/>
          <a:lstStyle/>
          <a:p>
            <a:pPr indent="0" marL="0">
              <a:lnSpc>
                <a:spcPts val="1600"/>
              </a:lnSpc>
              <a:buNone/>
            </a:pPr>
            <a:r>
              <a:rPr lang="en-US" sz="1130" dirty="0">
                <a:solidFill>
                  <a:srgbClr val="1F2430"/>
                </a:solidFill>
                <a:latin typeface="Calibri" pitchFamily="34" charset="0"/>
                <a:ea typeface="Calibri" pitchFamily="34" charset="-122"/>
                <a:cs typeface="Calibri" pitchFamily="34" charset="-120"/>
              </a:rPr>
              <a:t>Values are not reported in this review because model training has not yet been carried out. Results will be presented in the next review.</a:t>
            </a:r>
            <a:endParaRPr lang="en-US" sz="1130" dirty="0"/>
          </a:p>
          <a:p>
            <a:pPr indent="0" marL="0">
              <a:lnSpc>
                <a:spcPts val="1600"/>
              </a:lnSpc>
              <a:buNone/>
            </a:pPr>
            <a:endParaRPr lang="en-US" sz="1130" dirty="0"/>
          </a:p>
          <a:p>
            <a:pPr indent="0" marL="0">
              <a:lnSpc>
                <a:spcPts val="1600"/>
              </a:lnSpc>
              <a:buNone/>
            </a:pPr>
            <a:r>
              <a:rPr lang="en-US" sz="1130" dirty="0">
                <a:solidFill>
                  <a:srgbClr val="1F2430"/>
                </a:solidFill>
                <a:latin typeface="Calibri" pitchFamily="34" charset="0"/>
                <a:ea typeface="Calibri" pitchFamily="34" charset="-122"/>
                <a:cs typeface="Calibri" pitchFamily="34" charset="-120"/>
              </a:rPr>
              <a:t>Because properties in the same locality share price characteristics, a random train-test split can place closely related records on both sides of the split and overstate performance. A grouped split by locality will therefore be used alongside the random split, and both results will be reported.</a:t>
            </a:r>
            <a:endParaRPr lang="en-US" sz="1130" dirty="0"/>
          </a:p>
        </p:txBody>
      </p:sp>
      <p:sp>
        <p:nvSpPr>
          <p:cNvPr id="25" name="Text 21"/>
          <p:cNvSpPr/>
          <p:nvPr/>
        </p:nvSpPr>
        <p:spPr>
          <a:xfrm>
            <a:off x="11045952" y="6419088"/>
            <a:ext cx="548640" cy="256032"/>
          </a:xfrm>
          <a:prstGeom prst="rect">
            <a:avLst/>
          </a:prstGeom>
          <a:noFill/>
          <a:ln/>
        </p:spPr>
        <p:txBody>
          <a:bodyPr wrap="square" lIns="0" tIns="0" rIns="0" bIns="0" rtlCol="0" anchor="ctr"/>
          <a:lstStyle/>
          <a:p>
            <a:pPr algn="r" indent="0" marL="0">
              <a:buNone/>
            </a:pPr>
            <a:r>
              <a:rPr lang="en-US" sz="1000" dirty="0">
                <a:solidFill>
                  <a:srgbClr val="5C6675"/>
                </a:solidFill>
                <a:latin typeface="Calibri" pitchFamily="34" charset="0"/>
                <a:ea typeface="Calibri" pitchFamily="34" charset="-122"/>
                <a:cs typeface="Calibri" pitchFamily="34" charset="-120"/>
              </a:rPr>
              <a:t>16</a:t>
            </a:r>
            <a:endParaRPr lang="en-US" sz="1000" dirty="0"/>
          </a:p>
        </p:txBody>
      </p:sp>
      <p:sp>
        <p:nvSpPr>
          <p:cNvPr id="26" name="Text 22"/>
          <p:cNvSpPr/>
          <p:nvPr/>
        </p:nvSpPr>
        <p:spPr>
          <a:xfrm>
            <a:off x="566928" y="6419088"/>
            <a:ext cx="7315200" cy="256032"/>
          </a:xfrm>
          <a:prstGeom prst="rect">
            <a:avLst/>
          </a:prstGeom>
          <a:noFill/>
          <a:ln/>
        </p:spPr>
        <p:txBody>
          <a:bodyPr wrap="square" lIns="0" tIns="0" rIns="0" bIns="0" rtlCol="0" anchor="ctr"/>
          <a:lstStyle/>
          <a:p>
            <a:pPr indent="0" marL="0">
              <a:buNone/>
            </a:pPr>
            <a:r>
              <a:rPr lang="en-US" sz="1000" dirty="0">
                <a:solidFill>
                  <a:srgbClr val="5C6675"/>
                </a:solidFill>
                <a:latin typeface="Calibri" pitchFamily="34" charset="0"/>
                <a:ea typeface="Calibri" pitchFamily="34" charset="-122"/>
                <a:cs typeface="Calibri" pitchFamily="34" charset="-120"/>
              </a:rPr>
              <a:t>Project Review 1  ·  B.Tech CSE (AI &amp; ML)  ·  SRMIST</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8229600" cy="237744"/>
          </a:xfrm>
          <a:prstGeom prst="rect">
            <a:avLst/>
          </a:prstGeom>
          <a:noFill/>
          <a:ln/>
        </p:spPr>
        <p:txBody>
          <a:bodyPr wrap="square" lIns="0" tIns="0" rIns="0" bIns="0" rtlCol="0" anchor="ctr"/>
          <a:lstStyle/>
          <a:p>
            <a:pPr indent="0" marL="0">
              <a:buNone/>
            </a:pPr>
            <a:r>
              <a:rPr lang="en-US" sz="1100" b="1" spc="160" kern="0" dirty="0">
                <a:solidFill>
                  <a:srgbClr val="C2703A"/>
                </a:solidFill>
                <a:latin typeface="Calibri" pitchFamily="34" charset="0"/>
                <a:ea typeface="Calibri" pitchFamily="34" charset="-122"/>
                <a:cs typeface="Calibri" pitchFamily="34" charset="-120"/>
              </a:rPr>
              <a:t>EXPLAINABLE AI — PLANNED ANALYSIS</a:t>
            </a:r>
            <a:endParaRPr lang="en-US" sz="1100" dirty="0"/>
          </a:p>
        </p:txBody>
      </p:sp>
      <p:sp>
        <p:nvSpPr>
          <p:cNvPr id="3" name="Text 1"/>
          <p:cNvSpPr/>
          <p:nvPr/>
        </p:nvSpPr>
        <p:spPr>
          <a:xfrm>
            <a:off x="566928" y="566928"/>
            <a:ext cx="11027664" cy="566928"/>
          </a:xfrm>
          <a:prstGeom prst="rect">
            <a:avLst/>
          </a:prstGeom>
          <a:noFill/>
          <a:ln/>
        </p:spPr>
        <p:txBody>
          <a:bodyPr wrap="square" lIns="0" tIns="0" rIns="0" bIns="0" rtlCol="0" anchor="ctr"/>
          <a:lstStyle/>
          <a:p>
            <a:pPr indent="0" marL="0">
              <a:buNone/>
            </a:pPr>
            <a:r>
              <a:rPr lang="en-US" sz="3000" b="1" dirty="0">
                <a:solidFill>
                  <a:srgbClr val="1B365D"/>
                </a:solidFill>
                <a:latin typeface="Cambria" pitchFamily="34" charset="0"/>
                <a:ea typeface="Cambria" pitchFamily="34" charset="-122"/>
                <a:cs typeface="Cambria" pitchFamily="34" charset="-120"/>
              </a:rPr>
              <a:t>Understanding the Prediction</a:t>
            </a:r>
            <a:endParaRPr lang="en-US" sz="3000" dirty="0"/>
          </a:p>
        </p:txBody>
      </p:sp>
      <p:sp>
        <p:nvSpPr>
          <p:cNvPr id="4" name="Shape 2"/>
          <p:cNvSpPr/>
          <p:nvPr/>
        </p:nvSpPr>
        <p:spPr>
          <a:xfrm>
            <a:off x="566928" y="1371600"/>
            <a:ext cx="3200400" cy="658368"/>
          </a:xfrm>
          <a:prstGeom prst="roundRect">
            <a:avLst>
              <a:gd name="adj" fmla="val 8333"/>
            </a:avLst>
          </a:prstGeom>
          <a:solidFill>
            <a:srgbClr val="1B365D"/>
          </a:solidFill>
          <a:ln w="12700">
            <a:solidFill>
              <a:srgbClr val="1B365D"/>
            </a:solidFill>
            <a:prstDash val="solid"/>
          </a:ln>
        </p:spPr>
      </p:sp>
      <p:sp>
        <p:nvSpPr>
          <p:cNvPr id="5" name="Text 3"/>
          <p:cNvSpPr/>
          <p:nvPr/>
        </p:nvSpPr>
        <p:spPr>
          <a:xfrm>
            <a:off x="566928" y="1371600"/>
            <a:ext cx="3200400" cy="65836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Predicted Property Price</a:t>
            </a:r>
            <a:endParaRPr lang="en-US" sz="1300" dirty="0"/>
          </a:p>
        </p:txBody>
      </p:sp>
      <p:sp>
        <p:nvSpPr>
          <p:cNvPr id="6" name="Shape 4"/>
          <p:cNvSpPr/>
          <p:nvPr/>
        </p:nvSpPr>
        <p:spPr>
          <a:xfrm>
            <a:off x="3858768" y="1700784"/>
            <a:ext cx="457200" cy="0"/>
          </a:xfrm>
          <a:prstGeom prst="line">
            <a:avLst/>
          </a:prstGeom>
          <a:noFill/>
          <a:ln w="19050">
            <a:solidFill>
              <a:srgbClr val="5C6675"/>
            </a:solidFill>
            <a:prstDash val="solid"/>
            <a:tailEnd type="triangle"/>
          </a:ln>
        </p:spPr>
      </p:sp>
      <p:sp>
        <p:nvSpPr>
          <p:cNvPr id="7" name="Shape 5"/>
          <p:cNvSpPr/>
          <p:nvPr/>
        </p:nvSpPr>
        <p:spPr>
          <a:xfrm>
            <a:off x="4315968" y="1371600"/>
            <a:ext cx="3931920" cy="658368"/>
          </a:xfrm>
          <a:prstGeom prst="roundRect">
            <a:avLst>
              <a:gd name="adj" fmla="val 8333"/>
            </a:avLst>
          </a:prstGeom>
          <a:solidFill>
            <a:srgbClr val="FDF6EF"/>
          </a:solidFill>
          <a:ln w="19050">
            <a:solidFill>
              <a:srgbClr val="C2703A"/>
            </a:solidFill>
            <a:prstDash val="solid"/>
          </a:ln>
        </p:spPr>
      </p:sp>
      <p:sp>
        <p:nvSpPr>
          <p:cNvPr id="8" name="Text 6"/>
          <p:cNvSpPr/>
          <p:nvPr/>
        </p:nvSpPr>
        <p:spPr>
          <a:xfrm>
            <a:off x="4315968" y="1371600"/>
            <a:ext cx="3931920" cy="658368"/>
          </a:xfrm>
          <a:prstGeom prst="rect">
            <a:avLst/>
          </a:prstGeom>
          <a:noFill/>
          <a:ln/>
        </p:spPr>
        <p:txBody>
          <a:bodyPr wrap="square" lIns="0" tIns="0" rIns="0" bIns="0" rtlCol="0" anchor="ctr"/>
          <a:lstStyle/>
          <a:p>
            <a:pPr algn="ctr" indent="0" marL="0">
              <a:buNone/>
            </a:pPr>
            <a:r>
              <a:rPr lang="en-US" sz="1300" b="1" dirty="0">
                <a:solidFill>
                  <a:srgbClr val="C2703A"/>
                </a:solidFill>
                <a:latin typeface="Calibri" pitchFamily="34" charset="0"/>
                <a:ea typeface="Calibri" pitchFamily="34" charset="-122"/>
                <a:cs typeface="Calibri" pitchFamily="34" charset="-120"/>
              </a:rPr>
              <a:t>Which features influenced it?</a:t>
            </a:r>
            <a:endParaRPr lang="en-US" sz="1300" dirty="0"/>
          </a:p>
        </p:txBody>
      </p:sp>
      <p:sp>
        <p:nvSpPr>
          <p:cNvPr id="9" name="Shape 7"/>
          <p:cNvSpPr/>
          <p:nvPr/>
        </p:nvSpPr>
        <p:spPr>
          <a:xfrm>
            <a:off x="8339328" y="1700784"/>
            <a:ext cx="457200" cy="0"/>
          </a:xfrm>
          <a:prstGeom prst="line">
            <a:avLst/>
          </a:prstGeom>
          <a:noFill/>
          <a:ln w="19050">
            <a:solidFill>
              <a:srgbClr val="5C6675"/>
            </a:solidFill>
            <a:prstDash val="solid"/>
            <a:tailEnd type="triangle"/>
          </a:ln>
        </p:spPr>
      </p:sp>
      <p:sp>
        <p:nvSpPr>
          <p:cNvPr id="10" name="Shape 8"/>
          <p:cNvSpPr/>
          <p:nvPr/>
        </p:nvSpPr>
        <p:spPr>
          <a:xfrm>
            <a:off x="8906256" y="1371600"/>
            <a:ext cx="2706624" cy="658368"/>
          </a:xfrm>
          <a:prstGeom prst="roundRect">
            <a:avLst>
              <a:gd name="adj" fmla="val 8333"/>
            </a:avLst>
          </a:prstGeom>
          <a:solidFill>
            <a:srgbClr val="F4F6F9"/>
          </a:solidFill>
          <a:ln w="15240">
            <a:solidFill>
              <a:srgbClr val="D6DCE5"/>
            </a:solidFill>
            <a:prstDash val="solid"/>
          </a:ln>
        </p:spPr>
      </p:sp>
      <p:sp>
        <p:nvSpPr>
          <p:cNvPr id="11" name="Text 9"/>
          <p:cNvSpPr/>
          <p:nvPr/>
        </p:nvSpPr>
        <p:spPr>
          <a:xfrm>
            <a:off x="8906256" y="1371600"/>
            <a:ext cx="2706624" cy="658368"/>
          </a:xfrm>
          <a:prstGeom prst="rect">
            <a:avLst/>
          </a:prstGeom>
          <a:noFill/>
          <a:ln/>
        </p:spPr>
        <p:txBody>
          <a:bodyPr wrap="square" lIns="0" tIns="0" rIns="0" bIns="0" rtlCol="0" anchor="ctr"/>
          <a:lstStyle/>
          <a:p>
            <a:pPr algn="ctr" indent="0" marL="0">
              <a:buNone/>
            </a:pPr>
            <a:r>
              <a:rPr lang="en-US" sz="1300" b="1" dirty="0">
                <a:solidFill>
                  <a:srgbClr val="1B365D"/>
                </a:solidFill>
                <a:latin typeface="Calibri" pitchFamily="34" charset="0"/>
                <a:ea typeface="Calibri" pitchFamily="34" charset="-122"/>
                <a:cs typeface="Calibri" pitchFamily="34" charset="-120"/>
              </a:rPr>
              <a:t>Ranked contributions</a:t>
            </a:r>
            <a:endParaRPr lang="en-US" sz="1300" dirty="0"/>
          </a:p>
        </p:txBody>
      </p:sp>
      <p:sp>
        <p:nvSpPr>
          <p:cNvPr id="12" name="Shape 10"/>
          <p:cNvSpPr/>
          <p:nvPr/>
        </p:nvSpPr>
        <p:spPr>
          <a:xfrm>
            <a:off x="566928" y="2395728"/>
            <a:ext cx="5486400" cy="1060704"/>
          </a:xfrm>
          <a:prstGeom prst="roundRect">
            <a:avLst>
              <a:gd name="adj" fmla="val 5172"/>
            </a:avLst>
          </a:prstGeom>
          <a:solidFill>
            <a:srgbClr val="F4F6F9"/>
          </a:solidFill>
          <a:ln w="12700">
            <a:solidFill>
              <a:srgbClr val="D6DCE5"/>
            </a:solidFill>
            <a:prstDash val="solid"/>
          </a:ln>
        </p:spPr>
      </p:sp>
      <p:sp>
        <p:nvSpPr>
          <p:cNvPr id="13" name="Text 11"/>
          <p:cNvSpPr/>
          <p:nvPr/>
        </p:nvSpPr>
        <p:spPr>
          <a:xfrm>
            <a:off x="786384" y="2542032"/>
            <a:ext cx="5029200" cy="256032"/>
          </a:xfrm>
          <a:prstGeom prst="rect">
            <a:avLst/>
          </a:prstGeom>
          <a:noFill/>
          <a:ln/>
        </p:spPr>
        <p:txBody>
          <a:bodyPr wrap="square" lIns="0" tIns="0" rIns="0" bIns="0" rtlCol="0" anchor="ctr"/>
          <a:lstStyle/>
          <a:p>
            <a:pPr indent="0" marL="0">
              <a:buNone/>
            </a:pPr>
            <a:r>
              <a:rPr lang="en-US" sz="1300" b="1" dirty="0">
                <a:solidFill>
                  <a:srgbClr val="1B365D"/>
                </a:solidFill>
                <a:latin typeface="Calibri" pitchFamily="34" charset="0"/>
                <a:ea typeface="Calibri" pitchFamily="34" charset="-122"/>
                <a:cs typeface="Calibri" pitchFamily="34" charset="-120"/>
              </a:rPr>
              <a:t>Feature importance</a:t>
            </a:r>
            <a:endParaRPr lang="en-US" sz="1300" dirty="0"/>
          </a:p>
        </p:txBody>
      </p:sp>
      <p:sp>
        <p:nvSpPr>
          <p:cNvPr id="14" name="Text 12"/>
          <p:cNvSpPr/>
          <p:nvPr/>
        </p:nvSpPr>
        <p:spPr>
          <a:xfrm>
            <a:off x="786384" y="2816352"/>
            <a:ext cx="5065776" cy="566928"/>
          </a:xfrm>
          <a:prstGeom prst="rect">
            <a:avLst/>
          </a:prstGeom>
          <a:noFill/>
          <a:ln/>
        </p:spPr>
        <p:txBody>
          <a:bodyPr wrap="square" lIns="0" tIns="0" rIns="0" bIns="0" rtlCol="0" anchor="ctr"/>
          <a:lstStyle/>
          <a:p>
            <a:pPr indent="0" marL="0">
              <a:lnSpc>
                <a:spcPts val="1500"/>
              </a:lnSpc>
              <a:buNone/>
            </a:pPr>
            <a:r>
              <a:rPr lang="en-US" sz="1130" dirty="0">
                <a:solidFill>
                  <a:srgbClr val="5C6675"/>
                </a:solidFill>
                <a:latin typeface="Calibri" pitchFamily="34" charset="0"/>
                <a:ea typeface="Calibri" pitchFamily="34" charset="-122"/>
                <a:cs typeface="Calibri" pitchFamily="34" charset="-120"/>
              </a:rPr>
              <a:t>Measures how much model performance degrades when a feature's values are randomly permuted, indicating the model's reliance on that feature.</a:t>
            </a:r>
            <a:endParaRPr lang="en-US" sz="1130" dirty="0"/>
          </a:p>
        </p:txBody>
      </p:sp>
      <p:sp>
        <p:nvSpPr>
          <p:cNvPr id="15" name="Shape 13"/>
          <p:cNvSpPr/>
          <p:nvPr/>
        </p:nvSpPr>
        <p:spPr>
          <a:xfrm>
            <a:off x="566928" y="3621024"/>
            <a:ext cx="5486400" cy="1060704"/>
          </a:xfrm>
          <a:prstGeom prst="roundRect">
            <a:avLst>
              <a:gd name="adj" fmla="val 5172"/>
            </a:avLst>
          </a:prstGeom>
          <a:solidFill>
            <a:srgbClr val="F4F6F9"/>
          </a:solidFill>
          <a:ln w="12700">
            <a:solidFill>
              <a:srgbClr val="D6DCE5"/>
            </a:solidFill>
            <a:prstDash val="solid"/>
          </a:ln>
        </p:spPr>
      </p:sp>
      <p:sp>
        <p:nvSpPr>
          <p:cNvPr id="16" name="Text 14"/>
          <p:cNvSpPr/>
          <p:nvPr/>
        </p:nvSpPr>
        <p:spPr>
          <a:xfrm>
            <a:off x="786384" y="3767328"/>
            <a:ext cx="5029200" cy="256032"/>
          </a:xfrm>
          <a:prstGeom prst="rect">
            <a:avLst/>
          </a:prstGeom>
          <a:noFill/>
          <a:ln/>
        </p:spPr>
        <p:txBody>
          <a:bodyPr wrap="square" lIns="0" tIns="0" rIns="0" bIns="0" rtlCol="0" anchor="ctr"/>
          <a:lstStyle/>
          <a:p>
            <a:pPr indent="0" marL="0">
              <a:buNone/>
            </a:pPr>
            <a:r>
              <a:rPr lang="en-US" sz="1300" b="1" dirty="0">
                <a:solidFill>
                  <a:srgbClr val="1B365D"/>
                </a:solidFill>
                <a:latin typeface="Calibri" pitchFamily="34" charset="0"/>
                <a:ea typeface="Calibri" pitchFamily="34" charset="-122"/>
                <a:cs typeface="Calibri" pitchFamily="34" charset="-120"/>
              </a:rPr>
              <a:t>SHAP (SHapley Additive exPlanations)</a:t>
            </a:r>
            <a:endParaRPr lang="en-US" sz="1300" dirty="0"/>
          </a:p>
        </p:txBody>
      </p:sp>
      <p:sp>
        <p:nvSpPr>
          <p:cNvPr id="17" name="Text 15"/>
          <p:cNvSpPr/>
          <p:nvPr/>
        </p:nvSpPr>
        <p:spPr>
          <a:xfrm>
            <a:off x="786384" y="4041648"/>
            <a:ext cx="5065776" cy="566928"/>
          </a:xfrm>
          <a:prstGeom prst="rect">
            <a:avLst/>
          </a:prstGeom>
          <a:noFill/>
          <a:ln/>
        </p:spPr>
        <p:txBody>
          <a:bodyPr wrap="square" lIns="0" tIns="0" rIns="0" bIns="0" rtlCol="0" anchor="ctr"/>
          <a:lstStyle/>
          <a:p>
            <a:pPr indent="0" marL="0">
              <a:lnSpc>
                <a:spcPts val="1500"/>
              </a:lnSpc>
              <a:buNone/>
            </a:pPr>
            <a:r>
              <a:rPr lang="en-US" sz="1130" dirty="0">
                <a:solidFill>
                  <a:srgbClr val="5C6675"/>
                </a:solidFill>
                <a:latin typeface="Calibri" pitchFamily="34" charset="0"/>
                <a:ea typeface="Calibri" pitchFamily="34" charset="-122"/>
                <a:cs typeface="Calibri" pitchFamily="34" charset="-120"/>
              </a:rPr>
              <a:t>Attributes a contribution value to each feature for an individual prediction, showing which attributes pushed the estimate above or below the baseline.</a:t>
            </a:r>
            <a:endParaRPr lang="en-US" sz="1130" dirty="0"/>
          </a:p>
        </p:txBody>
      </p:sp>
      <p:sp>
        <p:nvSpPr>
          <p:cNvPr id="18" name="Shape 16"/>
          <p:cNvSpPr/>
          <p:nvPr/>
        </p:nvSpPr>
        <p:spPr>
          <a:xfrm>
            <a:off x="6272784" y="2395728"/>
            <a:ext cx="5321808" cy="2432304"/>
          </a:xfrm>
          <a:prstGeom prst="roundRect">
            <a:avLst>
              <a:gd name="adj" fmla="val 2256"/>
            </a:avLst>
          </a:prstGeom>
          <a:solidFill>
            <a:srgbClr val="F4F6F9"/>
          </a:solidFill>
          <a:ln w="12700">
            <a:solidFill>
              <a:srgbClr val="D6DCE5"/>
            </a:solidFill>
            <a:prstDash val="solid"/>
          </a:ln>
        </p:spPr>
      </p:sp>
      <p:sp>
        <p:nvSpPr>
          <p:cNvPr id="19" name="Text 17"/>
          <p:cNvSpPr/>
          <p:nvPr/>
        </p:nvSpPr>
        <p:spPr>
          <a:xfrm>
            <a:off x="6473952" y="2560320"/>
            <a:ext cx="4937760" cy="256032"/>
          </a:xfrm>
          <a:prstGeom prst="rect">
            <a:avLst/>
          </a:prstGeom>
          <a:noFill/>
          <a:ln/>
        </p:spPr>
        <p:txBody>
          <a:bodyPr wrap="square" lIns="0" tIns="0" rIns="0" bIns="0" rtlCol="0" anchor="ctr"/>
          <a:lstStyle/>
          <a:p>
            <a:pPr indent="0" marL="0">
              <a:buNone/>
            </a:pPr>
            <a:r>
              <a:rPr lang="en-US" sz="1300" b="1" dirty="0">
                <a:solidFill>
                  <a:srgbClr val="1B365D"/>
                </a:solidFill>
                <a:latin typeface="Calibri" pitchFamily="34" charset="0"/>
                <a:ea typeface="Calibri" pitchFamily="34" charset="-122"/>
                <a:cs typeface="Calibri" pitchFamily="34" charset="-120"/>
              </a:rPr>
              <a:t>Features expected to be examined</a:t>
            </a:r>
            <a:endParaRPr lang="en-US" sz="1300" dirty="0"/>
          </a:p>
        </p:txBody>
      </p:sp>
      <p:sp>
        <p:nvSpPr>
          <p:cNvPr id="20" name="Text 18"/>
          <p:cNvSpPr/>
          <p:nvPr/>
        </p:nvSpPr>
        <p:spPr>
          <a:xfrm>
            <a:off x="6473952" y="2871216"/>
            <a:ext cx="4937760" cy="1828800"/>
          </a:xfrm>
          <a:prstGeom prst="rect">
            <a:avLst/>
          </a:prstGeom>
          <a:noFill/>
          <a:ln/>
        </p:spPr>
        <p:txBody>
          <a:bodyPr wrap="square" lIns="0" tIns="0" rIns="0" bIns="0" rtlCol="0" anchor="ctr"/>
          <a:lstStyle/>
          <a:p>
            <a:pPr marL="342900" indent="-342900">
              <a:spcAft>
                <a:spcPts val="600"/>
              </a:spcAft>
              <a:buSzPct val="100000"/>
              <a:buChar char="•"/>
            </a:pPr>
            <a:r>
              <a:rPr lang="en-US" sz="1200" dirty="0">
                <a:solidFill>
                  <a:srgbClr val="1F2430"/>
                </a:solidFill>
                <a:latin typeface="Calibri" pitchFamily="34" charset="0"/>
                <a:ea typeface="Calibri" pitchFamily="34" charset="-122"/>
                <a:cs typeface="Calibri" pitchFamily="34" charset="-120"/>
              </a:rPr>
              <a:t>Built-up area</a:t>
            </a:r>
            <a:endParaRPr lang="en-US" sz="1200" dirty="0"/>
          </a:p>
          <a:p>
            <a:pPr marL="342900" indent="-342900">
              <a:spcAft>
                <a:spcPts val="600"/>
              </a:spcAft>
              <a:buSzPct val="100000"/>
              <a:buChar char="•"/>
            </a:pPr>
            <a:r>
              <a:rPr lang="en-US" sz="1200" dirty="0">
                <a:solidFill>
                  <a:srgbClr val="1F2430"/>
                </a:solidFill>
                <a:latin typeface="Calibri" pitchFamily="34" charset="0"/>
                <a:ea typeface="Calibri" pitchFamily="34" charset="-122"/>
                <a:cs typeface="Calibri" pitchFamily="34" charset="-120"/>
              </a:rPr>
              <a:t>Locality</a:t>
            </a:r>
            <a:endParaRPr lang="en-US" sz="1200" dirty="0"/>
          </a:p>
          <a:p>
            <a:pPr marL="342900" indent="-342900">
              <a:spcAft>
                <a:spcPts val="600"/>
              </a:spcAft>
              <a:buSzPct val="100000"/>
              <a:buChar char="•"/>
            </a:pPr>
            <a:r>
              <a:rPr lang="en-US" sz="1200" dirty="0">
                <a:solidFill>
                  <a:srgbClr val="1F2430"/>
                </a:solidFill>
                <a:latin typeface="Calibri" pitchFamily="34" charset="0"/>
                <a:ea typeface="Calibri" pitchFamily="34" charset="-122"/>
                <a:cs typeface="Calibri" pitchFamily="34" charset="-120"/>
              </a:rPr>
              <a:t>Configuration (BHK)</a:t>
            </a:r>
            <a:endParaRPr lang="en-US" sz="1200" dirty="0"/>
          </a:p>
          <a:p>
            <a:pPr marL="342900" indent="-342900">
              <a:spcAft>
                <a:spcPts val="600"/>
              </a:spcAft>
              <a:buSzPct val="100000"/>
              <a:buChar char="•"/>
            </a:pPr>
            <a:r>
              <a:rPr lang="en-US" sz="1200" dirty="0">
                <a:solidFill>
                  <a:srgbClr val="1F2430"/>
                </a:solidFill>
                <a:latin typeface="Calibri" pitchFamily="34" charset="0"/>
                <a:ea typeface="Calibri" pitchFamily="34" charset="-122"/>
                <a:cs typeface="Calibri" pitchFamily="34" charset="-120"/>
              </a:rPr>
              <a:t>Connectivity and accessibility</a:t>
            </a:r>
            <a:endParaRPr lang="en-US" sz="1200" dirty="0"/>
          </a:p>
          <a:p>
            <a:pPr marL="342900" indent="-342900">
              <a:spcAft>
                <a:spcPts val="600"/>
              </a:spcAft>
              <a:buSzPct val="100000"/>
              <a:buChar char="•"/>
            </a:pPr>
            <a:r>
              <a:rPr lang="en-US" sz="1200" dirty="0">
                <a:solidFill>
                  <a:srgbClr val="1F2430"/>
                </a:solidFill>
                <a:latin typeface="Calibri" pitchFamily="34" charset="0"/>
                <a:ea typeface="Calibri" pitchFamily="34" charset="-122"/>
                <a:cs typeface="Calibri" pitchFamily="34" charset="-120"/>
              </a:rPr>
              <a:t>Property age</a:t>
            </a:r>
            <a:endParaRPr lang="en-US" sz="1200" dirty="0"/>
          </a:p>
          <a:p>
            <a:pPr marL="342900" indent="-342900">
              <a:spcAft>
                <a:spcPts val="600"/>
              </a:spcAft>
              <a:buSzPct val="100000"/>
              <a:buChar char="•"/>
            </a:pPr>
            <a:r>
              <a:rPr lang="en-US" sz="1200" dirty="0">
                <a:solidFill>
                  <a:srgbClr val="1F2430"/>
                </a:solidFill>
                <a:latin typeface="Calibri" pitchFamily="34" charset="0"/>
                <a:ea typeface="Calibri" pitchFamily="34" charset="-122"/>
                <a:cs typeface="Calibri" pitchFamily="34" charset="-120"/>
              </a:rPr>
              <a:t>Amenity availability</a:t>
            </a:r>
            <a:endParaRPr lang="en-US" sz="1200" dirty="0"/>
          </a:p>
        </p:txBody>
      </p:sp>
      <p:sp>
        <p:nvSpPr>
          <p:cNvPr id="21" name="Shape 19"/>
          <p:cNvSpPr/>
          <p:nvPr/>
        </p:nvSpPr>
        <p:spPr>
          <a:xfrm>
            <a:off x="566928" y="5029200"/>
            <a:ext cx="11027664" cy="786384"/>
          </a:xfrm>
          <a:prstGeom prst="roundRect">
            <a:avLst>
              <a:gd name="adj" fmla="val 6977"/>
            </a:avLst>
          </a:prstGeom>
          <a:solidFill>
            <a:srgbClr val="FDF6EF"/>
          </a:solidFill>
          <a:ln w="17780">
            <a:solidFill>
              <a:srgbClr val="C2703A"/>
            </a:solidFill>
            <a:prstDash val="solid"/>
          </a:ln>
        </p:spPr>
      </p:sp>
      <p:sp>
        <p:nvSpPr>
          <p:cNvPr id="22" name="Text 20"/>
          <p:cNvSpPr/>
          <p:nvPr/>
        </p:nvSpPr>
        <p:spPr>
          <a:xfrm>
            <a:off x="841248" y="5029200"/>
            <a:ext cx="10479024" cy="786384"/>
          </a:xfrm>
          <a:prstGeom prst="rect">
            <a:avLst/>
          </a:prstGeom>
          <a:noFill/>
          <a:ln/>
        </p:spPr>
        <p:txBody>
          <a:bodyPr wrap="square" lIns="0" tIns="0" rIns="0" bIns="0" rtlCol="0" anchor="ctr"/>
          <a:lstStyle/>
          <a:p>
            <a:pPr indent="0" marL="0">
              <a:buNone/>
            </a:pPr>
            <a:r>
              <a:rPr lang="en-US" sz="1250" i="1" dirty="0">
                <a:solidFill>
                  <a:srgbClr val="8A4A22"/>
                </a:solidFill>
                <a:latin typeface="Calibri" pitchFamily="34" charset="0"/>
                <a:ea typeface="Calibri" pitchFamily="34" charset="-122"/>
                <a:cs typeface="Calibri" pitchFamily="34" charset="-120"/>
              </a:rPr>
              <a:t>This slide describes planned analysis. No explainability results are reported at this stage, as model training has not yet been completed.</a:t>
            </a:r>
            <a:endParaRPr lang="en-US" sz="1250" dirty="0"/>
          </a:p>
        </p:txBody>
      </p:sp>
      <p:sp>
        <p:nvSpPr>
          <p:cNvPr id="23" name="Text 21"/>
          <p:cNvSpPr/>
          <p:nvPr/>
        </p:nvSpPr>
        <p:spPr>
          <a:xfrm>
            <a:off x="11045952" y="6419088"/>
            <a:ext cx="548640" cy="256032"/>
          </a:xfrm>
          <a:prstGeom prst="rect">
            <a:avLst/>
          </a:prstGeom>
          <a:noFill/>
          <a:ln/>
        </p:spPr>
        <p:txBody>
          <a:bodyPr wrap="square" lIns="0" tIns="0" rIns="0" bIns="0" rtlCol="0" anchor="ctr"/>
          <a:lstStyle/>
          <a:p>
            <a:pPr algn="r" indent="0" marL="0">
              <a:buNone/>
            </a:pPr>
            <a:r>
              <a:rPr lang="en-US" sz="1000" dirty="0">
                <a:solidFill>
                  <a:srgbClr val="5C6675"/>
                </a:solidFill>
                <a:latin typeface="Calibri" pitchFamily="34" charset="0"/>
                <a:ea typeface="Calibri" pitchFamily="34" charset="-122"/>
                <a:cs typeface="Calibri" pitchFamily="34" charset="-120"/>
              </a:rPr>
              <a:t>17</a:t>
            </a:r>
            <a:endParaRPr lang="en-US" sz="1000" dirty="0"/>
          </a:p>
        </p:txBody>
      </p:sp>
      <p:sp>
        <p:nvSpPr>
          <p:cNvPr id="24" name="Text 22"/>
          <p:cNvSpPr/>
          <p:nvPr/>
        </p:nvSpPr>
        <p:spPr>
          <a:xfrm>
            <a:off x="566928" y="6419088"/>
            <a:ext cx="7315200" cy="256032"/>
          </a:xfrm>
          <a:prstGeom prst="rect">
            <a:avLst/>
          </a:prstGeom>
          <a:noFill/>
          <a:ln/>
        </p:spPr>
        <p:txBody>
          <a:bodyPr wrap="square" lIns="0" tIns="0" rIns="0" bIns="0" rtlCol="0" anchor="ctr"/>
          <a:lstStyle/>
          <a:p>
            <a:pPr indent="0" marL="0">
              <a:buNone/>
            </a:pPr>
            <a:r>
              <a:rPr lang="en-US" sz="1000" dirty="0">
                <a:solidFill>
                  <a:srgbClr val="5C6675"/>
                </a:solidFill>
                <a:latin typeface="Calibri" pitchFamily="34" charset="0"/>
                <a:ea typeface="Calibri" pitchFamily="34" charset="-122"/>
                <a:cs typeface="Calibri" pitchFamily="34" charset="-120"/>
              </a:rPr>
              <a:t>Project Review 1  ·  B.Tech CSE (AI &amp; ML)  ·  SRMIST</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8229600" cy="237744"/>
          </a:xfrm>
          <a:prstGeom prst="rect">
            <a:avLst/>
          </a:prstGeom>
          <a:noFill/>
          <a:ln/>
        </p:spPr>
        <p:txBody>
          <a:bodyPr wrap="square" lIns="0" tIns="0" rIns="0" bIns="0" rtlCol="0" anchor="ctr"/>
          <a:lstStyle/>
          <a:p>
            <a:pPr indent="0" marL="0">
              <a:buNone/>
            </a:pPr>
            <a:r>
              <a:rPr lang="en-US" sz="1100" b="1" spc="160" kern="0" dirty="0">
                <a:solidFill>
                  <a:srgbClr val="C2703A"/>
                </a:solidFill>
                <a:latin typeface="Calibri" pitchFamily="34" charset="0"/>
                <a:ea typeface="Calibri" pitchFamily="34" charset="-122"/>
                <a:cs typeface="Calibri" pitchFamily="34" charset="-120"/>
              </a:rPr>
              <a:t>TECHNICAL DESIGN</a:t>
            </a:r>
            <a:endParaRPr lang="en-US" sz="1100" dirty="0"/>
          </a:p>
        </p:txBody>
      </p:sp>
      <p:sp>
        <p:nvSpPr>
          <p:cNvPr id="3" name="Text 1"/>
          <p:cNvSpPr/>
          <p:nvPr/>
        </p:nvSpPr>
        <p:spPr>
          <a:xfrm>
            <a:off x="566928" y="566928"/>
            <a:ext cx="11027664" cy="566928"/>
          </a:xfrm>
          <a:prstGeom prst="rect">
            <a:avLst/>
          </a:prstGeom>
          <a:noFill/>
          <a:ln/>
        </p:spPr>
        <p:txBody>
          <a:bodyPr wrap="square" lIns="0" tIns="0" rIns="0" bIns="0" rtlCol="0" anchor="ctr"/>
          <a:lstStyle/>
          <a:p>
            <a:pPr indent="0" marL="0">
              <a:buNone/>
            </a:pPr>
            <a:r>
              <a:rPr lang="en-US" sz="3000" b="1" dirty="0">
                <a:solidFill>
                  <a:srgbClr val="1B365D"/>
                </a:solidFill>
                <a:latin typeface="Cambria" pitchFamily="34" charset="0"/>
                <a:ea typeface="Cambria" pitchFamily="34" charset="-122"/>
                <a:cs typeface="Cambria" pitchFamily="34" charset="-120"/>
              </a:rPr>
              <a:t>Proposed System Architecture</a:t>
            </a:r>
            <a:endParaRPr lang="en-US" sz="3000" dirty="0"/>
          </a:p>
        </p:txBody>
      </p:sp>
      <p:sp>
        <p:nvSpPr>
          <p:cNvPr id="4" name="Shape 2"/>
          <p:cNvSpPr/>
          <p:nvPr/>
        </p:nvSpPr>
        <p:spPr>
          <a:xfrm>
            <a:off x="566928" y="1572768"/>
            <a:ext cx="2084832" cy="603504"/>
          </a:xfrm>
          <a:prstGeom prst="roundRect">
            <a:avLst>
              <a:gd name="adj" fmla="val 7576"/>
            </a:avLst>
          </a:prstGeom>
          <a:solidFill>
            <a:srgbClr val="1B365D"/>
          </a:solidFill>
          <a:ln w="17780">
            <a:solidFill>
              <a:srgbClr val="1B365D"/>
            </a:solidFill>
            <a:prstDash val="solid"/>
          </a:ln>
        </p:spPr>
      </p:sp>
      <p:sp>
        <p:nvSpPr>
          <p:cNvPr id="5" name="Text 3"/>
          <p:cNvSpPr/>
          <p:nvPr/>
        </p:nvSpPr>
        <p:spPr>
          <a:xfrm>
            <a:off x="566928" y="1572768"/>
            <a:ext cx="2084832" cy="60350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Data Sources</a:t>
            </a:r>
            <a:endParaRPr lang="en-US" sz="1250" dirty="0"/>
          </a:p>
        </p:txBody>
      </p:sp>
      <p:sp>
        <p:nvSpPr>
          <p:cNvPr id="6" name="Shape 4"/>
          <p:cNvSpPr/>
          <p:nvPr/>
        </p:nvSpPr>
        <p:spPr>
          <a:xfrm>
            <a:off x="566928" y="2304288"/>
            <a:ext cx="2084832" cy="1810512"/>
          </a:xfrm>
          <a:prstGeom prst="roundRect">
            <a:avLst>
              <a:gd name="adj" fmla="val 3030"/>
            </a:avLst>
          </a:prstGeom>
          <a:solidFill>
            <a:srgbClr val="F4F6F9"/>
          </a:solidFill>
          <a:ln w="12700">
            <a:solidFill>
              <a:srgbClr val="D6DCE5"/>
            </a:solidFill>
            <a:prstDash val="solid"/>
          </a:ln>
        </p:spPr>
      </p:sp>
      <p:sp>
        <p:nvSpPr>
          <p:cNvPr id="7" name="Text 5"/>
          <p:cNvSpPr/>
          <p:nvPr/>
        </p:nvSpPr>
        <p:spPr>
          <a:xfrm>
            <a:off x="731520" y="2450592"/>
            <a:ext cx="1773936" cy="1554480"/>
          </a:xfrm>
          <a:prstGeom prst="rect">
            <a:avLst/>
          </a:prstGeom>
          <a:noFill/>
          <a:ln/>
        </p:spPr>
        <p:txBody>
          <a:bodyPr wrap="square" lIns="0" tIns="0" rIns="0" bIns="0" rtlCol="0" anchor="ctr"/>
          <a:lstStyle/>
          <a:p>
            <a:pPr marL="342900" indent="-342900">
              <a:lnSpc>
                <a:spcPts val="1400"/>
              </a:lnSpc>
              <a:spcAft>
                <a:spcPts val="600"/>
              </a:spcAft>
              <a:buSzPct val="100000"/>
              <a:buChar char="•"/>
            </a:pPr>
            <a:r>
              <a:rPr lang="en-US" sz="1100" dirty="0">
                <a:solidFill>
                  <a:srgbClr val="1F2430"/>
                </a:solidFill>
                <a:latin typeface="Calibri" pitchFamily="34" charset="0"/>
                <a:ea typeface="Calibri" pitchFamily="34" charset="-122"/>
                <a:cs typeface="Calibri" pitchFamily="34" charset="-120"/>
              </a:rPr>
              <a:t>Property dataset (CSV)</a:t>
            </a:r>
            <a:endParaRPr lang="en-US" sz="1100" dirty="0"/>
          </a:p>
          <a:p>
            <a:pPr marL="342900" indent="-342900">
              <a:lnSpc>
                <a:spcPts val="1400"/>
              </a:lnSpc>
              <a:spcAft>
                <a:spcPts val="600"/>
              </a:spcAft>
              <a:buSzPct val="100000"/>
              <a:buChar char="•"/>
            </a:pPr>
            <a:r>
              <a:rPr lang="en-US" sz="1100" dirty="0">
                <a:solidFill>
                  <a:srgbClr val="1F2430"/>
                </a:solidFill>
                <a:latin typeface="Calibri" pitchFamily="34" charset="0"/>
                <a:ea typeface="Calibri" pitchFamily="34" charset="-122"/>
                <a:cs typeface="Calibri" pitchFamily="34" charset="-120"/>
              </a:rPr>
              <a:t>Location data</a:t>
            </a:r>
            <a:endParaRPr lang="en-US" sz="1100" dirty="0"/>
          </a:p>
          <a:p>
            <a:pPr marL="342900" indent="-342900">
              <a:lnSpc>
                <a:spcPts val="1400"/>
              </a:lnSpc>
              <a:spcAft>
                <a:spcPts val="600"/>
              </a:spcAft>
              <a:buSzPct val="100000"/>
              <a:buChar char="•"/>
            </a:pPr>
            <a:r>
              <a:rPr lang="en-US" sz="1100" dirty="0">
                <a:solidFill>
                  <a:srgbClr val="1F2430"/>
                </a:solidFill>
                <a:latin typeface="Calibri" pitchFamily="34" charset="0"/>
                <a:ea typeface="Calibri" pitchFamily="34" charset="-122"/>
                <a:cs typeface="Calibri" pitchFamily="34" charset="-120"/>
              </a:rPr>
              <a:t>GIS boundary data</a:t>
            </a:r>
            <a:endParaRPr lang="en-US" sz="1100" dirty="0"/>
          </a:p>
        </p:txBody>
      </p:sp>
      <p:sp>
        <p:nvSpPr>
          <p:cNvPr id="8" name="Shape 6"/>
          <p:cNvSpPr/>
          <p:nvPr/>
        </p:nvSpPr>
        <p:spPr>
          <a:xfrm>
            <a:off x="2679192" y="1874520"/>
            <a:ext cx="128016" cy="0"/>
          </a:xfrm>
          <a:prstGeom prst="line">
            <a:avLst/>
          </a:prstGeom>
          <a:noFill/>
          <a:ln w="17780">
            <a:solidFill>
              <a:srgbClr val="5C6675"/>
            </a:solidFill>
            <a:prstDash val="solid"/>
            <a:tailEnd type="triangle"/>
          </a:ln>
        </p:spPr>
      </p:sp>
      <p:sp>
        <p:nvSpPr>
          <p:cNvPr id="9" name="Shape 7"/>
          <p:cNvSpPr/>
          <p:nvPr/>
        </p:nvSpPr>
        <p:spPr>
          <a:xfrm>
            <a:off x="2834640" y="1572768"/>
            <a:ext cx="2084832" cy="603504"/>
          </a:xfrm>
          <a:prstGeom prst="roundRect">
            <a:avLst>
              <a:gd name="adj" fmla="val 7576"/>
            </a:avLst>
          </a:prstGeom>
          <a:solidFill>
            <a:srgbClr val="1B365D"/>
          </a:solidFill>
          <a:ln w="17780">
            <a:solidFill>
              <a:srgbClr val="1B365D"/>
            </a:solidFill>
            <a:prstDash val="solid"/>
          </a:ln>
        </p:spPr>
      </p:sp>
      <p:sp>
        <p:nvSpPr>
          <p:cNvPr id="10" name="Text 8"/>
          <p:cNvSpPr/>
          <p:nvPr/>
        </p:nvSpPr>
        <p:spPr>
          <a:xfrm>
            <a:off x="2834640" y="1572768"/>
            <a:ext cx="2084832" cy="60350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Data Processing</a:t>
            </a:r>
            <a:endParaRPr lang="en-US" sz="1250" dirty="0"/>
          </a:p>
        </p:txBody>
      </p:sp>
      <p:sp>
        <p:nvSpPr>
          <p:cNvPr id="11" name="Shape 9"/>
          <p:cNvSpPr/>
          <p:nvPr/>
        </p:nvSpPr>
        <p:spPr>
          <a:xfrm>
            <a:off x="2834640" y="2304288"/>
            <a:ext cx="2084832" cy="1810512"/>
          </a:xfrm>
          <a:prstGeom prst="roundRect">
            <a:avLst>
              <a:gd name="adj" fmla="val 3030"/>
            </a:avLst>
          </a:prstGeom>
          <a:solidFill>
            <a:srgbClr val="F4F6F9"/>
          </a:solidFill>
          <a:ln w="12700">
            <a:solidFill>
              <a:srgbClr val="D6DCE5"/>
            </a:solidFill>
            <a:prstDash val="solid"/>
          </a:ln>
        </p:spPr>
      </p:sp>
      <p:sp>
        <p:nvSpPr>
          <p:cNvPr id="12" name="Text 10"/>
          <p:cNvSpPr/>
          <p:nvPr/>
        </p:nvSpPr>
        <p:spPr>
          <a:xfrm>
            <a:off x="2999232" y="2450592"/>
            <a:ext cx="1773936" cy="1554480"/>
          </a:xfrm>
          <a:prstGeom prst="rect">
            <a:avLst/>
          </a:prstGeom>
          <a:noFill/>
          <a:ln/>
        </p:spPr>
        <p:txBody>
          <a:bodyPr wrap="square" lIns="0" tIns="0" rIns="0" bIns="0" rtlCol="0" anchor="ctr"/>
          <a:lstStyle/>
          <a:p>
            <a:pPr marL="342900" indent="-342900">
              <a:lnSpc>
                <a:spcPts val="1400"/>
              </a:lnSpc>
              <a:spcAft>
                <a:spcPts val="600"/>
              </a:spcAft>
              <a:buSzPct val="100000"/>
              <a:buChar char="•"/>
            </a:pPr>
            <a:r>
              <a:rPr lang="en-US" sz="1100" dirty="0">
                <a:solidFill>
                  <a:srgbClr val="1F2430"/>
                </a:solidFill>
                <a:latin typeface="Calibri" pitchFamily="34" charset="0"/>
                <a:ea typeface="Calibri" pitchFamily="34" charset="-122"/>
                <a:cs typeface="Calibri" pitchFamily="34" charset="-120"/>
              </a:rPr>
              <a:t>Python</a:t>
            </a:r>
            <a:endParaRPr lang="en-US" sz="1100" dirty="0"/>
          </a:p>
          <a:p>
            <a:pPr marL="342900" indent="-342900">
              <a:lnSpc>
                <a:spcPts val="1400"/>
              </a:lnSpc>
              <a:spcAft>
                <a:spcPts val="600"/>
              </a:spcAft>
              <a:buSzPct val="100000"/>
              <a:buChar char="•"/>
            </a:pPr>
            <a:r>
              <a:rPr lang="en-US" sz="1100" dirty="0">
                <a:solidFill>
                  <a:srgbClr val="1F2430"/>
                </a:solidFill>
                <a:latin typeface="Calibri" pitchFamily="34" charset="0"/>
                <a:ea typeface="Calibri" pitchFamily="34" charset="-122"/>
                <a:cs typeface="Calibri" pitchFamily="34" charset="-120"/>
              </a:rPr>
              <a:t>Pandas / NumPy</a:t>
            </a:r>
            <a:endParaRPr lang="en-US" sz="1100" dirty="0"/>
          </a:p>
          <a:p>
            <a:pPr marL="342900" indent="-342900">
              <a:lnSpc>
                <a:spcPts val="1400"/>
              </a:lnSpc>
              <a:spcAft>
                <a:spcPts val="600"/>
              </a:spcAft>
              <a:buSzPct val="100000"/>
              <a:buChar char="•"/>
            </a:pPr>
            <a:r>
              <a:rPr lang="en-US" sz="1100" dirty="0">
                <a:solidFill>
                  <a:srgbClr val="1F2430"/>
                </a:solidFill>
                <a:latin typeface="Calibri" pitchFamily="34" charset="0"/>
                <a:ea typeface="Calibri" pitchFamily="34" charset="-122"/>
                <a:cs typeface="Calibri" pitchFamily="34" charset="-120"/>
              </a:rPr>
              <a:t>GeoPandas</a:t>
            </a:r>
            <a:endParaRPr lang="en-US" sz="1100" dirty="0"/>
          </a:p>
        </p:txBody>
      </p:sp>
      <p:sp>
        <p:nvSpPr>
          <p:cNvPr id="13" name="Shape 11"/>
          <p:cNvSpPr/>
          <p:nvPr/>
        </p:nvSpPr>
        <p:spPr>
          <a:xfrm>
            <a:off x="4946904" y="1874520"/>
            <a:ext cx="128016" cy="0"/>
          </a:xfrm>
          <a:prstGeom prst="line">
            <a:avLst/>
          </a:prstGeom>
          <a:noFill/>
          <a:ln w="17780">
            <a:solidFill>
              <a:srgbClr val="5C6675"/>
            </a:solidFill>
            <a:prstDash val="solid"/>
            <a:tailEnd type="triangle"/>
          </a:ln>
        </p:spPr>
      </p:sp>
      <p:sp>
        <p:nvSpPr>
          <p:cNvPr id="14" name="Shape 12"/>
          <p:cNvSpPr/>
          <p:nvPr/>
        </p:nvSpPr>
        <p:spPr>
          <a:xfrm>
            <a:off x="5102352" y="1572768"/>
            <a:ext cx="2084832" cy="603504"/>
          </a:xfrm>
          <a:prstGeom prst="roundRect">
            <a:avLst>
              <a:gd name="adj" fmla="val 7576"/>
            </a:avLst>
          </a:prstGeom>
          <a:solidFill>
            <a:srgbClr val="C2703A"/>
          </a:solidFill>
          <a:ln w="17780">
            <a:solidFill>
              <a:srgbClr val="C2703A"/>
            </a:solidFill>
            <a:prstDash val="solid"/>
          </a:ln>
        </p:spPr>
      </p:sp>
      <p:sp>
        <p:nvSpPr>
          <p:cNvPr id="15" name="Text 13"/>
          <p:cNvSpPr/>
          <p:nvPr/>
        </p:nvSpPr>
        <p:spPr>
          <a:xfrm>
            <a:off x="5102352" y="1572768"/>
            <a:ext cx="2084832" cy="60350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Machine Learning</a:t>
            </a:r>
            <a:endParaRPr lang="en-US" sz="1250" dirty="0"/>
          </a:p>
        </p:txBody>
      </p:sp>
      <p:sp>
        <p:nvSpPr>
          <p:cNvPr id="16" name="Shape 14"/>
          <p:cNvSpPr/>
          <p:nvPr/>
        </p:nvSpPr>
        <p:spPr>
          <a:xfrm>
            <a:off x="5102352" y="2304288"/>
            <a:ext cx="2084832" cy="1810512"/>
          </a:xfrm>
          <a:prstGeom prst="roundRect">
            <a:avLst>
              <a:gd name="adj" fmla="val 3030"/>
            </a:avLst>
          </a:prstGeom>
          <a:solidFill>
            <a:srgbClr val="F4F6F9"/>
          </a:solidFill>
          <a:ln w="12700">
            <a:solidFill>
              <a:srgbClr val="D6DCE5"/>
            </a:solidFill>
            <a:prstDash val="solid"/>
          </a:ln>
        </p:spPr>
      </p:sp>
      <p:sp>
        <p:nvSpPr>
          <p:cNvPr id="17" name="Text 15"/>
          <p:cNvSpPr/>
          <p:nvPr/>
        </p:nvSpPr>
        <p:spPr>
          <a:xfrm>
            <a:off x="5266944" y="2450592"/>
            <a:ext cx="1773936" cy="1554480"/>
          </a:xfrm>
          <a:prstGeom prst="rect">
            <a:avLst/>
          </a:prstGeom>
          <a:noFill/>
          <a:ln/>
        </p:spPr>
        <p:txBody>
          <a:bodyPr wrap="square" lIns="0" tIns="0" rIns="0" bIns="0" rtlCol="0" anchor="ctr"/>
          <a:lstStyle/>
          <a:p>
            <a:pPr marL="342900" indent="-342900">
              <a:lnSpc>
                <a:spcPts val="1400"/>
              </a:lnSpc>
              <a:spcAft>
                <a:spcPts val="600"/>
              </a:spcAft>
              <a:buSzPct val="100000"/>
              <a:buChar char="•"/>
            </a:pPr>
            <a:r>
              <a:rPr lang="en-US" sz="1100" dirty="0">
                <a:solidFill>
                  <a:srgbClr val="1F2430"/>
                </a:solidFill>
                <a:latin typeface="Calibri" pitchFamily="34" charset="0"/>
                <a:ea typeface="Calibri" pitchFamily="34" charset="-122"/>
                <a:cs typeface="Calibri" pitchFamily="34" charset="-120"/>
              </a:rPr>
              <a:t>Preprocessing</a:t>
            </a:r>
            <a:endParaRPr lang="en-US" sz="1100" dirty="0"/>
          </a:p>
          <a:p>
            <a:pPr marL="342900" indent="-342900">
              <a:lnSpc>
                <a:spcPts val="1400"/>
              </a:lnSpc>
              <a:spcAft>
                <a:spcPts val="600"/>
              </a:spcAft>
              <a:buSzPct val="100000"/>
              <a:buChar char="•"/>
            </a:pPr>
            <a:r>
              <a:rPr lang="en-US" sz="1100" dirty="0">
                <a:solidFill>
                  <a:srgbClr val="1F2430"/>
                </a:solidFill>
                <a:latin typeface="Calibri" pitchFamily="34" charset="0"/>
                <a:ea typeface="Calibri" pitchFamily="34" charset="-122"/>
                <a:cs typeface="Calibri" pitchFamily="34" charset="-120"/>
              </a:rPr>
              <a:t>Feature engineering</a:t>
            </a:r>
            <a:endParaRPr lang="en-US" sz="1100" dirty="0"/>
          </a:p>
          <a:p>
            <a:pPr marL="342900" indent="-342900">
              <a:lnSpc>
                <a:spcPts val="1400"/>
              </a:lnSpc>
              <a:spcAft>
                <a:spcPts val="600"/>
              </a:spcAft>
              <a:buSzPct val="100000"/>
              <a:buChar char="•"/>
            </a:pPr>
            <a:r>
              <a:rPr lang="en-US" sz="1100" dirty="0">
                <a:solidFill>
                  <a:srgbClr val="1F2430"/>
                </a:solidFill>
                <a:latin typeface="Calibri" pitchFamily="34" charset="0"/>
                <a:ea typeface="Calibri" pitchFamily="34" charset="-122"/>
                <a:cs typeface="Calibri" pitchFamily="34" charset="-120"/>
              </a:rPr>
              <a:t>Model training and evaluation</a:t>
            </a:r>
            <a:endParaRPr lang="en-US" sz="1100" dirty="0"/>
          </a:p>
        </p:txBody>
      </p:sp>
      <p:sp>
        <p:nvSpPr>
          <p:cNvPr id="18" name="Shape 16"/>
          <p:cNvSpPr/>
          <p:nvPr/>
        </p:nvSpPr>
        <p:spPr>
          <a:xfrm>
            <a:off x="7214616" y="1874520"/>
            <a:ext cx="128016" cy="0"/>
          </a:xfrm>
          <a:prstGeom prst="line">
            <a:avLst/>
          </a:prstGeom>
          <a:noFill/>
          <a:ln w="17780">
            <a:solidFill>
              <a:srgbClr val="5C6675"/>
            </a:solidFill>
            <a:prstDash val="solid"/>
            <a:tailEnd type="triangle"/>
          </a:ln>
        </p:spPr>
      </p:sp>
      <p:sp>
        <p:nvSpPr>
          <p:cNvPr id="19" name="Shape 17"/>
          <p:cNvSpPr/>
          <p:nvPr/>
        </p:nvSpPr>
        <p:spPr>
          <a:xfrm>
            <a:off x="7370064" y="1572768"/>
            <a:ext cx="2084832" cy="603504"/>
          </a:xfrm>
          <a:prstGeom prst="roundRect">
            <a:avLst>
              <a:gd name="adj" fmla="val 7576"/>
            </a:avLst>
          </a:prstGeom>
          <a:solidFill>
            <a:srgbClr val="1B365D"/>
          </a:solidFill>
          <a:ln w="17780">
            <a:solidFill>
              <a:srgbClr val="1B365D"/>
            </a:solidFill>
            <a:prstDash val="solid"/>
          </a:ln>
        </p:spPr>
      </p:sp>
      <p:sp>
        <p:nvSpPr>
          <p:cNvPr id="20" name="Text 18"/>
          <p:cNvSpPr/>
          <p:nvPr/>
        </p:nvSpPr>
        <p:spPr>
          <a:xfrm>
            <a:off x="7370064" y="1572768"/>
            <a:ext cx="2084832" cy="60350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Explainability</a:t>
            </a:r>
            <a:endParaRPr lang="en-US" sz="1250" dirty="0"/>
          </a:p>
        </p:txBody>
      </p:sp>
      <p:sp>
        <p:nvSpPr>
          <p:cNvPr id="21" name="Shape 19"/>
          <p:cNvSpPr/>
          <p:nvPr/>
        </p:nvSpPr>
        <p:spPr>
          <a:xfrm>
            <a:off x="7370064" y="2304288"/>
            <a:ext cx="2084832" cy="1810512"/>
          </a:xfrm>
          <a:prstGeom prst="roundRect">
            <a:avLst>
              <a:gd name="adj" fmla="val 3030"/>
            </a:avLst>
          </a:prstGeom>
          <a:solidFill>
            <a:srgbClr val="F4F6F9"/>
          </a:solidFill>
          <a:ln w="12700">
            <a:solidFill>
              <a:srgbClr val="D6DCE5"/>
            </a:solidFill>
            <a:prstDash val="solid"/>
          </a:ln>
        </p:spPr>
      </p:sp>
      <p:sp>
        <p:nvSpPr>
          <p:cNvPr id="22" name="Text 20"/>
          <p:cNvSpPr/>
          <p:nvPr/>
        </p:nvSpPr>
        <p:spPr>
          <a:xfrm>
            <a:off x="7534656" y="2450592"/>
            <a:ext cx="1773936" cy="1554480"/>
          </a:xfrm>
          <a:prstGeom prst="rect">
            <a:avLst/>
          </a:prstGeom>
          <a:noFill/>
          <a:ln/>
        </p:spPr>
        <p:txBody>
          <a:bodyPr wrap="square" lIns="0" tIns="0" rIns="0" bIns="0" rtlCol="0" anchor="ctr"/>
          <a:lstStyle/>
          <a:p>
            <a:pPr marL="342900" indent="-342900">
              <a:lnSpc>
                <a:spcPts val="1400"/>
              </a:lnSpc>
              <a:spcAft>
                <a:spcPts val="600"/>
              </a:spcAft>
              <a:buSzPct val="100000"/>
              <a:buChar char="•"/>
            </a:pPr>
            <a:r>
              <a:rPr lang="en-US" sz="1100" dirty="0">
                <a:solidFill>
                  <a:srgbClr val="1F2430"/>
                </a:solidFill>
                <a:latin typeface="Calibri" pitchFamily="34" charset="0"/>
                <a:ea typeface="Calibri" pitchFamily="34" charset="-122"/>
                <a:cs typeface="Calibri" pitchFamily="34" charset="-120"/>
              </a:rPr>
              <a:t>Feature importance</a:t>
            </a:r>
            <a:endParaRPr lang="en-US" sz="1100" dirty="0"/>
          </a:p>
          <a:p>
            <a:pPr marL="342900" indent="-342900">
              <a:lnSpc>
                <a:spcPts val="1400"/>
              </a:lnSpc>
              <a:spcAft>
                <a:spcPts val="600"/>
              </a:spcAft>
              <a:buSzPct val="100000"/>
              <a:buChar char="•"/>
            </a:pPr>
            <a:r>
              <a:rPr lang="en-US" sz="1100" dirty="0">
                <a:solidFill>
                  <a:srgbClr val="1F2430"/>
                </a:solidFill>
                <a:latin typeface="Calibri" pitchFamily="34" charset="0"/>
                <a:ea typeface="Calibri" pitchFamily="34" charset="-122"/>
                <a:cs typeface="Calibri" pitchFamily="34" charset="-120"/>
              </a:rPr>
              <a:t>SHAP analysis</a:t>
            </a:r>
            <a:endParaRPr lang="en-US" sz="1100" dirty="0"/>
          </a:p>
        </p:txBody>
      </p:sp>
      <p:sp>
        <p:nvSpPr>
          <p:cNvPr id="23" name="Shape 21"/>
          <p:cNvSpPr/>
          <p:nvPr/>
        </p:nvSpPr>
        <p:spPr>
          <a:xfrm>
            <a:off x="9482328" y="1874520"/>
            <a:ext cx="128016" cy="0"/>
          </a:xfrm>
          <a:prstGeom prst="line">
            <a:avLst/>
          </a:prstGeom>
          <a:noFill/>
          <a:ln w="17780">
            <a:solidFill>
              <a:srgbClr val="5C6675"/>
            </a:solidFill>
            <a:prstDash val="solid"/>
            <a:tailEnd type="triangle"/>
          </a:ln>
        </p:spPr>
      </p:sp>
      <p:sp>
        <p:nvSpPr>
          <p:cNvPr id="24" name="Shape 22"/>
          <p:cNvSpPr/>
          <p:nvPr/>
        </p:nvSpPr>
        <p:spPr>
          <a:xfrm>
            <a:off x="9637776" y="1572768"/>
            <a:ext cx="2084832" cy="603504"/>
          </a:xfrm>
          <a:prstGeom prst="roundRect">
            <a:avLst>
              <a:gd name="adj" fmla="val 7576"/>
            </a:avLst>
          </a:prstGeom>
          <a:solidFill>
            <a:srgbClr val="FFFFFF"/>
          </a:solidFill>
          <a:ln w="17780">
            <a:solidFill>
              <a:srgbClr val="D6DCE5"/>
            </a:solidFill>
            <a:prstDash val="solid"/>
          </a:ln>
        </p:spPr>
      </p:sp>
      <p:sp>
        <p:nvSpPr>
          <p:cNvPr id="25" name="Text 23"/>
          <p:cNvSpPr/>
          <p:nvPr/>
        </p:nvSpPr>
        <p:spPr>
          <a:xfrm>
            <a:off x="9637776" y="1572768"/>
            <a:ext cx="2084832" cy="603504"/>
          </a:xfrm>
          <a:prstGeom prst="rect">
            <a:avLst/>
          </a:prstGeom>
          <a:noFill/>
          <a:ln/>
        </p:spPr>
        <p:txBody>
          <a:bodyPr wrap="square" lIns="0" tIns="0" rIns="0" bIns="0" rtlCol="0" anchor="ctr"/>
          <a:lstStyle/>
          <a:p>
            <a:pPr algn="ctr" indent="0" marL="0">
              <a:buNone/>
            </a:pPr>
            <a:r>
              <a:rPr lang="en-US" sz="1250" b="1" dirty="0">
                <a:solidFill>
                  <a:srgbClr val="5C6675"/>
                </a:solidFill>
                <a:latin typeface="Calibri" pitchFamily="34" charset="0"/>
                <a:ea typeface="Calibri" pitchFamily="34" charset="-122"/>
                <a:cs typeface="Calibri" pitchFamily="34" charset="-120"/>
              </a:rPr>
              <a:t>Future Application</a:t>
            </a:r>
            <a:endParaRPr lang="en-US" sz="1250" dirty="0"/>
          </a:p>
        </p:txBody>
      </p:sp>
      <p:sp>
        <p:nvSpPr>
          <p:cNvPr id="26" name="Shape 24"/>
          <p:cNvSpPr/>
          <p:nvPr/>
        </p:nvSpPr>
        <p:spPr>
          <a:xfrm>
            <a:off x="9637776" y="2304288"/>
            <a:ext cx="2084832" cy="1810512"/>
          </a:xfrm>
          <a:prstGeom prst="roundRect">
            <a:avLst>
              <a:gd name="adj" fmla="val 3030"/>
            </a:avLst>
          </a:prstGeom>
          <a:solidFill>
            <a:srgbClr val="FAFBFC"/>
          </a:solidFill>
          <a:ln w="12700">
            <a:solidFill>
              <a:srgbClr val="D6DCE5"/>
            </a:solidFill>
            <a:prstDash val="solid"/>
          </a:ln>
        </p:spPr>
      </p:sp>
      <p:sp>
        <p:nvSpPr>
          <p:cNvPr id="27" name="Text 25"/>
          <p:cNvSpPr/>
          <p:nvPr/>
        </p:nvSpPr>
        <p:spPr>
          <a:xfrm>
            <a:off x="9802368" y="2450592"/>
            <a:ext cx="1773936" cy="1554480"/>
          </a:xfrm>
          <a:prstGeom prst="rect">
            <a:avLst/>
          </a:prstGeom>
          <a:noFill/>
          <a:ln/>
        </p:spPr>
        <p:txBody>
          <a:bodyPr wrap="square" lIns="0" tIns="0" rIns="0" bIns="0" rtlCol="0" anchor="ctr"/>
          <a:lstStyle/>
          <a:p>
            <a:pPr marL="342900" indent="-342900">
              <a:lnSpc>
                <a:spcPts val="1400"/>
              </a:lnSpc>
              <a:spcAft>
                <a:spcPts val="600"/>
              </a:spcAft>
              <a:buSzPct val="100000"/>
              <a:buChar char="•"/>
            </a:pPr>
            <a:r>
              <a:rPr lang="en-US" sz="1100" dirty="0">
                <a:solidFill>
                  <a:srgbClr val="5C6675"/>
                </a:solidFill>
                <a:latin typeface="Calibri" pitchFamily="34" charset="0"/>
                <a:ea typeface="Calibri" pitchFamily="34" charset="-122"/>
                <a:cs typeface="Calibri" pitchFamily="34" charset="-120"/>
              </a:rPr>
              <a:t>Web-based interface</a:t>
            </a:r>
            <a:endParaRPr lang="en-US" sz="1100" dirty="0"/>
          </a:p>
          <a:p>
            <a:pPr marL="342900" indent="-342900">
              <a:lnSpc>
                <a:spcPts val="1400"/>
              </a:lnSpc>
              <a:spcAft>
                <a:spcPts val="600"/>
              </a:spcAft>
              <a:buSzPct val="100000"/>
              <a:buChar char="•"/>
            </a:pPr>
            <a:r>
              <a:rPr lang="en-US" sz="1100" dirty="0">
                <a:solidFill>
                  <a:srgbClr val="5C6675"/>
                </a:solidFill>
                <a:latin typeface="Calibri" pitchFamily="34" charset="0"/>
                <a:ea typeface="Calibri" pitchFamily="34" charset="-122"/>
                <a:cs typeface="Calibri" pitchFamily="34" charset="-120"/>
              </a:rPr>
              <a:t>Not developed in this phase</a:t>
            </a:r>
            <a:endParaRPr lang="en-US" sz="1100" dirty="0"/>
          </a:p>
        </p:txBody>
      </p:sp>
      <p:sp>
        <p:nvSpPr>
          <p:cNvPr id="28" name="Shape 26"/>
          <p:cNvSpPr/>
          <p:nvPr/>
        </p:nvSpPr>
        <p:spPr>
          <a:xfrm>
            <a:off x="566928" y="4389120"/>
            <a:ext cx="11027664" cy="1463040"/>
          </a:xfrm>
          <a:prstGeom prst="roundRect">
            <a:avLst>
              <a:gd name="adj" fmla="val 3750"/>
            </a:avLst>
          </a:prstGeom>
          <a:solidFill>
            <a:srgbClr val="F4F6F9"/>
          </a:solidFill>
          <a:ln w="12700">
            <a:solidFill>
              <a:srgbClr val="D6DCE5"/>
            </a:solidFill>
            <a:prstDash val="solid"/>
          </a:ln>
        </p:spPr>
      </p:sp>
      <p:sp>
        <p:nvSpPr>
          <p:cNvPr id="29" name="Text 27"/>
          <p:cNvSpPr/>
          <p:nvPr/>
        </p:nvSpPr>
        <p:spPr>
          <a:xfrm>
            <a:off x="822960" y="4553712"/>
            <a:ext cx="5486400" cy="256032"/>
          </a:xfrm>
          <a:prstGeom prst="rect">
            <a:avLst/>
          </a:prstGeom>
          <a:noFill/>
          <a:ln/>
        </p:spPr>
        <p:txBody>
          <a:bodyPr wrap="square" lIns="0" tIns="0" rIns="0" bIns="0" rtlCol="0" anchor="ctr"/>
          <a:lstStyle/>
          <a:p>
            <a:pPr indent="0" marL="0">
              <a:buNone/>
            </a:pPr>
            <a:r>
              <a:rPr lang="en-US" sz="1400" b="1" dirty="0">
                <a:solidFill>
                  <a:srgbClr val="1B365D"/>
                </a:solidFill>
                <a:latin typeface="Cambria" pitchFamily="34" charset="0"/>
                <a:ea typeface="Cambria" pitchFamily="34" charset="-122"/>
                <a:cs typeface="Cambria" pitchFamily="34" charset="-120"/>
              </a:rPr>
              <a:t>Relationship between components</a:t>
            </a:r>
            <a:endParaRPr lang="en-US" sz="1400" dirty="0"/>
          </a:p>
        </p:txBody>
      </p:sp>
      <p:sp>
        <p:nvSpPr>
          <p:cNvPr id="30" name="Text 28"/>
          <p:cNvSpPr/>
          <p:nvPr/>
        </p:nvSpPr>
        <p:spPr>
          <a:xfrm>
            <a:off x="822960" y="4846320"/>
            <a:ext cx="10515600" cy="914400"/>
          </a:xfrm>
          <a:prstGeom prst="rect">
            <a:avLst/>
          </a:prstGeom>
          <a:noFill/>
          <a:ln/>
        </p:spPr>
        <p:txBody>
          <a:bodyPr wrap="square" lIns="0" tIns="0" rIns="0" bIns="0" rtlCol="0" anchor="ctr"/>
          <a:lstStyle/>
          <a:p>
            <a:pPr indent="0" marL="0">
              <a:lnSpc>
                <a:spcPts val="1700"/>
              </a:lnSpc>
              <a:buNone/>
            </a:pPr>
            <a:r>
              <a:rPr lang="en-US" sz="1200" dirty="0">
                <a:solidFill>
                  <a:srgbClr val="1F2430"/>
                </a:solidFill>
                <a:latin typeface="Calibri" pitchFamily="34" charset="0"/>
                <a:ea typeface="Calibri" pitchFamily="34" charset="-122"/>
                <a:cs typeface="Calibri" pitchFamily="34" charset="-120"/>
              </a:rPr>
              <a:t>Property records supply the labelled examples for supervised learning, while location and GIS data are used to derive accessibility features that are not present in the original dataset. These layers feed a single preprocessing and model-training pipeline. Explainability operates on the trained model rather than on the raw data. The web interface is shown for completeness and is not part of the current phase.</a:t>
            </a:r>
            <a:endParaRPr lang="en-US" sz="1200" dirty="0"/>
          </a:p>
        </p:txBody>
      </p:sp>
      <p:sp>
        <p:nvSpPr>
          <p:cNvPr id="31" name="Text 29"/>
          <p:cNvSpPr/>
          <p:nvPr/>
        </p:nvSpPr>
        <p:spPr>
          <a:xfrm>
            <a:off x="11045952" y="6419088"/>
            <a:ext cx="548640" cy="256032"/>
          </a:xfrm>
          <a:prstGeom prst="rect">
            <a:avLst/>
          </a:prstGeom>
          <a:noFill/>
          <a:ln/>
        </p:spPr>
        <p:txBody>
          <a:bodyPr wrap="square" lIns="0" tIns="0" rIns="0" bIns="0" rtlCol="0" anchor="ctr"/>
          <a:lstStyle/>
          <a:p>
            <a:pPr algn="r" indent="0" marL="0">
              <a:buNone/>
            </a:pPr>
            <a:r>
              <a:rPr lang="en-US" sz="1000" dirty="0">
                <a:solidFill>
                  <a:srgbClr val="5C6675"/>
                </a:solidFill>
                <a:latin typeface="Calibri" pitchFamily="34" charset="0"/>
                <a:ea typeface="Calibri" pitchFamily="34" charset="-122"/>
                <a:cs typeface="Calibri" pitchFamily="34" charset="-120"/>
              </a:rPr>
              <a:t>18</a:t>
            </a:r>
            <a:endParaRPr lang="en-US" sz="1000" dirty="0"/>
          </a:p>
        </p:txBody>
      </p:sp>
      <p:sp>
        <p:nvSpPr>
          <p:cNvPr id="32" name="Text 30"/>
          <p:cNvSpPr/>
          <p:nvPr/>
        </p:nvSpPr>
        <p:spPr>
          <a:xfrm>
            <a:off x="566928" y="6419088"/>
            <a:ext cx="7315200" cy="256032"/>
          </a:xfrm>
          <a:prstGeom prst="rect">
            <a:avLst/>
          </a:prstGeom>
          <a:noFill/>
          <a:ln/>
        </p:spPr>
        <p:txBody>
          <a:bodyPr wrap="square" lIns="0" tIns="0" rIns="0" bIns="0" rtlCol="0" anchor="ctr"/>
          <a:lstStyle/>
          <a:p>
            <a:pPr indent="0" marL="0">
              <a:buNone/>
            </a:pPr>
            <a:r>
              <a:rPr lang="en-US" sz="1000" dirty="0">
                <a:solidFill>
                  <a:srgbClr val="5C6675"/>
                </a:solidFill>
                <a:latin typeface="Calibri" pitchFamily="34" charset="0"/>
                <a:ea typeface="Calibri" pitchFamily="34" charset="-122"/>
                <a:cs typeface="Calibri" pitchFamily="34" charset="-120"/>
              </a:rPr>
              <a:t>Project Review 1  ·  B.Tech CSE (AI &amp; ML)  ·  SRMIST</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8229600" cy="237744"/>
          </a:xfrm>
          <a:prstGeom prst="rect">
            <a:avLst/>
          </a:prstGeom>
          <a:noFill/>
          <a:ln/>
        </p:spPr>
        <p:txBody>
          <a:bodyPr wrap="square" lIns="0" tIns="0" rIns="0" bIns="0" rtlCol="0" anchor="ctr"/>
          <a:lstStyle/>
          <a:p>
            <a:pPr indent="0" marL="0">
              <a:buNone/>
            </a:pPr>
            <a:r>
              <a:rPr lang="en-US" sz="1100" b="1" spc="160" kern="0" dirty="0">
                <a:solidFill>
                  <a:srgbClr val="C2703A"/>
                </a:solidFill>
                <a:latin typeface="Calibri" pitchFamily="34" charset="0"/>
                <a:ea typeface="Calibri" pitchFamily="34" charset="-122"/>
                <a:cs typeface="Calibri" pitchFamily="34" charset="-120"/>
              </a:rPr>
              <a:t>DELIVERABLES</a:t>
            </a:r>
            <a:endParaRPr lang="en-US" sz="1100" dirty="0"/>
          </a:p>
        </p:txBody>
      </p:sp>
      <p:sp>
        <p:nvSpPr>
          <p:cNvPr id="3" name="Text 1"/>
          <p:cNvSpPr/>
          <p:nvPr/>
        </p:nvSpPr>
        <p:spPr>
          <a:xfrm>
            <a:off x="566928" y="566928"/>
            <a:ext cx="11027664" cy="566928"/>
          </a:xfrm>
          <a:prstGeom prst="rect">
            <a:avLst/>
          </a:prstGeom>
          <a:noFill/>
          <a:ln/>
        </p:spPr>
        <p:txBody>
          <a:bodyPr wrap="square" lIns="0" tIns="0" rIns="0" bIns="0" rtlCol="0" anchor="ctr"/>
          <a:lstStyle/>
          <a:p>
            <a:pPr indent="0" marL="0">
              <a:buNone/>
            </a:pPr>
            <a:r>
              <a:rPr lang="en-US" sz="3000" b="1" dirty="0">
                <a:solidFill>
                  <a:srgbClr val="1B365D"/>
                </a:solidFill>
                <a:latin typeface="Cambria" pitchFamily="34" charset="0"/>
                <a:ea typeface="Cambria" pitchFamily="34" charset="-122"/>
                <a:cs typeface="Cambria" pitchFamily="34" charset="-120"/>
              </a:rPr>
              <a:t>Expected Outcome and Future Scope</a:t>
            </a:r>
            <a:endParaRPr lang="en-US" sz="3000" dirty="0"/>
          </a:p>
        </p:txBody>
      </p:sp>
      <p:sp>
        <p:nvSpPr>
          <p:cNvPr id="4" name="Shape 2"/>
          <p:cNvSpPr/>
          <p:nvPr/>
        </p:nvSpPr>
        <p:spPr>
          <a:xfrm>
            <a:off x="566928" y="1389888"/>
            <a:ext cx="5394960" cy="4480560"/>
          </a:xfrm>
          <a:prstGeom prst="roundRect">
            <a:avLst>
              <a:gd name="adj" fmla="val 1224"/>
            </a:avLst>
          </a:prstGeom>
          <a:solidFill>
            <a:srgbClr val="F4F6F9"/>
          </a:solidFill>
          <a:ln w="12700">
            <a:solidFill>
              <a:srgbClr val="D6DCE5"/>
            </a:solidFill>
            <a:prstDash val="solid"/>
          </a:ln>
        </p:spPr>
      </p:sp>
      <p:sp>
        <p:nvSpPr>
          <p:cNvPr id="5" name="Text 3"/>
          <p:cNvSpPr/>
          <p:nvPr/>
        </p:nvSpPr>
        <p:spPr>
          <a:xfrm>
            <a:off x="822960" y="1591056"/>
            <a:ext cx="4846320" cy="292608"/>
          </a:xfrm>
          <a:prstGeom prst="rect">
            <a:avLst/>
          </a:prstGeom>
          <a:noFill/>
          <a:ln/>
        </p:spPr>
        <p:txBody>
          <a:bodyPr wrap="square" lIns="0" tIns="0" rIns="0" bIns="0" rtlCol="0" anchor="ctr"/>
          <a:lstStyle/>
          <a:p>
            <a:pPr indent="0" marL="0">
              <a:buNone/>
            </a:pPr>
            <a:r>
              <a:rPr lang="en-US" sz="1600" b="1" dirty="0">
                <a:solidFill>
                  <a:srgbClr val="1B365D"/>
                </a:solidFill>
                <a:latin typeface="Cambria" pitchFamily="34" charset="0"/>
                <a:ea typeface="Cambria" pitchFamily="34" charset="-122"/>
                <a:cs typeface="Cambria" pitchFamily="34" charset="-120"/>
              </a:rPr>
              <a:t>Expected Outcome</a:t>
            </a:r>
            <a:endParaRPr lang="en-US" sz="1600" dirty="0"/>
          </a:p>
        </p:txBody>
      </p:sp>
      <p:sp>
        <p:nvSpPr>
          <p:cNvPr id="6" name="Shape 4"/>
          <p:cNvSpPr/>
          <p:nvPr/>
        </p:nvSpPr>
        <p:spPr>
          <a:xfrm>
            <a:off x="822960" y="2048256"/>
            <a:ext cx="329184" cy="329184"/>
          </a:xfrm>
          <a:prstGeom prst="ellipse">
            <a:avLst/>
          </a:prstGeom>
          <a:solidFill>
            <a:srgbClr val="1B365D"/>
          </a:solidFill>
          <a:ln w="12700">
            <a:solidFill>
              <a:srgbClr val="1B365D"/>
            </a:solidFill>
            <a:prstDash val="solid"/>
          </a:ln>
        </p:spPr>
      </p:sp>
      <p:sp>
        <p:nvSpPr>
          <p:cNvPr id="7" name="Text 5"/>
          <p:cNvSpPr/>
          <p:nvPr/>
        </p:nvSpPr>
        <p:spPr>
          <a:xfrm>
            <a:off x="822960" y="2048256"/>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8" name="Text 6"/>
          <p:cNvSpPr/>
          <p:nvPr/>
        </p:nvSpPr>
        <p:spPr>
          <a:xfrm>
            <a:off x="1280160" y="2020824"/>
            <a:ext cx="4572000" cy="457200"/>
          </a:xfrm>
          <a:prstGeom prst="rect">
            <a:avLst/>
          </a:prstGeom>
          <a:noFill/>
          <a:ln/>
        </p:spPr>
        <p:txBody>
          <a:bodyPr wrap="square" lIns="0" tIns="0" rIns="0" bIns="0" rtlCol="0" anchor="ctr"/>
          <a:lstStyle/>
          <a:p>
            <a:pPr indent="0" marL="0">
              <a:lnSpc>
                <a:spcPts val="1500"/>
              </a:lnSpc>
              <a:buNone/>
            </a:pPr>
            <a:r>
              <a:rPr lang="en-US" sz="1180" dirty="0">
                <a:solidFill>
                  <a:srgbClr val="1F2430"/>
                </a:solidFill>
                <a:latin typeface="Calibri" pitchFamily="34" charset="0"/>
                <a:ea typeface="Calibri" pitchFamily="34" charset="-122"/>
                <a:cs typeface="Calibri" pitchFamily="34" charset="-120"/>
              </a:rPr>
              <a:t>A cleaned and statistically analysed property dataset</a:t>
            </a:r>
            <a:endParaRPr lang="en-US" sz="1180" dirty="0"/>
          </a:p>
        </p:txBody>
      </p:sp>
      <p:sp>
        <p:nvSpPr>
          <p:cNvPr id="9" name="Shape 7"/>
          <p:cNvSpPr/>
          <p:nvPr/>
        </p:nvSpPr>
        <p:spPr>
          <a:xfrm>
            <a:off x="822960" y="2651760"/>
            <a:ext cx="329184" cy="329184"/>
          </a:xfrm>
          <a:prstGeom prst="ellipse">
            <a:avLst/>
          </a:prstGeom>
          <a:solidFill>
            <a:srgbClr val="1B365D"/>
          </a:solidFill>
          <a:ln w="12700">
            <a:solidFill>
              <a:srgbClr val="1B365D"/>
            </a:solidFill>
            <a:prstDash val="solid"/>
          </a:ln>
        </p:spPr>
      </p:sp>
      <p:sp>
        <p:nvSpPr>
          <p:cNvPr id="10" name="Text 8"/>
          <p:cNvSpPr/>
          <p:nvPr/>
        </p:nvSpPr>
        <p:spPr>
          <a:xfrm>
            <a:off x="822960" y="2651760"/>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1" name="Text 9"/>
          <p:cNvSpPr/>
          <p:nvPr/>
        </p:nvSpPr>
        <p:spPr>
          <a:xfrm>
            <a:off x="1280160" y="2624328"/>
            <a:ext cx="4572000" cy="457200"/>
          </a:xfrm>
          <a:prstGeom prst="rect">
            <a:avLst/>
          </a:prstGeom>
          <a:noFill/>
          <a:ln/>
        </p:spPr>
        <p:txBody>
          <a:bodyPr wrap="square" lIns="0" tIns="0" rIns="0" bIns="0" rtlCol="0" anchor="ctr"/>
          <a:lstStyle/>
          <a:p>
            <a:pPr indent="0" marL="0">
              <a:lnSpc>
                <a:spcPts val="1500"/>
              </a:lnSpc>
              <a:buNone/>
            </a:pPr>
            <a:r>
              <a:rPr lang="en-US" sz="1180" dirty="0">
                <a:solidFill>
                  <a:srgbClr val="1F2430"/>
                </a:solidFill>
                <a:latin typeface="Calibri" pitchFamily="34" charset="0"/>
                <a:ea typeface="Calibri" pitchFamily="34" charset="-122"/>
                <a:cs typeface="Calibri" pitchFamily="34" charset="-120"/>
              </a:rPr>
              <a:t>A documented set of property and location features</a:t>
            </a:r>
            <a:endParaRPr lang="en-US" sz="1180" dirty="0"/>
          </a:p>
        </p:txBody>
      </p:sp>
      <p:sp>
        <p:nvSpPr>
          <p:cNvPr id="12" name="Shape 10"/>
          <p:cNvSpPr/>
          <p:nvPr/>
        </p:nvSpPr>
        <p:spPr>
          <a:xfrm>
            <a:off x="822960" y="3255264"/>
            <a:ext cx="329184" cy="329184"/>
          </a:xfrm>
          <a:prstGeom prst="ellipse">
            <a:avLst/>
          </a:prstGeom>
          <a:solidFill>
            <a:srgbClr val="1B365D"/>
          </a:solidFill>
          <a:ln w="12700">
            <a:solidFill>
              <a:srgbClr val="1B365D"/>
            </a:solidFill>
            <a:prstDash val="solid"/>
          </a:ln>
        </p:spPr>
      </p:sp>
      <p:sp>
        <p:nvSpPr>
          <p:cNvPr id="13" name="Text 11"/>
          <p:cNvSpPr/>
          <p:nvPr/>
        </p:nvSpPr>
        <p:spPr>
          <a:xfrm>
            <a:off x="822960" y="3255264"/>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4" name="Text 12"/>
          <p:cNvSpPr/>
          <p:nvPr/>
        </p:nvSpPr>
        <p:spPr>
          <a:xfrm>
            <a:off x="1280160" y="3227832"/>
            <a:ext cx="4572000" cy="457200"/>
          </a:xfrm>
          <a:prstGeom prst="rect">
            <a:avLst/>
          </a:prstGeom>
          <a:noFill/>
          <a:ln/>
        </p:spPr>
        <p:txBody>
          <a:bodyPr wrap="square" lIns="0" tIns="0" rIns="0" bIns="0" rtlCol="0" anchor="ctr"/>
          <a:lstStyle/>
          <a:p>
            <a:pPr indent="0" marL="0">
              <a:lnSpc>
                <a:spcPts val="1500"/>
              </a:lnSpc>
              <a:buNone/>
            </a:pPr>
            <a:r>
              <a:rPr lang="en-US" sz="1180" dirty="0">
                <a:solidFill>
                  <a:srgbClr val="1F2430"/>
                </a:solidFill>
                <a:latin typeface="Calibri" pitchFamily="34" charset="0"/>
                <a:ea typeface="Calibri" pitchFamily="34" charset="-122"/>
                <a:cs typeface="Calibri" pitchFamily="34" charset="-120"/>
              </a:rPr>
              <a:t>A comparison of four regression algorithms under a common evaluation protocol</a:t>
            </a:r>
            <a:endParaRPr lang="en-US" sz="1180" dirty="0"/>
          </a:p>
        </p:txBody>
      </p:sp>
      <p:sp>
        <p:nvSpPr>
          <p:cNvPr id="15" name="Shape 13"/>
          <p:cNvSpPr/>
          <p:nvPr/>
        </p:nvSpPr>
        <p:spPr>
          <a:xfrm>
            <a:off x="822960" y="3858768"/>
            <a:ext cx="329184" cy="329184"/>
          </a:xfrm>
          <a:prstGeom prst="ellipse">
            <a:avLst/>
          </a:prstGeom>
          <a:solidFill>
            <a:srgbClr val="1B365D"/>
          </a:solidFill>
          <a:ln w="12700">
            <a:solidFill>
              <a:srgbClr val="1B365D"/>
            </a:solidFill>
            <a:prstDash val="solid"/>
          </a:ln>
        </p:spPr>
      </p:sp>
      <p:sp>
        <p:nvSpPr>
          <p:cNvPr id="16" name="Text 14"/>
          <p:cNvSpPr/>
          <p:nvPr/>
        </p:nvSpPr>
        <p:spPr>
          <a:xfrm>
            <a:off x="822960" y="3858768"/>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7" name="Text 15"/>
          <p:cNvSpPr/>
          <p:nvPr/>
        </p:nvSpPr>
        <p:spPr>
          <a:xfrm>
            <a:off x="1280160" y="3831336"/>
            <a:ext cx="4572000" cy="457200"/>
          </a:xfrm>
          <a:prstGeom prst="rect">
            <a:avLst/>
          </a:prstGeom>
          <a:noFill/>
          <a:ln/>
        </p:spPr>
        <p:txBody>
          <a:bodyPr wrap="square" lIns="0" tIns="0" rIns="0" bIns="0" rtlCol="0" anchor="ctr"/>
          <a:lstStyle/>
          <a:p>
            <a:pPr indent="0" marL="0">
              <a:lnSpc>
                <a:spcPts val="1500"/>
              </a:lnSpc>
              <a:buNone/>
            </a:pPr>
            <a:r>
              <a:rPr lang="en-US" sz="1180" dirty="0">
                <a:solidFill>
                  <a:srgbClr val="1F2430"/>
                </a:solidFill>
                <a:latin typeface="Calibri" pitchFamily="34" charset="0"/>
                <a:ea typeface="Calibri" pitchFamily="34" charset="-122"/>
                <a:cs typeface="Calibri" pitchFamily="34" charset="-120"/>
              </a:rPr>
              <a:t>Reported performance using MAE, RMSE and R²</a:t>
            </a:r>
            <a:endParaRPr lang="en-US" sz="1180" dirty="0"/>
          </a:p>
        </p:txBody>
      </p:sp>
      <p:sp>
        <p:nvSpPr>
          <p:cNvPr id="18" name="Shape 16"/>
          <p:cNvSpPr/>
          <p:nvPr/>
        </p:nvSpPr>
        <p:spPr>
          <a:xfrm>
            <a:off x="822960" y="4462272"/>
            <a:ext cx="329184" cy="329184"/>
          </a:xfrm>
          <a:prstGeom prst="ellipse">
            <a:avLst/>
          </a:prstGeom>
          <a:solidFill>
            <a:srgbClr val="1B365D"/>
          </a:solidFill>
          <a:ln w="12700">
            <a:solidFill>
              <a:srgbClr val="1B365D"/>
            </a:solidFill>
            <a:prstDash val="solid"/>
          </a:ln>
        </p:spPr>
      </p:sp>
      <p:sp>
        <p:nvSpPr>
          <p:cNvPr id="19" name="Text 17"/>
          <p:cNvSpPr/>
          <p:nvPr/>
        </p:nvSpPr>
        <p:spPr>
          <a:xfrm>
            <a:off x="822960" y="446227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0" name="Text 18"/>
          <p:cNvSpPr/>
          <p:nvPr/>
        </p:nvSpPr>
        <p:spPr>
          <a:xfrm>
            <a:off x="1280160" y="4434840"/>
            <a:ext cx="4572000" cy="457200"/>
          </a:xfrm>
          <a:prstGeom prst="rect">
            <a:avLst/>
          </a:prstGeom>
          <a:noFill/>
          <a:ln/>
        </p:spPr>
        <p:txBody>
          <a:bodyPr wrap="square" lIns="0" tIns="0" rIns="0" bIns="0" rtlCol="0" anchor="ctr"/>
          <a:lstStyle/>
          <a:p>
            <a:pPr indent="0" marL="0">
              <a:lnSpc>
                <a:spcPts val="1500"/>
              </a:lnSpc>
              <a:buNone/>
            </a:pPr>
            <a:r>
              <a:rPr lang="en-US" sz="1180" dirty="0">
                <a:solidFill>
                  <a:srgbClr val="1F2430"/>
                </a:solidFill>
                <a:latin typeface="Calibri" pitchFamily="34" charset="0"/>
                <a:ea typeface="Calibri" pitchFamily="34" charset="-122"/>
                <a:cs typeface="Calibri" pitchFamily="34" charset="-120"/>
              </a:rPr>
              <a:t>A selected model for property price prediction</a:t>
            </a:r>
            <a:endParaRPr lang="en-US" sz="1180" dirty="0"/>
          </a:p>
        </p:txBody>
      </p:sp>
      <p:sp>
        <p:nvSpPr>
          <p:cNvPr id="21" name="Shape 19"/>
          <p:cNvSpPr/>
          <p:nvPr/>
        </p:nvSpPr>
        <p:spPr>
          <a:xfrm>
            <a:off x="822960" y="5065776"/>
            <a:ext cx="329184" cy="329184"/>
          </a:xfrm>
          <a:prstGeom prst="ellipse">
            <a:avLst/>
          </a:prstGeom>
          <a:solidFill>
            <a:srgbClr val="1B365D"/>
          </a:solidFill>
          <a:ln w="12700">
            <a:solidFill>
              <a:srgbClr val="1B365D"/>
            </a:solidFill>
            <a:prstDash val="solid"/>
          </a:ln>
        </p:spPr>
      </p:sp>
      <p:sp>
        <p:nvSpPr>
          <p:cNvPr id="22" name="Text 20"/>
          <p:cNvSpPr/>
          <p:nvPr/>
        </p:nvSpPr>
        <p:spPr>
          <a:xfrm>
            <a:off x="822960" y="5065776"/>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23" name="Text 21"/>
          <p:cNvSpPr/>
          <p:nvPr/>
        </p:nvSpPr>
        <p:spPr>
          <a:xfrm>
            <a:off x="1280160" y="5038344"/>
            <a:ext cx="4572000" cy="457200"/>
          </a:xfrm>
          <a:prstGeom prst="rect">
            <a:avLst/>
          </a:prstGeom>
          <a:noFill/>
          <a:ln/>
        </p:spPr>
        <p:txBody>
          <a:bodyPr wrap="square" lIns="0" tIns="0" rIns="0" bIns="0" rtlCol="0" anchor="ctr"/>
          <a:lstStyle/>
          <a:p>
            <a:pPr indent="0" marL="0">
              <a:lnSpc>
                <a:spcPts val="1500"/>
              </a:lnSpc>
              <a:buNone/>
            </a:pPr>
            <a:r>
              <a:rPr lang="en-US" sz="1180" dirty="0">
                <a:solidFill>
                  <a:srgbClr val="1F2430"/>
                </a:solidFill>
                <a:latin typeface="Calibri" pitchFamily="34" charset="0"/>
                <a:ea typeface="Calibri" pitchFamily="34" charset="-122"/>
                <a:cs typeface="Calibri" pitchFamily="34" charset="-120"/>
              </a:rPr>
              <a:t>Interpretable information on the features influencing predictions</a:t>
            </a:r>
            <a:endParaRPr lang="en-US" sz="1180" dirty="0"/>
          </a:p>
        </p:txBody>
      </p:sp>
      <p:sp>
        <p:nvSpPr>
          <p:cNvPr id="24" name="Shape 22"/>
          <p:cNvSpPr/>
          <p:nvPr/>
        </p:nvSpPr>
        <p:spPr>
          <a:xfrm>
            <a:off x="6272784" y="1389888"/>
            <a:ext cx="5321808" cy="4480560"/>
          </a:xfrm>
          <a:prstGeom prst="roundRect">
            <a:avLst>
              <a:gd name="adj" fmla="val 1224"/>
            </a:avLst>
          </a:prstGeom>
          <a:solidFill>
            <a:srgbClr val="FDF6EF"/>
          </a:solidFill>
          <a:ln w="12700">
            <a:solidFill>
              <a:srgbClr val="D6DCE5"/>
            </a:solidFill>
            <a:prstDash val="solid"/>
          </a:ln>
        </p:spPr>
      </p:sp>
      <p:sp>
        <p:nvSpPr>
          <p:cNvPr id="25" name="Text 23"/>
          <p:cNvSpPr/>
          <p:nvPr/>
        </p:nvSpPr>
        <p:spPr>
          <a:xfrm>
            <a:off x="6528816" y="1591056"/>
            <a:ext cx="4846320" cy="292608"/>
          </a:xfrm>
          <a:prstGeom prst="rect">
            <a:avLst/>
          </a:prstGeom>
          <a:noFill/>
          <a:ln/>
        </p:spPr>
        <p:txBody>
          <a:bodyPr wrap="square" lIns="0" tIns="0" rIns="0" bIns="0" rtlCol="0" anchor="ctr"/>
          <a:lstStyle/>
          <a:p>
            <a:pPr indent="0" marL="0">
              <a:buNone/>
            </a:pPr>
            <a:r>
              <a:rPr lang="en-US" sz="1600" b="1" dirty="0">
                <a:solidFill>
                  <a:srgbClr val="C2703A"/>
                </a:solidFill>
                <a:latin typeface="Cambria" pitchFamily="34" charset="0"/>
                <a:ea typeface="Cambria" pitchFamily="34" charset="-122"/>
                <a:cs typeface="Cambria" pitchFamily="34" charset="-120"/>
              </a:rPr>
              <a:t>Future Scope</a:t>
            </a:r>
            <a:endParaRPr lang="en-US" sz="1600" dirty="0"/>
          </a:p>
        </p:txBody>
      </p:sp>
      <p:sp>
        <p:nvSpPr>
          <p:cNvPr id="26" name="Text 24"/>
          <p:cNvSpPr/>
          <p:nvPr/>
        </p:nvSpPr>
        <p:spPr>
          <a:xfrm>
            <a:off x="6528816" y="2048256"/>
            <a:ext cx="4864608" cy="3108960"/>
          </a:xfrm>
          <a:prstGeom prst="rect">
            <a:avLst/>
          </a:prstGeom>
          <a:noFill/>
          <a:ln/>
        </p:spPr>
        <p:txBody>
          <a:bodyPr wrap="square" lIns="0" tIns="0" rIns="0" bIns="0" rtlCol="0" anchor="ctr"/>
          <a:lstStyle/>
          <a:p>
            <a:pPr marL="342900" indent="-342900">
              <a:lnSpc>
                <a:spcPts val="1600"/>
              </a:lnSpc>
              <a:spcAft>
                <a:spcPts val="900"/>
              </a:spcAft>
              <a:buSzPct val="100000"/>
              <a:buChar char="•"/>
            </a:pPr>
            <a:r>
              <a:rPr lang="en-US" sz="1220" dirty="0">
                <a:solidFill>
                  <a:srgbClr val="1F2430"/>
                </a:solidFill>
                <a:latin typeface="Calibri" pitchFamily="34" charset="0"/>
                <a:ea typeface="Calibri" pitchFamily="34" charset="-122"/>
                <a:cs typeface="Calibri" pitchFamily="34" charset="-120"/>
              </a:rPr>
              <a:t>GIS integration for accessibility and boundary-based features</a:t>
            </a:r>
            <a:endParaRPr lang="en-US" sz="1220" dirty="0"/>
          </a:p>
          <a:p>
            <a:pPr marL="342900" indent="-342900">
              <a:lnSpc>
                <a:spcPts val="1600"/>
              </a:lnSpc>
              <a:spcAft>
                <a:spcPts val="900"/>
              </a:spcAft>
              <a:buSzPct val="100000"/>
              <a:buChar char="•"/>
            </a:pPr>
            <a:r>
              <a:rPr lang="en-US" sz="1220" dirty="0">
                <a:solidFill>
                  <a:srgbClr val="1F2430"/>
                </a:solidFill>
                <a:latin typeface="Calibri" pitchFamily="34" charset="0"/>
                <a:ea typeface="Calibri" pitchFamily="34" charset="-122"/>
                <a:cs typeface="Calibri" pitchFamily="34" charset="-120"/>
              </a:rPr>
              <a:t>Incorporation of updated property information</a:t>
            </a:r>
            <a:endParaRPr lang="en-US" sz="1220" dirty="0"/>
          </a:p>
          <a:p>
            <a:pPr marL="342900" indent="-342900">
              <a:lnSpc>
                <a:spcPts val="1600"/>
              </a:lnSpc>
              <a:spcAft>
                <a:spcPts val="900"/>
              </a:spcAft>
              <a:buSzPct val="100000"/>
              <a:buChar char="•"/>
            </a:pPr>
            <a:r>
              <a:rPr lang="en-US" sz="1220" dirty="0">
                <a:solidFill>
                  <a:srgbClr val="1F2430"/>
                </a:solidFill>
                <a:latin typeface="Calibri" pitchFamily="34" charset="0"/>
                <a:ea typeface="Calibri" pitchFamily="34" charset="-122"/>
                <a:cs typeface="Calibri" pitchFamily="34" charset="-120"/>
              </a:rPr>
              <a:t>Development of a web-based application interface</a:t>
            </a:r>
            <a:endParaRPr lang="en-US" sz="1220" dirty="0"/>
          </a:p>
          <a:p>
            <a:pPr marL="342900" indent="-342900">
              <a:lnSpc>
                <a:spcPts val="1600"/>
              </a:lnSpc>
              <a:spcAft>
                <a:spcPts val="900"/>
              </a:spcAft>
              <a:buSzPct val="100000"/>
              <a:buChar char="•"/>
            </a:pPr>
            <a:r>
              <a:rPr lang="en-US" sz="1220" dirty="0">
                <a:solidFill>
                  <a:srgbClr val="1F2430"/>
                </a:solidFill>
                <a:latin typeface="Calibri" pitchFamily="34" charset="0"/>
                <a:ea typeface="Calibri" pitchFamily="34" charset="-122"/>
                <a:cs typeface="Calibri" pitchFamily="34" charset="-120"/>
              </a:rPr>
              <a:t>Decision support for prospective buyers</a:t>
            </a:r>
            <a:endParaRPr lang="en-US" sz="1220" dirty="0"/>
          </a:p>
          <a:p>
            <a:pPr marL="342900" indent="-342900">
              <a:lnSpc>
                <a:spcPts val="1600"/>
              </a:lnSpc>
              <a:spcAft>
                <a:spcPts val="900"/>
              </a:spcAft>
              <a:buSzPct val="100000"/>
              <a:buChar char="•"/>
            </a:pPr>
            <a:r>
              <a:rPr lang="en-US" sz="1220" dirty="0">
                <a:solidFill>
                  <a:srgbClr val="1F2430"/>
                </a:solidFill>
                <a:latin typeface="Calibri" pitchFamily="34" charset="0"/>
                <a:ea typeface="Calibri" pitchFamily="34" charset="-122"/>
                <a:cs typeface="Calibri" pitchFamily="34" charset="-120"/>
              </a:rPr>
              <a:t>Investment and appreciation analysis</a:t>
            </a:r>
            <a:endParaRPr lang="en-US" sz="1220" dirty="0"/>
          </a:p>
          <a:p>
            <a:pPr marL="342900" indent="-342900">
              <a:lnSpc>
                <a:spcPts val="1600"/>
              </a:lnSpc>
              <a:spcAft>
                <a:spcPts val="900"/>
              </a:spcAft>
              <a:buSzPct val="100000"/>
              <a:buChar char="•"/>
            </a:pPr>
            <a:r>
              <a:rPr lang="en-US" sz="1220" dirty="0">
                <a:solidFill>
                  <a:srgbClr val="1F2430"/>
                </a:solidFill>
                <a:latin typeface="Calibri" pitchFamily="34" charset="0"/>
                <a:ea typeface="Calibri" pitchFamily="34" charset="-122"/>
                <a:cs typeface="Calibri" pitchFamily="34" charset="-120"/>
              </a:rPr>
              <a:t>Development feasibility analysis for builders</a:t>
            </a:r>
            <a:endParaRPr lang="en-US" sz="1220" dirty="0"/>
          </a:p>
          <a:p>
            <a:pPr marL="342900" indent="-342900">
              <a:lnSpc>
                <a:spcPts val="1600"/>
              </a:lnSpc>
              <a:spcAft>
                <a:spcPts val="900"/>
              </a:spcAft>
              <a:buSzPct val="100000"/>
              <a:buChar char="•"/>
            </a:pPr>
            <a:r>
              <a:rPr lang="en-US" sz="1220" dirty="0">
                <a:solidFill>
                  <a:srgbClr val="1F2430"/>
                </a:solidFill>
                <a:latin typeface="Calibri" pitchFamily="34" charset="0"/>
                <a:ea typeface="Calibri" pitchFamily="34" charset="-122"/>
                <a:cs typeface="Calibri" pitchFamily="34" charset="-120"/>
              </a:rPr>
              <a:t>Extension of the methodology to an additional city, with a separately trained model</a:t>
            </a:r>
            <a:endParaRPr lang="en-US" sz="1220" dirty="0"/>
          </a:p>
          <a:p>
            <a:pPr marL="342900" indent="-342900">
              <a:lnSpc>
                <a:spcPts val="1600"/>
              </a:lnSpc>
              <a:spcAft>
                <a:spcPts val="900"/>
              </a:spcAft>
              <a:buSzPct val="100000"/>
              <a:buChar char="•"/>
            </a:pPr>
            <a:r>
              <a:rPr lang="en-US" sz="1220" dirty="0">
                <a:solidFill>
                  <a:srgbClr val="1F2430"/>
                </a:solidFill>
                <a:latin typeface="Calibri" pitchFamily="34" charset="0"/>
                <a:ea typeface="Calibri" pitchFamily="34" charset="-122"/>
                <a:cs typeface="Calibri" pitchFamily="34" charset="-120"/>
              </a:rPr>
              <a:t>Additional urban and location intelligence layers</a:t>
            </a:r>
            <a:endParaRPr lang="en-US" sz="1220" dirty="0"/>
          </a:p>
        </p:txBody>
      </p:sp>
      <p:sp>
        <p:nvSpPr>
          <p:cNvPr id="27" name="Text 25"/>
          <p:cNvSpPr/>
          <p:nvPr/>
        </p:nvSpPr>
        <p:spPr>
          <a:xfrm>
            <a:off x="6528816" y="5358384"/>
            <a:ext cx="4864608" cy="365760"/>
          </a:xfrm>
          <a:prstGeom prst="rect">
            <a:avLst/>
          </a:prstGeom>
          <a:noFill/>
          <a:ln/>
        </p:spPr>
        <p:txBody>
          <a:bodyPr wrap="square" lIns="0" tIns="0" rIns="0" bIns="0" rtlCol="0" anchor="ctr"/>
          <a:lstStyle/>
          <a:p>
            <a:pPr indent="0" marL="0">
              <a:buNone/>
            </a:pPr>
            <a:r>
              <a:rPr lang="en-US" sz="1080" i="1" dirty="0">
                <a:solidFill>
                  <a:srgbClr val="5C6675"/>
                </a:solidFill>
                <a:latin typeface="Calibri" pitchFamily="34" charset="0"/>
                <a:ea typeface="Calibri" pitchFamily="34" charset="-122"/>
                <a:cs typeface="Calibri" pitchFamily="34" charset="-120"/>
              </a:rPr>
              <a:t>These components are proposed for subsequent phases and are not implemented at this stage.</a:t>
            </a:r>
            <a:endParaRPr lang="en-US" sz="1080" dirty="0"/>
          </a:p>
        </p:txBody>
      </p:sp>
      <p:sp>
        <p:nvSpPr>
          <p:cNvPr id="28" name="Text 26"/>
          <p:cNvSpPr/>
          <p:nvPr/>
        </p:nvSpPr>
        <p:spPr>
          <a:xfrm>
            <a:off x="11045952" y="6419088"/>
            <a:ext cx="548640" cy="256032"/>
          </a:xfrm>
          <a:prstGeom prst="rect">
            <a:avLst/>
          </a:prstGeom>
          <a:noFill/>
          <a:ln/>
        </p:spPr>
        <p:txBody>
          <a:bodyPr wrap="square" lIns="0" tIns="0" rIns="0" bIns="0" rtlCol="0" anchor="ctr"/>
          <a:lstStyle/>
          <a:p>
            <a:pPr algn="r" indent="0" marL="0">
              <a:buNone/>
            </a:pPr>
            <a:r>
              <a:rPr lang="en-US" sz="1000" dirty="0">
                <a:solidFill>
                  <a:srgbClr val="5C6675"/>
                </a:solidFill>
                <a:latin typeface="Calibri" pitchFamily="34" charset="0"/>
                <a:ea typeface="Calibri" pitchFamily="34" charset="-122"/>
                <a:cs typeface="Calibri" pitchFamily="34" charset="-120"/>
              </a:rPr>
              <a:t>19</a:t>
            </a:r>
            <a:endParaRPr lang="en-US" sz="1000" dirty="0"/>
          </a:p>
        </p:txBody>
      </p:sp>
      <p:sp>
        <p:nvSpPr>
          <p:cNvPr id="29" name="Text 27"/>
          <p:cNvSpPr/>
          <p:nvPr/>
        </p:nvSpPr>
        <p:spPr>
          <a:xfrm>
            <a:off x="566928" y="6419088"/>
            <a:ext cx="7315200" cy="256032"/>
          </a:xfrm>
          <a:prstGeom prst="rect">
            <a:avLst/>
          </a:prstGeom>
          <a:noFill/>
          <a:ln/>
        </p:spPr>
        <p:txBody>
          <a:bodyPr wrap="square" lIns="0" tIns="0" rIns="0" bIns="0" rtlCol="0" anchor="ctr"/>
          <a:lstStyle/>
          <a:p>
            <a:pPr indent="0" marL="0">
              <a:buNone/>
            </a:pPr>
            <a:r>
              <a:rPr lang="en-US" sz="1000" dirty="0">
                <a:solidFill>
                  <a:srgbClr val="5C6675"/>
                </a:solidFill>
                <a:latin typeface="Calibri" pitchFamily="34" charset="0"/>
                <a:ea typeface="Calibri" pitchFamily="34" charset="-122"/>
                <a:cs typeface="Calibri" pitchFamily="34" charset="-120"/>
              </a:rPr>
              <a:t>Project Review 1  ·  B.Tech CSE (AI &amp; ML)  ·  SRMIST</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B365D"/>
        </a:solidFill>
      </p:bgPr>
    </p:bg>
    <p:spTree>
      <p:nvGrpSpPr>
        <p:cNvPr id="1" name=""/>
        <p:cNvGrpSpPr/>
        <p:nvPr/>
      </p:nvGrpSpPr>
      <p:grpSpPr>
        <a:xfrm>
          <a:off x="0" y="0"/>
          <a:ext cx="0" cy="0"/>
          <a:chOff x="0" y="0"/>
          <a:chExt cx="0" cy="0"/>
        </a:xfrm>
      </p:grpSpPr>
      <p:sp>
        <p:nvSpPr>
          <p:cNvPr id="2" name="Shape 0"/>
          <p:cNvSpPr/>
          <p:nvPr/>
        </p:nvSpPr>
        <p:spPr>
          <a:xfrm>
            <a:off x="10241280" y="-1097280"/>
            <a:ext cx="3474720" cy="3474720"/>
          </a:xfrm>
          <a:prstGeom prst="ellipse">
            <a:avLst/>
          </a:prstGeom>
          <a:solidFill>
            <a:srgbClr val="12243F"/>
          </a:solidFill>
          <a:ln w="12700">
            <a:solidFill>
              <a:srgbClr val="12243F"/>
            </a:solidFill>
            <a:prstDash val="solid"/>
          </a:ln>
        </p:spPr>
      </p:sp>
      <p:sp>
        <p:nvSpPr>
          <p:cNvPr id="3" name="Text 1"/>
          <p:cNvSpPr/>
          <p:nvPr/>
        </p:nvSpPr>
        <p:spPr>
          <a:xfrm>
            <a:off x="566928" y="841248"/>
            <a:ext cx="8229600" cy="274320"/>
          </a:xfrm>
          <a:prstGeom prst="rect">
            <a:avLst/>
          </a:prstGeom>
          <a:noFill/>
          <a:ln/>
        </p:spPr>
        <p:txBody>
          <a:bodyPr wrap="square" lIns="0" tIns="0" rIns="0" bIns="0" rtlCol="0" anchor="ctr"/>
          <a:lstStyle/>
          <a:p>
            <a:pPr indent="0" marL="0">
              <a:buNone/>
            </a:pPr>
            <a:r>
              <a:rPr lang="en-US" sz="1150" b="1" spc="180" kern="0" dirty="0">
                <a:solidFill>
                  <a:srgbClr val="E8B98C"/>
                </a:solidFill>
                <a:latin typeface="Calibri" pitchFamily="34" charset="0"/>
                <a:ea typeface="Calibri" pitchFamily="34" charset="-122"/>
                <a:cs typeface="Calibri" pitchFamily="34" charset="-120"/>
              </a:rPr>
              <a:t>CONCLUSION</a:t>
            </a:r>
            <a:endParaRPr lang="en-US" sz="1150" dirty="0"/>
          </a:p>
        </p:txBody>
      </p:sp>
      <p:sp>
        <p:nvSpPr>
          <p:cNvPr id="4" name="Text 2"/>
          <p:cNvSpPr/>
          <p:nvPr/>
        </p:nvSpPr>
        <p:spPr>
          <a:xfrm>
            <a:off x="566928" y="1170432"/>
            <a:ext cx="9144000" cy="54864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Conclusion</a:t>
            </a:r>
            <a:endParaRPr lang="en-US" sz="3200" dirty="0"/>
          </a:p>
        </p:txBody>
      </p:sp>
      <p:sp>
        <p:nvSpPr>
          <p:cNvPr id="5" name="Text 3"/>
          <p:cNvSpPr/>
          <p:nvPr/>
        </p:nvSpPr>
        <p:spPr>
          <a:xfrm>
            <a:off x="566928" y="1975104"/>
            <a:ext cx="10424160" cy="1005840"/>
          </a:xfrm>
          <a:prstGeom prst="rect">
            <a:avLst/>
          </a:prstGeom>
          <a:noFill/>
          <a:ln/>
        </p:spPr>
        <p:txBody>
          <a:bodyPr wrap="square" lIns="0" tIns="0" rIns="0" bIns="0" rtlCol="0" anchor="ctr"/>
          <a:lstStyle/>
          <a:p>
            <a:pPr indent="0" marL="0">
              <a:lnSpc>
                <a:spcPts val="2300"/>
              </a:lnSpc>
              <a:buNone/>
            </a:pPr>
            <a:r>
              <a:rPr lang="en-US" sz="1450" dirty="0">
                <a:solidFill>
                  <a:srgbClr val="D6E0EE"/>
                </a:solidFill>
                <a:latin typeface="Calibri" pitchFamily="34" charset="0"/>
                <a:ea typeface="Calibri" pitchFamily="34" charset="-122"/>
                <a:cs typeface="Calibri" pitchFamily="34" charset="-120"/>
              </a:rPr>
              <a:t>The project addresses the problem of residential property price estimation using machine learning. The work carried out in this phase focuses on understanding the dataset through statistical analysis and exploratory data analysis, identifying the variables relevant to the target, and defining a regression-based machine learning methodology.</a:t>
            </a:r>
            <a:endParaRPr lang="en-US" sz="1450" dirty="0"/>
          </a:p>
        </p:txBody>
      </p:sp>
      <p:sp>
        <p:nvSpPr>
          <p:cNvPr id="6" name="Text 4"/>
          <p:cNvSpPr/>
          <p:nvPr/>
        </p:nvSpPr>
        <p:spPr>
          <a:xfrm>
            <a:off x="566928" y="3072384"/>
            <a:ext cx="10424160" cy="1097280"/>
          </a:xfrm>
          <a:prstGeom prst="rect">
            <a:avLst/>
          </a:prstGeom>
          <a:noFill/>
          <a:ln/>
        </p:spPr>
        <p:txBody>
          <a:bodyPr wrap="square" lIns="0" tIns="0" rIns="0" bIns="0" rtlCol="0" anchor="ctr"/>
          <a:lstStyle/>
          <a:p>
            <a:pPr indent="0" marL="0">
              <a:lnSpc>
                <a:spcPts val="2300"/>
              </a:lnSpc>
              <a:buNone/>
            </a:pPr>
            <a:r>
              <a:rPr lang="en-US" sz="1450" dirty="0">
                <a:solidFill>
                  <a:srgbClr val="D6E0EE"/>
                </a:solidFill>
                <a:latin typeface="Calibri" pitchFamily="34" charset="0"/>
                <a:ea typeface="Calibri" pitchFamily="34" charset="-122"/>
                <a:cs typeface="Calibri" pitchFamily="34" charset="-120"/>
              </a:rPr>
              <a:t>The analysis indicates that the target variable is positively skewed and that no single numerical attribute is strongly correlated with price, which supports the use of multivariate, non-linear regression models. The next stages will involve feature engineering, model development, comparison and evaluation, followed by integration into the proposed application.</a:t>
            </a:r>
            <a:endParaRPr lang="en-US" sz="1450" dirty="0"/>
          </a:p>
        </p:txBody>
      </p:sp>
      <p:sp>
        <p:nvSpPr>
          <p:cNvPr id="7" name="Shape 5"/>
          <p:cNvSpPr/>
          <p:nvPr/>
        </p:nvSpPr>
        <p:spPr>
          <a:xfrm>
            <a:off x="566928" y="4572000"/>
            <a:ext cx="2048256" cy="658368"/>
          </a:xfrm>
          <a:prstGeom prst="roundRect">
            <a:avLst>
              <a:gd name="adj" fmla="val 6944"/>
            </a:avLst>
          </a:prstGeom>
          <a:solidFill>
            <a:srgbClr val="12243F"/>
          </a:solidFill>
          <a:ln w="15240">
            <a:solidFill>
              <a:srgbClr val="35507A"/>
            </a:solidFill>
            <a:prstDash val="solid"/>
          </a:ln>
        </p:spPr>
      </p:sp>
      <p:sp>
        <p:nvSpPr>
          <p:cNvPr id="8" name="Text 6"/>
          <p:cNvSpPr/>
          <p:nvPr/>
        </p:nvSpPr>
        <p:spPr>
          <a:xfrm>
            <a:off x="621792" y="4572000"/>
            <a:ext cx="1938528" cy="658368"/>
          </a:xfrm>
          <a:prstGeom prst="rect">
            <a:avLst/>
          </a:prstGeom>
          <a:noFill/>
          <a:ln/>
        </p:spPr>
        <p:txBody>
          <a:bodyPr wrap="square" lIns="0" tIns="0" rIns="0" bIns="0" rtlCol="0" anchor="ctr"/>
          <a:lstStyle/>
          <a:p>
            <a:pPr algn="ctr" indent="0" marL="0">
              <a:buNone/>
            </a:pPr>
            <a:r>
              <a:rPr lang="en-US" sz="1150" dirty="0">
                <a:solidFill>
                  <a:srgbClr val="C9D6E8"/>
                </a:solidFill>
                <a:latin typeface="Calibri" pitchFamily="34" charset="0"/>
                <a:ea typeface="Calibri" pitchFamily="34" charset="-122"/>
                <a:cs typeface="Calibri" pitchFamily="34" charset="-120"/>
              </a:rPr>
              <a:t>Property Data</a:t>
            </a:r>
            <a:endParaRPr lang="en-US" sz="1150" dirty="0"/>
          </a:p>
        </p:txBody>
      </p:sp>
      <p:sp>
        <p:nvSpPr>
          <p:cNvPr id="9" name="Text 7"/>
          <p:cNvSpPr/>
          <p:nvPr/>
        </p:nvSpPr>
        <p:spPr>
          <a:xfrm>
            <a:off x="2615184" y="4572000"/>
            <a:ext cx="219456" cy="658368"/>
          </a:xfrm>
          <a:prstGeom prst="rect">
            <a:avLst/>
          </a:prstGeom>
          <a:noFill/>
          <a:ln/>
        </p:spPr>
        <p:txBody>
          <a:bodyPr wrap="square" lIns="0" tIns="0" rIns="0" bIns="0" rtlCol="0" anchor="ctr"/>
          <a:lstStyle/>
          <a:p>
            <a:pPr algn="ctr" indent="0" marL="0">
              <a:buNone/>
            </a:pPr>
            <a:r>
              <a:rPr lang="en-US" sz="1700" dirty="0">
                <a:solidFill>
                  <a:srgbClr val="6E86AC"/>
                </a:solidFill>
                <a:latin typeface="Calibri" pitchFamily="34" charset="0"/>
                <a:ea typeface="Calibri" pitchFamily="34" charset="-122"/>
                <a:cs typeface="Calibri" pitchFamily="34" charset="-120"/>
              </a:rPr>
              <a:t>›</a:t>
            </a:r>
            <a:endParaRPr lang="en-US" sz="1700" dirty="0"/>
          </a:p>
        </p:txBody>
      </p:sp>
      <p:sp>
        <p:nvSpPr>
          <p:cNvPr id="10" name="Shape 8"/>
          <p:cNvSpPr/>
          <p:nvPr/>
        </p:nvSpPr>
        <p:spPr>
          <a:xfrm>
            <a:off x="2834640" y="4572000"/>
            <a:ext cx="2048256" cy="658368"/>
          </a:xfrm>
          <a:prstGeom prst="roundRect">
            <a:avLst>
              <a:gd name="adj" fmla="val 6944"/>
            </a:avLst>
          </a:prstGeom>
          <a:solidFill>
            <a:srgbClr val="12243F"/>
          </a:solidFill>
          <a:ln w="15240">
            <a:solidFill>
              <a:srgbClr val="35507A"/>
            </a:solidFill>
            <a:prstDash val="solid"/>
          </a:ln>
        </p:spPr>
      </p:sp>
      <p:sp>
        <p:nvSpPr>
          <p:cNvPr id="11" name="Text 9"/>
          <p:cNvSpPr/>
          <p:nvPr/>
        </p:nvSpPr>
        <p:spPr>
          <a:xfrm>
            <a:off x="2889504" y="4572000"/>
            <a:ext cx="1938528" cy="658368"/>
          </a:xfrm>
          <a:prstGeom prst="rect">
            <a:avLst/>
          </a:prstGeom>
          <a:noFill/>
          <a:ln/>
        </p:spPr>
        <p:txBody>
          <a:bodyPr wrap="square" lIns="0" tIns="0" rIns="0" bIns="0" rtlCol="0" anchor="ctr"/>
          <a:lstStyle/>
          <a:p>
            <a:pPr algn="ctr" indent="0" marL="0">
              <a:buNone/>
            </a:pPr>
            <a:r>
              <a:rPr lang="en-US" sz="1150" dirty="0">
                <a:solidFill>
                  <a:srgbClr val="C9D6E8"/>
                </a:solidFill>
                <a:latin typeface="Calibri" pitchFamily="34" charset="0"/>
                <a:ea typeface="Calibri" pitchFamily="34" charset="-122"/>
                <a:cs typeface="Calibri" pitchFamily="34" charset="-120"/>
              </a:rPr>
              <a:t>Statistical Analysis</a:t>
            </a:r>
            <a:endParaRPr lang="en-US" sz="1150" dirty="0"/>
          </a:p>
        </p:txBody>
      </p:sp>
      <p:sp>
        <p:nvSpPr>
          <p:cNvPr id="12" name="Text 10"/>
          <p:cNvSpPr/>
          <p:nvPr/>
        </p:nvSpPr>
        <p:spPr>
          <a:xfrm>
            <a:off x="4882896" y="4572000"/>
            <a:ext cx="219456" cy="658368"/>
          </a:xfrm>
          <a:prstGeom prst="rect">
            <a:avLst/>
          </a:prstGeom>
          <a:noFill/>
          <a:ln/>
        </p:spPr>
        <p:txBody>
          <a:bodyPr wrap="square" lIns="0" tIns="0" rIns="0" bIns="0" rtlCol="0" anchor="ctr"/>
          <a:lstStyle/>
          <a:p>
            <a:pPr algn="ctr" indent="0" marL="0">
              <a:buNone/>
            </a:pPr>
            <a:r>
              <a:rPr lang="en-US" sz="1700" dirty="0">
                <a:solidFill>
                  <a:srgbClr val="6E86AC"/>
                </a:solidFill>
                <a:latin typeface="Calibri" pitchFamily="34" charset="0"/>
                <a:ea typeface="Calibri" pitchFamily="34" charset="-122"/>
                <a:cs typeface="Calibri" pitchFamily="34" charset="-120"/>
              </a:rPr>
              <a:t>›</a:t>
            </a:r>
            <a:endParaRPr lang="en-US" sz="1700" dirty="0"/>
          </a:p>
        </p:txBody>
      </p:sp>
      <p:sp>
        <p:nvSpPr>
          <p:cNvPr id="13" name="Shape 11"/>
          <p:cNvSpPr/>
          <p:nvPr/>
        </p:nvSpPr>
        <p:spPr>
          <a:xfrm>
            <a:off x="5102352" y="4572000"/>
            <a:ext cx="2048256" cy="658368"/>
          </a:xfrm>
          <a:prstGeom prst="roundRect">
            <a:avLst>
              <a:gd name="adj" fmla="val 6944"/>
            </a:avLst>
          </a:prstGeom>
          <a:solidFill>
            <a:srgbClr val="FFFFFF"/>
          </a:solidFill>
          <a:ln w="15240">
            <a:solidFill>
              <a:srgbClr val="FFFFFF"/>
            </a:solidFill>
            <a:prstDash val="solid"/>
          </a:ln>
        </p:spPr>
      </p:sp>
      <p:sp>
        <p:nvSpPr>
          <p:cNvPr id="14" name="Text 12"/>
          <p:cNvSpPr/>
          <p:nvPr/>
        </p:nvSpPr>
        <p:spPr>
          <a:xfrm>
            <a:off x="5157216" y="4572000"/>
            <a:ext cx="1938528" cy="658368"/>
          </a:xfrm>
          <a:prstGeom prst="rect">
            <a:avLst/>
          </a:prstGeom>
          <a:noFill/>
          <a:ln/>
        </p:spPr>
        <p:txBody>
          <a:bodyPr wrap="square" lIns="0" tIns="0" rIns="0" bIns="0" rtlCol="0" anchor="ctr"/>
          <a:lstStyle/>
          <a:p>
            <a:pPr algn="ctr" indent="0" marL="0">
              <a:buNone/>
            </a:pPr>
            <a:r>
              <a:rPr lang="en-US" sz="1150" b="1" dirty="0">
                <a:solidFill>
                  <a:srgbClr val="1B365D"/>
                </a:solidFill>
                <a:latin typeface="Calibri" pitchFamily="34" charset="0"/>
                <a:ea typeface="Calibri" pitchFamily="34" charset="-122"/>
                <a:cs typeface="Calibri" pitchFamily="34" charset="-120"/>
              </a:rPr>
              <a:t>Machine Learning</a:t>
            </a:r>
            <a:endParaRPr lang="en-US" sz="1150" dirty="0"/>
          </a:p>
        </p:txBody>
      </p:sp>
      <p:sp>
        <p:nvSpPr>
          <p:cNvPr id="15" name="Text 13"/>
          <p:cNvSpPr/>
          <p:nvPr/>
        </p:nvSpPr>
        <p:spPr>
          <a:xfrm>
            <a:off x="7150608" y="4572000"/>
            <a:ext cx="219456" cy="658368"/>
          </a:xfrm>
          <a:prstGeom prst="rect">
            <a:avLst/>
          </a:prstGeom>
          <a:noFill/>
          <a:ln/>
        </p:spPr>
        <p:txBody>
          <a:bodyPr wrap="square" lIns="0" tIns="0" rIns="0" bIns="0" rtlCol="0" anchor="ctr"/>
          <a:lstStyle/>
          <a:p>
            <a:pPr algn="ctr" indent="0" marL="0">
              <a:buNone/>
            </a:pPr>
            <a:r>
              <a:rPr lang="en-US" sz="1700" dirty="0">
                <a:solidFill>
                  <a:srgbClr val="6E86AC"/>
                </a:solidFill>
                <a:latin typeface="Calibri" pitchFamily="34" charset="0"/>
                <a:ea typeface="Calibri" pitchFamily="34" charset="-122"/>
                <a:cs typeface="Calibri" pitchFamily="34" charset="-120"/>
              </a:rPr>
              <a:t>›</a:t>
            </a:r>
            <a:endParaRPr lang="en-US" sz="1700" dirty="0"/>
          </a:p>
        </p:txBody>
      </p:sp>
      <p:sp>
        <p:nvSpPr>
          <p:cNvPr id="16" name="Shape 14"/>
          <p:cNvSpPr/>
          <p:nvPr/>
        </p:nvSpPr>
        <p:spPr>
          <a:xfrm>
            <a:off x="7370064" y="4572000"/>
            <a:ext cx="2048256" cy="658368"/>
          </a:xfrm>
          <a:prstGeom prst="roundRect">
            <a:avLst>
              <a:gd name="adj" fmla="val 6944"/>
            </a:avLst>
          </a:prstGeom>
          <a:solidFill>
            <a:srgbClr val="12243F"/>
          </a:solidFill>
          <a:ln w="15240">
            <a:solidFill>
              <a:srgbClr val="35507A"/>
            </a:solidFill>
            <a:prstDash val="solid"/>
          </a:ln>
        </p:spPr>
      </p:sp>
      <p:sp>
        <p:nvSpPr>
          <p:cNvPr id="17" name="Text 15"/>
          <p:cNvSpPr/>
          <p:nvPr/>
        </p:nvSpPr>
        <p:spPr>
          <a:xfrm>
            <a:off x="7424928" y="4572000"/>
            <a:ext cx="1938528" cy="658368"/>
          </a:xfrm>
          <a:prstGeom prst="rect">
            <a:avLst/>
          </a:prstGeom>
          <a:noFill/>
          <a:ln/>
        </p:spPr>
        <p:txBody>
          <a:bodyPr wrap="square" lIns="0" tIns="0" rIns="0" bIns="0" rtlCol="0" anchor="ctr"/>
          <a:lstStyle/>
          <a:p>
            <a:pPr algn="ctr" indent="0" marL="0">
              <a:buNone/>
            </a:pPr>
            <a:r>
              <a:rPr lang="en-US" sz="1150" dirty="0">
                <a:solidFill>
                  <a:srgbClr val="C9D6E8"/>
                </a:solidFill>
                <a:latin typeface="Calibri" pitchFamily="34" charset="0"/>
                <a:ea typeface="Calibri" pitchFamily="34" charset="-122"/>
                <a:cs typeface="Calibri" pitchFamily="34" charset="-120"/>
              </a:rPr>
              <a:t>Prediction</a:t>
            </a:r>
            <a:endParaRPr lang="en-US" sz="1150" dirty="0"/>
          </a:p>
        </p:txBody>
      </p:sp>
      <p:sp>
        <p:nvSpPr>
          <p:cNvPr id="18" name="Text 16"/>
          <p:cNvSpPr/>
          <p:nvPr/>
        </p:nvSpPr>
        <p:spPr>
          <a:xfrm>
            <a:off x="9418320" y="4572000"/>
            <a:ext cx="219456" cy="658368"/>
          </a:xfrm>
          <a:prstGeom prst="rect">
            <a:avLst/>
          </a:prstGeom>
          <a:noFill/>
          <a:ln/>
        </p:spPr>
        <p:txBody>
          <a:bodyPr wrap="square" lIns="0" tIns="0" rIns="0" bIns="0" rtlCol="0" anchor="ctr"/>
          <a:lstStyle/>
          <a:p>
            <a:pPr algn="ctr" indent="0" marL="0">
              <a:buNone/>
            </a:pPr>
            <a:r>
              <a:rPr lang="en-US" sz="1700" dirty="0">
                <a:solidFill>
                  <a:srgbClr val="6E86AC"/>
                </a:solidFill>
                <a:latin typeface="Calibri" pitchFamily="34" charset="0"/>
                <a:ea typeface="Calibri" pitchFamily="34" charset="-122"/>
                <a:cs typeface="Calibri" pitchFamily="34" charset="-120"/>
              </a:rPr>
              <a:t>›</a:t>
            </a:r>
            <a:endParaRPr lang="en-US" sz="1700" dirty="0"/>
          </a:p>
        </p:txBody>
      </p:sp>
      <p:sp>
        <p:nvSpPr>
          <p:cNvPr id="19" name="Shape 17"/>
          <p:cNvSpPr/>
          <p:nvPr/>
        </p:nvSpPr>
        <p:spPr>
          <a:xfrm>
            <a:off x="9637776" y="4572000"/>
            <a:ext cx="2048256" cy="658368"/>
          </a:xfrm>
          <a:prstGeom prst="roundRect">
            <a:avLst>
              <a:gd name="adj" fmla="val 6944"/>
            </a:avLst>
          </a:prstGeom>
          <a:solidFill>
            <a:srgbClr val="12243F"/>
          </a:solidFill>
          <a:ln w="15240">
            <a:solidFill>
              <a:srgbClr val="35507A"/>
            </a:solidFill>
            <a:prstDash val="solid"/>
          </a:ln>
        </p:spPr>
      </p:sp>
      <p:sp>
        <p:nvSpPr>
          <p:cNvPr id="20" name="Text 18"/>
          <p:cNvSpPr/>
          <p:nvPr/>
        </p:nvSpPr>
        <p:spPr>
          <a:xfrm>
            <a:off x="9692640" y="4572000"/>
            <a:ext cx="1938528" cy="658368"/>
          </a:xfrm>
          <a:prstGeom prst="rect">
            <a:avLst/>
          </a:prstGeom>
          <a:noFill/>
          <a:ln/>
        </p:spPr>
        <p:txBody>
          <a:bodyPr wrap="square" lIns="0" tIns="0" rIns="0" bIns="0" rtlCol="0" anchor="ctr"/>
          <a:lstStyle/>
          <a:p>
            <a:pPr algn="ctr" indent="0" marL="0">
              <a:buNone/>
            </a:pPr>
            <a:r>
              <a:rPr lang="en-US" sz="1150" dirty="0">
                <a:solidFill>
                  <a:srgbClr val="C9D6E8"/>
                </a:solidFill>
                <a:latin typeface="Calibri" pitchFamily="34" charset="0"/>
                <a:ea typeface="Calibri" pitchFamily="34" charset="-122"/>
                <a:cs typeface="Calibri" pitchFamily="34" charset="-120"/>
              </a:rPr>
              <a:t>Explainability</a:t>
            </a:r>
            <a:endParaRPr lang="en-US" sz="1150" dirty="0"/>
          </a:p>
        </p:txBody>
      </p:sp>
      <p:sp>
        <p:nvSpPr>
          <p:cNvPr id="21" name="Text 19"/>
          <p:cNvSpPr/>
          <p:nvPr/>
        </p:nvSpPr>
        <p:spPr>
          <a:xfrm>
            <a:off x="566928" y="5632704"/>
            <a:ext cx="4572000" cy="402336"/>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Thank you</a:t>
            </a:r>
            <a:endParaRPr lang="en-US" sz="2000" dirty="0"/>
          </a:p>
        </p:txBody>
      </p:sp>
      <p:sp>
        <p:nvSpPr>
          <p:cNvPr id="22" name="Text 20"/>
          <p:cNvSpPr/>
          <p:nvPr/>
        </p:nvSpPr>
        <p:spPr>
          <a:xfrm>
            <a:off x="11045952" y="6419088"/>
            <a:ext cx="548640" cy="256032"/>
          </a:xfrm>
          <a:prstGeom prst="rect">
            <a:avLst/>
          </a:prstGeom>
          <a:noFill/>
          <a:ln/>
        </p:spPr>
        <p:txBody>
          <a:bodyPr wrap="square" lIns="0" tIns="0" rIns="0" bIns="0" rtlCol="0" anchor="ctr"/>
          <a:lstStyle/>
          <a:p>
            <a:pPr algn="r" indent="0" marL="0">
              <a:buNone/>
            </a:pPr>
            <a:r>
              <a:rPr lang="en-US" sz="1000" dirty="0">
                <a:solidFill>
                  <a:srgbClr val="5C6675"/>
                </a:solidFill>
                <a:latin typeface="Calibri" pitchFamily="34" charset="0"/>
                <a:ea typeface="Calibri" pitchFamily="34" charset="-122"/>
                <a:cs typeface="Calibri" pitchFamily="34" charset="-120"/>
              </a:rPr>
              <a:t>20</a:t>
            </a:r>
            <a:endParaRPr lang="en-US" sz="1000" dirty="0"/>
          </a:p>
        </p:txBody>
      </p:sp>
      <p:sp>
        <p:nvSpPr>
          <p:cNvPr id="23" name="Text 21"/>
          <p:cNvSpPr/>
          <p:nvPr/>
        </p:nvSpPr>
        <p:spPr>
          <a:xfrm>
            <a:off x="566928" y="6419088"/>
            <a:ext cx="7315200" cy="256032"/>
          </a:xfrm>
          <a:prstGeom prst="rect">
            <a:avLst/>
          </a:prstGeom>
          <a:noFill/>
          <a:ln/>
        </p:spPr>
        <p:txBody>
          <a:bodyPr wrap="square" lIns="0" tIns="0" rIns="0" bIns="0" rtlCol="0" anchor="ctr"/>
          <a:lstStyle/>
          <a:p>
            <a:pPr indent="0" marL="0">
              <a:buNone/>
            </a:pPr>
            <a:r>
              <a:rPr lang="en-US" sz="1000" dirty="0">
                <a:solidFill>
                  <a:srgbClr val="5C6675"/>
                </a:solidFill>
                <a:latin typeface="Calibri" pitchFamily="34" charset="0"/>
                <a:ea typeface="Calibri" pitchFamily="34" charset="-122"/>
                <a:cs typeface="Calibri" pitchFamily="34" charset="-120"/>
              </a:rPr>
              <a:t>Project Review 1  ·  B.Tech CSE (AI &amp; ML)  ·  SRMIST</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Bengaluru AI Property &amp; Urban Intelligence Platform — Review 1</dc:title>
  <dc:subject>PptxGenJS Presentation</dc:subject>
  <dc:creator>UJWAL M</dc:creator>
  <cp:lastModifiedBy>UJWAL M</cp:lastModifiedBy>
  <cp:revision>1</cp:revision>
  <dcterms:created xsi:type="dcterms:W3CDTF">2026-08-10T19:41:05Z</dcterms:created>
  <dcterms:modified xsi:type="dcterms:W3CDTF">2026-08-10T19:41:05Z</dcterms:modified>
</cp:coreProperties>
</file>