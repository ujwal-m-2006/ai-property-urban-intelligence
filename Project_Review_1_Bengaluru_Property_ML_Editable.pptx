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365D"/>
                </a:solidFill>
                <a:latin typeface="Calibri"/>
              </a:defRPr>
            </a:pPr>
            <a:r>
              <a:rPr sz="1200" b="0" i="0" u="none" strike="noStrike">
                <a:solidFill>
                  <a:srgbClr val="1B365D"/>
                </a:solidFill>
                <a:latin typeface="Calibri"/>
              </a:rPr>
              <a:t>Missing values by column (raw dataset, n = 13,320)</a:t>
            </a:r>
          </a:p>
        </c:rich>
      </c:tx>
      <c:layout/>
      <c:overlay val="0"/>
    </c:title>
    <c:autoTitleDeleted val="0"/>
    <c:plotArea>
      <c:layout/>
      <c:barChart>
        <c:barDir val="bar"/>
        <c:grouping val="clustered"/>
        <c:varyColors val="0"/>
        <c:ser>
          <c:idx val="0"/>
          <c:order val="0"/>
          <c:tx>
            <c:strRef>
              <c:f>Sheet1!$B$1</c:f>
              <c:strCache>
                <c:ptCount val="1"/>
                <c:pt idx="0">
                  <c:v>Missing records</c:v>
                </c:pt>
              </c:strCache>
            </c:strRef>
          </c:tx>
          <c:spPr>
            <a:solidFill>
              <a:srgbClr val="1B365D"/>
            </a:solidFill>
            <a:ln w="9525" cap="flat">
              <a:solidFill>
                <a:srgbClr val="FFFFFF"/>
              </a:solidFill>
              <a:prstDash val="solid"/>
              <a:round/>
            </a:ln>
            <a:effectLst/>
          </c:spPr>
          <c:invertIfNegative val="0"/>
          <c:dLbls>
            <c:numFmt formatCode="#,##0" sourceLinked="0"/>
            <c:txPr>
              <a:bodyPr/>
              <a:lstStyle/>
              <a:p>
                <a:pPr>
                  <a:defRPr b="0" i="0" strike="noStrike" sz="900" u="none">
                    <a:solidFill>
                      <a:srgbClr val="5C6675"/>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society</c:v>
                  </c:pt>
                  <c:pt idx="1">
                    <c:v>balcony</c:v>
                  </c:pt>
                  <c:pt idx="2">
                    <c:v>bath</c:v>
                  </c:pt>
                  <c:pt idx="3">
                    <c:v>size</c:v>
                  </c:pt>
                  <c:pt idx="4">
                    <c:v>location</c:v>
                  </c:pt>
                </c:lvl>
              </c:multiLvlStrCache>
            </c:multiLvlStrRef>
          </c:cat>
          <c:val>
            <c:numRef>
              <c:f>Sheet1!$B$2:$B$6</c:f>
              <c:numCache>
                <c:formatCode>General</c:formatCode>
                <c:ptCount val="5"/>
                <c:pt idx="0">
                  <c:v>5502</c:v>
                </c:pt>
                <c:pt idx="1">
                  <c:v>609</c:v>
                </c:pt>
                <c:pt idx="2">
                  <c:v>73</c:v>
                </c:pt>
                <c:pt idx="3">
                  <c:v>16</c:v>
                </c:pt>
                <c:pt idx="4">
                  <c:v>1</c:v>
                </c:pt>
              </c:numCache>
            </c:numRef>
          </c:val>
        </c:ser>
        <c:dLbls>
          <c:numFmt formatCode="#,##0" sourceLinked="0"/>
          <c:txPr>
            <a:bodyPr/>
            <a:lstStyle/>
            <a:p>
              <a:pPr>
                <a:defRPr b="0" i="0" strike="noStrike" sz="900" u="none">
                  <a:solidFill>
                    <a:srgbClr val="5C667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2"/>
        <c:crosses val="autoZero"/>
        <c:auto val="1"/>
        <c:lblAlgn val="ctr"/>
        <c:noMultiLvlLbl val="1"/>
      </c:catAx>
      <c:valAx>
        <c:axId val="2094734552"/>
        <c:scaling>
          <c:orientation val="minMax"/>
          <c:max val="6400"/>
          <c:min val="0"/>
        </c:scaling>
        <c:delete val="0"/>
        <c:axPos val="b"/>
        <c:majorGridlines>
          <c:spPr>
            <a:ln w="12700" cap="flat">
              <a:solidFill>
                <a:srgbClr val="E6EA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365D"/>
                </a:solidFill>
                <a:latin typeface="Calibri"/>
              </a:defRPr>
            </a:pPr>
            <a:r>
              <a:rPr sz="1200" b="0" i="0" u="none" strike="noStrike">
                <a:solidFill>
                  <a:srgbClr val="1B365D"/>
                </a:solidFill>
                <a:latin typeface="Calibri"/>
              </a:rPr>
              <a:t>Price per sq.ft distribution (INR, thousands)</a:t>
            </a:r>
          </a:p>
        </c:rich>
      </c:tx>
      <c:layout/>
      <c:overlay val="0"/>
    </c:title>
    <c:autoTitleDeleted val="0"/>
    <c:plotArea>
      <c:layout/>
      <c:barChart>
        <c:barDir val="col"/>
        <c:grouping val="clustered"/>
        <c:varyColors val="0"/>
        <c:ser>
          <c:idx val="0"/>
          <c:order val="0"/>
          <c:tx>
            <c:strRef>
              <c:f>Sheet1!$B$1</c:f>
              <c:strCache>
                <c:ptCount val="1"/>
                <c:pt idx="0">
                  <c:v>Properties</c:v>
                </c:pt>
              </c:strCache>
            </c:strRef>
          </c:tx>
          <c:spPr>
            <a:solidFill>
              <a:srgbClr val="1B365D"/>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Sheet1!$A$2:$A$17</c:f>
              <c:multiLvlStrCache>
                <c:ptCount val="16"/>
                <c:lvl>
                  <c:pt idx="0">
                    <c:v>2–4</c:v>
                  </c:pt>
                  <c:pt idx="1">
                    <c:v>4–6</c:v>
                  </c:pt>
                  <c:pt idx="2">
                    <c:v>6–8</c:v>
                  </c:pt>
                  <c:pt idx="3">
                    <c:v>8–11</c:v>
                  </c:pt>
                  <c:pt idx="4">
                    <c:v>11–13</c:v>
                  </c:pt>
                  <c:pt idx="5">
                    <c:v>13–15</c:v>
                  </c:pt>
                  <c:pt idx="6">
                    <c:v>15–17</c:v>
                  </c:pt>
                  <c:pt idx="7">
                    <c:v>17–20</c:v>
                  </c:pt>
                  <c:pt idx="8">
                    <c:v>20–22</c:v>
                  </c:pt>
                  <c:pt idx="9">
                    <c:v>22–24</c:v>
                  </c:pt>
                  <c:pt idx="10">
                    <c:v>24–26</c:v>
                  </c:pt>
                  <c:pt idx="11">
                    <c:v>26–29</c:v>
                  </c:pt>
                  <c:pt idx="12">
                    <c:v>29–31</c:v>
                  </c:pt>
                  <c:pt idx="13">
                    <c:v>31–33</c:v>
                  </c:pt>
                  <c:pt idx="14">
                    <c:v>33–35</c:v>
                  </c:pt>
                  <c:pt idx="15">
                    <c:v>35–38</c:v>
                  </c:pt>
                </c:lvl>
              </c:multiLvlStrCache>
            </c:multiLvlStrRef>
          </c:cat>
          <c:val>
            <c:numRef>
              <c:f>Sheet1!$B$2:$B$17</c:f>
              <c:numCache>
                <c:formatCode>General</c:formatCode>
                <c:ptCount val="16"/>
                <c:pt idx="0">
                  <c:v>1977</c:v>
                </c:pt>
                <c:pt idx="1">
                  <c:v>5988</c:v>
                </c:pt>
                <c:pt idx="2">
                  <c:v>2567</c:v>
                </c:pt>
                <c:pt idx="3">
                  <c:v>672</c:v>
                </c:pt>
                <c:pt idx="4">
                  <c:v>327</c:v>
                </c:pt>
                <c:pt idx="5">
                  <c:v>202</c:v>
                </c:pt>
                <c:pt idx="6">
                  <c:v>121</c:v>
                </c:pt>
                <c:pt idx="7">
                  <c:v>75</c:v>
                </c:pt>
                <c:pt idx="8">
                  <c:v>41</c:v>
                </c:pt>
                <c:pt idx="9">
                  <c:v>20</c:v>
                </c:pt>
                <c:pt idx="10">
                  <c:v>17</c:v>
                </c:pt>
                <c:pt idx="11">
                  <c:v>14</c:v>
                </c:pt>
                <c:pt idx="12">
                  <c:v>5</c:v>
                </c:pt>
                <c:pt idx="13">
                  <c:v>8</c:v>
                </c:pt>
                <c:pt idx="14">
                  <c:v>3</c:v>
                </c:pt>
                <c:pt idx="15">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000000"/>
          <a:lstStyle/>
          <a:p>
            <a:pPr>
              <a:defRPr sz="850" b="0" i="0" u="none" strike="noStrike">
                <a:solidFill>
                  <a:srgbClr val="5C667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365D"/>
                </a:solidFill>
                <a:latin typeface="Calibri"/>
              </a:defRPr>
            </a:pPr>
            <a:r>
              <a:rPr sz="1200" b="0" i="0" u="none" strike="noStrike">
                <a:solidFill>
                  <a:srgbClr val="1B365D"/>
                </a:solidFill>
                <a:latin typeface="Calibri"/>
              </a:rPr>
              <a:t>Built-up area (sq.ft) vs price (INR lakh)</a:t>
            </a:r>
          </a:p>
        </c:rich>
      </c:tx>
      <c:layout/>
      <c:overlay val="0"/>
    </c:title>
    <c:autoTitleDeleted val="0"/>
    <c:plotArea>
      <c:layout/>
      <c:scatterChart>
        <c:scatterStyle val="lineMarker"/>
        <c:varyColors val="0"/>
        <c:ser>
          <c:idx val="0"/>
          <c:order val="0"/>
          <c:tx>
            <c:strRef>
              <c:f>Sheet1!$B$1</c:f>
              <c:strCache>
                <c:ptCount val="1"/>
                <c:pt idx="0">
                  <c:v>Price (INR lakh)</c:v>
                </c:pt>
              </c:strCache>
            </c:strRef>
          </c:tx>
          <c:spPr>
            <a:solidFill>
              <a:srgbClr val="1B365D"/>
            </a:solidFill>
            <a:ln>
              <a:noFill/>
            </a:ln>
            <a:effectLst/>
          </c:spPr>
          <c:marker>
            <c:symbol val="circle"/>
            <c:size val="4"/>
            <c:spPr>
              <a:solidFill>
                <a:srgbClr val="1B365D"/>
              </a:solidFill>
              <a:ln w="9525" cap="flat">
                <a:solidFill>
                  <a:srgbClr val="1B365D"/>
                </a:solidFill>
                <a:prstDash val="solid"/>
                <a:round/>
              </a:ln>
              <a:effectLst/>
            </c:spPr>
          </c:marker>
          <c:xVal>
            <c:numRef>
              <c:f>Sheet1!$A$2:$A$701</c:f>
              <c:numCache>
                <c:formatCode>General</c:formatCode>
                <c:ptCount val="700"/>
                <c:pt idx="0">
                  <c:v>1400</c:v>
                </c:pt>
                <c:pt idx="1">
                  <c:v>1703</c:v>
                </c:pt>
                <c:pt idx="2">
                  <c:v>630</c:v>
                </c:pt>
                <c:pt idx="3">
                  <c:v>1826</c:v>
                </c:pt>
                <c:pt idx="4">
                  <c:v>1206</c:v>
                </c:pt>
                <c:pt idx="5">
                  <c:v>750</c:v>
                </c:pt>
                <c:pt idx="6">
                  <c:v>1320</c:v>
                </c:pt>
                <c:pt idx="7">
                  <c:v>900</c:v>
                </c:pt>
                <c:pt idx="8">
                  <c:v>1693</c:v>
                </c:pt>
                <c:pt idx="9">
                  <c:v>1432</c:v>
                </c:pt>
                <c:pt idx="10">
                  <c:v>2100</c:v>
                </c:pt>
                <c:pt idx="11">
                  <c:v>1200</c:v>
                </c:pt>
                <c:pt idx="12">
                  <c:v>2000</c:v>
                </c:pt>
                <c:pt idx="13">
                  <c:v>1200</c:v>
                </c:pt>
                <c:pt idx="14">
                  <c:v>1255</c:v>
                </c:pt>
                <c:pt idx="15">
                  <c:v>2700</c:v>
                </c:pt>
                <c:pt idx="16">
                  <c:v>1177.5</c:v>
                </c:pt>
                <c:pt idx="17">
                  <c:v>4144</c:v>
                </c:pt>
                <c:pt idx="18">
                  <c:v>2800</c:v>
                </c:pt>
                <c:pt idx="19">
                  <c:v>1053</c:v>
                </c:pt>
                <c:pt idx="20">
                  <c:v>1650</c:v>
                </c:pt>
                <c:pt idx="21">
                  <c:v>830</c:v>
                </c:pt>
                <c:pt idx="22">
                  <c:v>1100</c:v>
                </c:pt>
                <c:pt idx="23">
                  <c:v>919</c:v>
                </c:pt>
                <c:pt idx="24">
                  <c:v>1255</c:v>
                </c:pt>
                <c:pt idx="25">
                  <c:v>1235</c:v>
                </c:pt>
                <c:pt idx="26">
                  <c:v>950</c:v>
                </c:pt>
                <c:pt idx="27">
                  <c:v>1995</c:v>
                </c:pt>
                <c:pt idx="28">
                  <c:v>1419</c:v>
                </c:pt>
                <c:pt idx="29">
                  <c:v>700</c:v>
                </c:pt>
                <c:pt idx="30">
                  <c:v>1500</c:v>
                </c:pt>
                <c:pt idx="31">
                  <c:v>1645</c:v>
                </c:pt>
                <c:pt idx="32">
                  <c:v>1000</c:v>
                </c:pt>
                <c:pt idx="33">
                  <c:v>1400</c:v>
                </c:pt>
                <c:pt idx="34">
                  <c:v>2059</c:v>
                </c:pt>
                <c:pt idx="35">
                  <c:v>1520</c:v>
                </c:pt>
                <c:pt idx="36">
                  <c:v>1105</c:v>
                </c:pt>
                <c:pt idx="37">
                  <c:v>3000</c:v>
                </c:pt>
                <c:pt idx="38">
                  <c:v>1150</c:v>
                </c:pt>
                <c:pt idx="39">
                  <c:v>2401</c:v>
                </c:pt>
                <c:pt idx="40">
                  <c:v>1200</c:v>
                </c:pt>
                <c:pt idx="41">
                  <c:v>1510</c:v>
                </c:pt>
                <c:pt idx="42">
                  <c:v>1410</c:v>
                </c:pt>
                <c:pt idx="43">
                  <c:v>1670</c:v>
                </c:pt>
                <c:pt idx="44">
                  <c:v>1490</c:v>
                </c:pt>
                <c:pt idx="45">
                  <c:v>1340</c:v>
                </c:pt>
                <c:pt idx="46">
                  <c:v>1350</c:v>
                </c:pt>
                <c:pt idx="47">
                  <c:v>1166</c:v>
                </c:pt>
                <c:pt idx="48">
                  <c:v>1112</c:v>
                </c:pt>
                <c:pt idx="49">
                  <c:v>1250</c:v>
                </c:pt>
                <c:pt idx="50">
                  <c:v>1405</c:v>
                </c:pt>
                <c:pt idx="51">
                  <c:v>1200</c:v>
                </c:pt>
                <c:pt idx="52">
                  <c:v>1200</c:v>
                </c:pt>
                <c:pt idx="53">
                  <c:v>3500</c:v>
                </c:pt>
                <c:pt idx="54">
                  <c:v>2360</c:v>
                </c:pt>
                <c:pt idx="55">
                  <c:v>1181</c:v>
                </c:pt>
                <c:pt idx="56">
                  <c:v>1076</c:v>
                </c:pt>
                <c:pt idx="57">
                  <c:v>1185</c:v>
                </c:pt>
                <c:pt idx="58">
                  <c:v>1508</c:v>
                </c:pt>
                <c:pt idx="59">
                  <c:v>1515</c:v>
                </c:pt>
                <c:pt idx="60">
                  <c:v>1425</c:v>
                </c:pt>
                <c:pt idx="61">
                  <c:v>760</c:v>
                </c:pt>
                <c:pt idx="62">
                  <c:v>1540</c:v>
                </c:pt>
                <c:pt idx="63">
                  <c:v>1365</c:v>
                </c:pt>
                <c:pt idx="64">
                  <c:v>1550</c:v>
                </c:pt>
                <c:pt idx="65">
                  <c:v>1250</c:v>
                </c:pt>
                <c:pt idx="66">
                  <c:v>1400</c:v>
                </c:pt>
                <c:pt idx="67">
                  <c:v>1200</c:v>
                </c:pt>
                <c:pt idx="68">
                  <c:v>1096</c:v>
                </c:pt>
                <c:pt idx="69">
                  <c:v>1530</c:v>
                </c:pt>
                <c:pt idx="70">
                  <c:v>1115</c:v>
                </c:pt>
                <c:pt idx="71">
                  <c:v>1025</c:v>
                </c:pt>
                <c:pt idx="72">
                  <c:v>935</c:v>
                </c:pt>
                <c:pt idx="73">
                  <c:v>3692</c:v>
                </c:pt>
                <c:pt idx="74">
                  <c:v>1850</c:v>
                </c:pt>
                <c:pt idx="75">
                  <c:v>1760</c:v>
                </c:pt>
                <c:pt idx="76">
                  <c:v>1660</c:v>
                </c:pt>
                <c:pt idx="77">
                  <c:v>1194</c:v>
                </c:pt>
                <c:pt idx="78">
                  <c:v>1268</c:v>
                </c:pt>
                <c:pt idx="79">
                  <c:v>1257</c:v>
                </c:pt>
                <c:pt idx="80">
                  <c:v>1326</c:v>
                </c:pt>
                <c:pt idx="81">
                  <c:v>2849</c:v>
                </c:pt>
                <c:pt idx="82">
                  <c:v>1850</c:v>
                </c:pt>
                <c:pt idx="83">
                  <c:v>1902</c:v>
                </c:pt>
                <c:pt idx="84">
                  <c:v>1635</c:v>
                </c:pt>
                <c:pt idx="85">
                  <c:v>1500</c:v>
                </c:pt>
                <c:pt idx="86">
                  <c:v>1225</c:v>
                </c:pt>
                <c:pt idx="87">
                  <c:v>1125</c:v>
                </c:pt>
                <c:pt idx="88">
                  <c:v>1535</c:v>
                </c:pt>
                <c:pt idx="89">
                  <c:v>1640</c:v>
                </c:pt>
                <c:pt idx="90">
                  <c:v>1375</c:v>
                </c:pt>
                <c:pt idx="91">
                  <c:v>1140</c:v>
                </c:pt>
                <c:pt idx="92">
                  <c:v>980</c:v>
                </c:pt>
                <c:pt idx="93">
                  <c:v>1504</c:v>
                </c:pt>
                <c:pt idx="94">
                  <c:v>1265</c:v>
                </c:pt>
                <c:pt idx="95">
                  <c:v>1650</c:v>
                </c:pt>
                <c:pt idx="96">
                  <c:v>602</c:v>
                </c:pt>
                <c:pt idx="97">
                  <c:v>1250</c:v>
                </c:pt>
                <c:pt idx="98">
                  <c:v>2400</c:v>
                </c:pt>
                <c:pt idx="99">
                  <c:v>1110</c:v>
                </c:pt>
                <c:pt idx="100">
                  <c:v>1100</c:v>
                </c:pt>
                <c:pt idx="101">
                  <c:v>600</c:v>
                </c:pt>
                <c:pt idx="102">
                  <c:v>1357</c:v>
                </c:pt>
                <c:pt idx="103">
                  <c:v>2072</c:v>
                </c:pt>
                <c:pt idx="104">
                  <c:v>1200</c:v>
                </c:pt>
                <c:pt idx="105">
                  <c:v>1165</c:v>
                </c:pt>
                <c:pt idx="106">
                  <c:v>1500</c:v>
                </c:pt>
                <c:pt idx="107">
                  <c:v>1150</c:v>
                </c:pt>
                <c:pt idx="108">
                  <c:v>3210</c:v>
                </c:pt>
                <c:pt idx="109">
                  <c:v>1550</c:v>
                </c:pt>
                <c:pt idx="110">
                  <c:v>1450</c:v>
                </c:pt>
                <c:pt idx="111">
                  <c:v>800</c:v>
                </c:pt>
                <c:pt idx="112">
                  <c:v>1130</c:v>
                </c:pt>
                <c:pt idx="113">
                  <c:v>1800</c:v>
                </c:pt>
                <c:pt idx="114">
                  <c:v>1124</c:v>
                </c:pt>
                <c:pt idx="115">
                  <c:v>1600</c:v>
                </c:pt>
                <c:pt idx="116">
                  <c:v>4000</c:v>
                </c:pt>
                <c:pt idx="117">
                  <c:v>770</c:v>
                </c:pt>
                <c:pt idx="118">
                  <c:v>984</c:v>
                </c:pt>
                <c:pt idx="119">
                  <c:v>1500</c:v>
                </c:pt>
                <c:pt idx="120">
                  <c:v>1615</c:v>
                </c:pt>
                <c:pt idx="121">
                  <c:v>1030</c:v>
                </c:pt>
                <c:pt idx="122">
                  <c:v>1041</c:v>
                </c:pt>
                <c:pt idx="123">
                  <c:v>1626</c:v>
                </c:pt>
                <c:pt idx="124">
                  <c:v>1643</c:v>
                </c:pt>
                <c:pt idx="125">
                  <c:v>4000</c:v>
                </c:pt>
                <c:pt idx="126">
                  <c:v>825</c:v>
                </c:pt>
                <c:pt idx="127">
                  <c:v>1770</c:v>
                </c:pt>
                <c:pt idx="128">
                  <c:v>1793</c:v>
                </c:pt>
                <c:pt idx="129">
                  <c:v>1758</c:v>
                </c:pt>
                <c:pt idx="130">
                  <c:v>2750</c:v>
                </c:pt>
                <c:pt idx="131">
                  <c:v>3170</c:v>
                </c:pt>
                <c:pt idx="132">
                  <c:v>1075</c:v>
                </c:pt>
                <c:pt idx="133">
                  <c:v>1489</c:v>
                </c:pt>
                <c:pt idx="134">
                  <c:v>1100</c:v>
                </c:pt>
                <c:pt idx="135">
                  <c:v>1750</c:v>
                </c:pt>
                <c:pt idx="136">
                  <c:v>1050</c:v>
                </c:pt>
                <c:pt idx="137">
                  <c:v>1719</c:v>
                </c:pt>
                <c:pt idx="138">
                  <c:v>3569</c:v>
                </c:pt>
                <c:pt idx="139">
                  <c:v>850</c:v>
                </c:pt>
                <c:pt idx="140">
                  <c:v>1464</c:v>
                </c:pt>
                <c:pt idx="141">
                  <c:v>4000</c:v>
                </c:pt>
                <c:pt idx="142">
                  <c:v>5000</c:v>
                </c:pt>
                <c:pt idx="143">
                  <c:v>2863</c:v>
                </c:pt>
                <c:pt idx="144">
                  <c:v>1160</c:v>
                </c:pt>
                <c:pt idx="145">
                  <c:v>1817</c:v>
                </c:pt>
                <c:pt idx="146">
                  <c:v>1268</c:v>
                </c:pt>
                <c:pt idx="147">
                  <c:v>1650</c:v>
                </c:pt>
                <c:pt idx="148">
                  <c:v>1300</c:v>
                </c:pt>
                <c:pt idx="149">
                  <c:v>1485</c:v>
                </c:pt>
                <c:pt idx="150">
                  <c:v>1310</c:v>
                </c:pt>
                <c:pt idx="151">
                  <c:v>2500</c:v>
                </c:pt>
                <c:pt idx="152">
                  <c:v>1140</c:v>
                </c:pt>
                <c:pt idx="153">
                  <c:v>1255</c:v>
                </c:pt>
                <c:pt idx="154">
                  <c:v>1400</c:v>
                </c:pt>
                <c:pt idx="155">
                  <c:v>1164</c:v>
                </c:pt>
                <c:pt idx="156">
                  <c:v>1000</c:v>
                </c:pt>
                <c:pt idx="157">
                  <c:v>1303</c:v>
                </c:pt>
                <c:pt idx="158">
                  <c:v>3800</c:v>
                </c:pt>
                <c:pt idx="159">
                  <c:v>2072</c:v>
                </c:pt>
                <c:pt idx="160">
                  <c:v>1140</c:v>
                </c:pt>
                <c:pt idx="161">
                  <c:v>1200</c:v>
                </c:pt>
                <c:pt idx="162">
                  <c:v>913</c:v>
                </c:pt>
                <c:pt idx="163">
                  <c:v>1035</c:v>
                </c:pt>
                <c:pt idx="164">
                  <c:v>2990</c:v>
                </c:pt>
                <c:pt idx="165">
                  <c:v>1222</c:v>
                </c:pt>
                <c:pt idx="166">
                  <c:v>1200</c:v>
                </c:pt>
                <c:pt idx="167">
                  <c:v>1225</c:v>
                </c:pt>
                <c:pt idx="168">
                  <c:v>1195</c:v>
                </c:pt>
                <c:pt idx="169">
                  <c:v>1732.5</c:v>
                </c:pt>
                <c:pt idx="170">
                  <c:v>1386</c:v>
                </c:pt>
                <c:pt idx="171">
                  <c:v>1884</c:v>
                </c:pt>
                <c:pt idx="172">
                  <c:v>1083</c:v>
                </c:pt>
                <c:pt idx="173">
                  <c:v>997</c:v>
                </c:pt>
                <c:pt idx="174">
                  <c:v>1610</c:v>
                </c:pt>
                <c:pt idx="175">
                  <c:v>4827</c:v>
                </c:pt>
                <c:pt idx="176">
                  <c:v>1050</c:v>
                </c:pt>
                <c:pt idx="177">
                  <c:v>1025</c:v>
                </c:pt>
                <c:pt idx="178">
                  <c:v>1448</c:v>
                </c:pt>
                <c:pt idx="179">
                  <c:v>1027</c:v>
                </c:pt>
                <c:pt idx="180">
                  <c:v>1634</c:v>
                </c:pt>
                <c:pt idx="181">
                  <c:v>4260</c:v>
                </c:pt>
                <c:pt idx="182">
                  <c:v>1120</c:v>
                </c:pt>
                <c:pt idx="183">
                  <c:v>1300</c:v>
                </c:pt>
                <c:pt idx="184">
                  <c:v>1170</c:v>
                </c:pt>
                <c:pt idx="185">
                  <c:v>876</c:v>
                </c:pt>
                <c:pt idx="186">
                  <c:v>1500</c:v>
                </c:pt>
                <c:pt idx="187">
                  <c:v>1410</c:v>
                </c:pt>
                <c:pt idx="188">
                  <c:v>1800</c:v>
                </c:pt>
                <c:pt idx="189">
                  <c:v>1235</c:v>
                </c:pt>
                <c:pt idx="190">
                  <c:v>900</c:v>
                </c:pt>
                <c:pt idx="191">
                  <c:v>1452</c:v>
                </c:pt>
                <c:pt idx="192">
                  <c:v>2150</c:v>
                </c:pt>
                <c:pt idx="193">
                  <c:v>1250</c:v>
                </c:pt>
                <c:pt idx="194">
                  <c:v>1626</c:v>
                </c:pt>
                <c:pt idx="195">
                  <c:v>1250</c:v>
                </c:pt>
                <c:pt idx="196">
                  <c:v>1520</c:v>
                </c:pt>
                <c:pt idx="197">
                  <c:v>1760</c:v>
                </c:pt>
                <c:pt idx="198">
                  <c:v>2135</c:v>
                </c:pt>
                <c:pt idx="199">
                  <c:v>1290</c:v>
                </c:pt>
                <c:pt idx="200">
                  <c:v>1197</c:v>
                </c:pt>
                <c:pt idx="201">
                  <c:v>1420</c:v>
                </c:pt>
                <c:pt idx="202">
                  <c:v>1630</c:v>
                </c:pt>
                <c:pt idx="203">
                  <c:v>1163</c:v>
                </c:pt>
                <c:pt idx="204">
                  <c:v>940</c:v>
                </c:pt>
                <c:pt idx="205">
                  <c:v>995</c:v>
                </c:pt>
                <c:pt idx="206">
                  <c:v>1554</c:v>
                </c:pt>
                <c:pt idx="207">
                  <c:v>2496</c:v>
                </c:pt>
                <c:pt idx="208">
                  <c:v>1060</c:v>
                </c:pt>
                <c:pt idx="209">
                  <c:v>1135</c:v>
                </c:pt>
                <c:pt idx="210">
                  <c:v>1200</c:v>
                </c:pt>
                <c:pt idx="211">
                  <c:v>1225</c:v>
                </c:pt>
                <c:pt idx="212">
                  <c:v>1680</c:v>
                </c:pt>
                <c:pt idx="213">
                  <c:v>1316</c:v>
                </c:pt>
                <c:pt idx="214">
                  <c:v>1700</c:v>
                </c:pt>
                <c:pt idx="215">
                  <c:v>1070</c:v>
                </c:pt>
                <c:pt idx="216">
                  <c:v>1350</c:v>
                </c:pt>
                <c:pt idx="217">
                  <c:v>1100</c:v>
                </c:pt>
                <c:pt idx="218">
                  <c:v>1625</c:v>
                </c:pt>
                <c:pt idx="219">
                  <c:v>1408</c:v>
                </c:pt>
                <c:pt idx="220">
                  <c:v>1050</c:v>
                </c:pt>
                <c:pt idx="221">
                  <c:v>1330</c:v>
                </c:pt>
                <c:pt idx="222">
                  <c:v>1200</c:v>
                </c:pt>
                <c:pt idx="223">
                  <c:v>1100</c:v>
                </c:pt>
                <c:pt idx="224">
                  <c:v>960</c:v>
                </c:pt>
                <c:pt idx="225">
                  <c:v>1206</c:v>
                </c:pt>
                <c:pt idx="226">
                  <c:v>1665</c:v>
                </c:pt>
                <c:pt idx="227">
                  <c:v>1082</c:v>
                </c:pt>
                <c:pt idx="228">
                  <c:v>1600</c:v>
                </c:pt>
                <c:pt idx="229">
                  <c:v>1380</c:v>
                </c:pt>
                <c:pt idx="230">
                  <c:v>1100</c:v>
                </c:pt>
                <c:pt idx="231">
                  <c:v>1300</c:v>
                </c:pt>
                <c:pt idx="232">
                  <c:v>3700</c:v>
                </c:pt>
                <c:pt idx="233">
                  <c:v>3360</c:v>
                </c:pt>
                <c:pt idx="234">
                  <c:v>4000</c:v>
                </c:pt>
                <c:pt idx="235">
                  <c:v>3884</c:v>
                </c:pt>
                <c:pt idx="236">
                  <c:v>1069</c:v>
                </c:pt>
                <c:pt idx="237">
                  <c:v>1665</c:v>
                </c:pt>
                <c:pt idx="238">
                  <c:v>1200</c:v>
                </c:pt>
                <c:pt idx="239">
                  <c:v>1115</c:v>
                </c:pt>
                <c:pt idx="240">
                  <c:v>1300</c:v>
                </c:pt>
                <c:pt idx="241">
                  <c:v>3300</c:v>
                </c:pt>
                <c:pt idx="242">
                  <c:v>1000</c:v>
                </c:pt>
                <c:pt idx="243">
                  <c:v>1099</c:v>
                </c:pt>
                <c:pt idx="244">
                  <c:v>1655</c:v>
                </c:pt>
                <c:pt idx="245">
                  <c:v>919</c:v>
                </c:pt>
                <c:pt idx="246">
                  <c:v>2700</c:v>
                </c:pt>
                <c:pt idx="247">
                  <c:v>1776.4</c:v>
                </c:pt>
                <c:pt idx="248">
                  <c:v>1020</c:v>
                </c:pt>
                <c:pt idx="249">
                  <c:v>1116</c:v>
                </c:pt>
                <c:pt idx="250">
                  <c:v>1515</c:v>
                </c:pt>
                <c:pt idx="251">
                  <c:v>1150</c:v>
                </c:pt>
                <c:pt idx="252">
                  <c:v>700</c:v>
                </c:pt>
                <c:pt idx="253">
                  <c:v>1500</c:v>
                </c:pt>
                <c:pt idx="254">
                  <c:v>1847</c:v>
                </c:pt>
                <c:pt idx="255">
                  <c:v>1080</c:v>
                </c:pt>
                <c:pt idx="256">
                  <c:v>1938</c:v>
                </c:pt>
                <c:pt idx="257">
                  <c:v>1515</c:v>
                </c:pt>
                <c:pt idx="258">
                  <c:v>1991</c:v>
                </c:pt>
                <c:pt idx="259">
                  <c:v>905</c:v>
                </c:pt>
                <c:pt idx="260">
                  <c:v>1000</c:v>
                </c:pt>
                <c:pt idx="261">
                  <c:v>1550</c:v>
                </c:pt>
                <c:pt idx="262">
                  <c:v>1800</c:v>
                </c:pt>
                <c:pt idx="263">
                  <c:v>2250</c:v>
                </c:pt>
                <c:pt idx="264">
                  <c:v>1365</c:v>
                </c:pt>
                <c:pt idx="265">
                  <c:v>1450</c:v>
                </c:pt>
                <c:pt idx="266">
                  <c:v>1194</c:v>
                </c:pt>
                <c:pt idx="267">
                  <c:v>1512</c:v>
                </c:pt>
                <c:pt idx="268">
                  <c:v>864</c:v>
                </c:pt>
                <c:pt idx="269">
                  <c:v>1340</c:v>
                </c:pt>
                <c:pt idx="270">
                  <c:v>1400</c:v>
                </c:pt>
                <c:pt idx="271">
                  <c:v>1155</c:v>
                </c:pt>
                <c:pt idx="272">
                  <c:v>1950</c:v>
                </c:pt>
                <c:pt idx="273">
                  <c:v>1073.5</c:v>
                </c:pt>
                <c:pt idx="274">
                  <c:v>1404</c:v>
                </c:pt>
                <c:pt idx="275">
                  <c:v>1595</c:v>
                </c:pt>
                <c:pt idx="276">
                  <c:v>669</c:v>
                </c:pt>
                <c:pt idx="277">
                  <c:v>1500</c:v>
                </c:pt>
                <c:pt idx="278">
                  <c:v>1525</c:v>
                </c:pt>
                <c:pt idx="279">
                  <c:v>1800</c:v>
                </c:pt>
                <c:pt idx="280">
                  <c:v>1372</c:v>
                </c:pt>
                <c:pt idx="281">
                  <c:v>600</c:v>
                </c:pt>
                <c:pt idx="282">
                  <c:v>2400</c:v>
                </c:pt>
                <c:pt idx="283">
                  <c:v>1685</c:v>
                </c:pt>
                <c:pt idx="284">
                  <c:v>1855</c:v>
                </c:pt>
                <c:pt idx="285">
                  <c:v>1250</c:v>
                </c:pt>
                <c:pt idx="286">
                  <c:v>1467</c:v>
                </c:pt>
                <c:pt idx="287">
                  <c:v>1560</c:v>
                </c:pt>
                <c:pt idx="288">
                  <c:v>940</c:v>
                </c:pt>
                <c:pt idx="289">
                  <c:v>1410</c:v>
                </c:pt>
                <c:pt idx="290">
                  <c:v>1180</c:v>
                </c:pt>
                <c:pt idx="291">
                  <c:v>1865</c:v>
                </c:pt>
                <c:pt idx="292">
                  <c:v>1788</c:v>
                </c:pt>
                <c:pt idx="293">
                  <c:v>2040</c:v>
                </c:pt>
                <c:pt idx="294">
                  <c:v>1230</c:v>
                </c:pt>
                <c:pt idx="295">
                  <c:v>891</c:v>
                </c:pt>
                <c:pt idx="296">
                  <c:v>2400</c:v>
                </c:pt>
                <c:pt idx="297">
                  <c:v>3200</c:v>
                </c:pt>
                <c:pt idx="298">
                  <c:v>1634</c:v>
                </c:pt>
                <c:pt idx="299">
                  <c:v>600</c:v>
                </c:pt>
                <c:pt idx="300">
                  <c:v>933</c:v>
                </c:pt>
                <c:pt idx="301">
                  <c:v>1530</c:v>
                </c:pt>
                <c:pt idx="302">
                  <c:v>900</c:v>
                </c:pt>
                <c:pt idx="303">
                  <c:v>1494</c:v>
                </c:pt>
                <c:pt idx="304">
                  <c:v>2980</c:v>
                </c:pt>
                <c:pt idx="305">
                  <c:v>2070</c:v>
                </c:pt>
                <c:pt idx="306">
                  <c:v>675</c:v>
                </c:pt>
                <c:pt idx="307">
                  <c:v>2000</c:v>
                </c:pt>
                <c:pt idx="308">
                  <c:v>1630</c:v>
                </c:pt>
                <c:pt idx="309">
                  <c:v>1222</c:v>
                </c:pt>
                <c:pt idx="310">
                  <c:v>1033</c:v>
                </c:pt>
                <c:pt idx="311">
                  <c:v>2150</c:v>
                </c:pt>
                <c:pt idx="312">
                  <c:v>1194</c:v>
                </c:pt>
                <c:pt idx="313">
                  <c:v>1595</c:v>
                </c:pt>
                <c:pt idx="314">
                  <c:v>1223</c:v>
                </c:pt>
                <c:pt idx="315">
                  <c:v>995</c:v>
                </c:pt>
                <c:pt idx="316">
                  <c:v>1405</c:v>
                </c:pt>
                <c:pt idx="317">
                  <c:v>900</c:v>
                </c:pt>
                <c:pt idx="318">
                  <c:v>3000</c:v>
                </c:pt>
                <c:pt idx="319">
                  <c:v>1680</c:v>
                </c:pt>
                <c:pt idx="320">
                  <c:v>1200</c:v>
                </c:pt>
                <c:pt idx="321">
                  <c:v>1150</c:v>
                </c:pt>
                <c:pt idx="322">
                  <c:v>1485</c:v>
                </c:pt>
                <c:pt idx="323">
                  <c:v>1077</c:v>
                </c:pt>
                <c:pt idx="324">
                  <c:v>1553</c:v>
                </c:pt>
                <c:pt idx="325">
                  <c:v>1140</c:v>
                </c:pt>
                <c:pt idx="326">
                  <c:v>2700</c:v>
                </c:pt>
                <c:pt idx="327">
                  <c:v>1670</c:v>
                </c:pt>
                <c:pt idx="328">
                  <c:v>1074</c:v>
                </c:pt>
                <c:pt idx="329">
                  <c:v>1180</c:v>
                </c:pt>
                <c:pt idx="330">
                  <c:v>1200</c:v>
                </c:pt>
                <c:pt idx="331">
                  <c:v>1890</c:v>
                </c:pt>
                <c:pt idx="332">
                  <c:v>1113.1</c:v>
                </c:pt>
                <c:pt idx="333">
                  <c:v>1190</c:v>
                </c:pt>
                <c:pt idx="334">
                  <c:v>1610</c:v>
                </c:pt>
                <c:pt idx="335">
                  <c:v>1715</c:v>
                </c:pt>
                <c:pt idx="336">
                  <c:v>1000</c:v>
                </c:pt>
                <c:pt idx="337">
                  <c:v>900</c:v>
                </c:pt>
                <c:pt idx="338">
                  <c:v>1155</c:v>
                </c:pt>
                <c:pt idx="339">
                  <c:v>1120</c:v>
                </c:pt>
                <c:pt idx="340">
                  <c:v>1088</c:v>
                </c:pt>
                <c:pt idx="341">
                  <c:v>1000</c:v>
                </c:pt>
                <c:pt idx="342">
                  <c:v>1693</c:v>
                </c:pt>
                <c:pt idx="343">
                  <c:v>1868</c:v>
                </c:pt>
                <c:pt idx="344">
                  <c:v>2250</c:v>
                </c:pt>
                <c:pt idx="345">
                  <c:v>1625</c:v>
                </c:pt>
                <c:pt idx="346">
                  <c:v>1110</c:v>
                </c:pt>
                <c:pt idx="347">
                  <c:v>709</c:v>
                </c:pt>
                <c:pt idx="348">
                  <c:v>1690</c:v>
                </c:pt>
                <c:pt idx="349">
                  <c:v>1700</c:v>
                </c:pt>
                <c:pt idx="350">
                  <c:v>1208</c:v>
                </c:pt>
                <c:pt idx="351">
                  <c:v>510</c:v>
                </c:pt>
                <c:pt idx="352">
                  <c:v>1725</c:v>
                </c:pt>
                <c:pt idx="353">
                  <c:v>4450</c:v>
                </c:pt>
                <c:pt idx="354">
                  <c:v>1470</c:v>
                </c:pt>
                <c:pt idx="355">
                  <c:v>1575</c:v>
                </c:pt>
                <c:pt idx="356">
                  <c:v>1027</c:v>
                </c:pt>
                <c:pt idx="357">
                  <c:v>3004</c:v>
                </c:pt>
                <c:pt idx="358">
                  <c:v>1450</c:v>
                </c:pt>
                <c:pt idx="359">
                  <c:v>1200</c:v>
                </c:pt>
                <c:pt idx="360">
                  <c:v>2400</c:v>
                </c:pt>
                <c:pt idx="361">
                  <c:v>2585.5</c:v>
                </c:pt>
                <c:pt idx="362">
                  <c:v>929</c:v>
                </c:pt>
                <c:pt idx="363">
                  <c:v>1100</c:v>
                </c:pt>
                <c:pt idx="364">
                  <c:v>3161</c:v>
                </c:pt>
                <c:pt idx="365">
                  <c:v>1128</c:v>
                </c:pt>
                <c:pt idx="366">
                  <c:v>693</c:v>
                </c:pt>
                <c:pt idx="367">
                  <c:v>1200</c:v>
                </c:pt>
                <c:pt idx="368">
                  <c:v>1199</c:v>
                </c:pt>
                <c:pt idx="369">
                  <c:v>924</c:v>
                </c:pt>
                <c:pt idx="370">
                  <c:v>2367</c:v>
                </c:pt>
                <c:pt idx="371">
                  <c:v>1808</c:v>
                </c:pt>
                <c:pt idx="372">
                  <c:v>1116</c:v>
                </c:pt>
                <c:pt idx="373">
                  <c:v>2431</c:v>
                </c:pt>
                <c:pt idx="374">
                  <c:v>1400</c:v>
                </c:pt>
                <c:pt idx="375">
                  <c:v>2882</c:v>
                </c:pt>
                <c:pt idx="376">
                  <c:v>1660</c:v>
                </c:pt>
                <c:pt idx="377">
                  <c:v>1500</c:v>
                </c:pt>
                <c:pt idx="378">
                  <c:v>1590</c:v>
                </c:pt>
                <c:pt idx="379">
                  <c:v>1350</c:v>
                </c:pt>
                <c:pt idx="380">
                  <c:v>1200</c:v>
                </c:pt>
                <c:pt idx="381">
                  <c:v>1108</c:v>
                </c:pt>
                <c:pt idx="382">
                  <c:v>3000</c:v>
                </c:pt>
                <c:pt idx="383">
                  <c:v>1015</c:v>
                </c:pt>
                <c:pt idx="384">
                  <c:v>1030</c:v>
                </c:pt>
                <c:pt idx="385">
                  <c:v>1485</c:v>
                </c:pt>
                <c:pt idx="386">
                  <c:v>1650</c:v>
                </c:pt>
                <c:pt idx="387">
                  <c:v>1650</c:v>
                </c:pt>
                <c:pt idx="388">
                  <c:v>2000</c:v>
                </c:pt>
                <c:pt idx="389">
                  <c:v>1932.5</c:v>
                </c:pt>
                <c:pt idx="390">
                  <c:v>1400</c:v>
                </c:pt>
                <c:pt idx="391">
                  <c:v>3800</c:v>
                </c:pt>
                <c:pt idx="392">
                  <c:v>1016</c:v>
                </c:pt>
                <c:pt idx="393">
                  <c:v>1665</c:v>
                </c:pt>
                <c:pt idx="394">
                  <c:v>1200</c:v>
                </c:pt>
                <c:pt idx="395">
                  <c:v>1318</c:v>
                </c:pt>
                <c:pt idx="396">
                  <c:v>1690</c:v>
                </c:pt>
                <c:pt idx="397">
                  <c:v>1180</c:v>
                </c:pt>
                <c:pt idx="398">
                  <c:v>1200</c:v>
                </c:pt>
                <c:pt idx="399">
                  <c:v>1929</c:v>
                </c:pt>
                <c:pt idx="400">
                  <c:v>1104</c:v>
                </c:pt>
                <c:pt idx="401">
                  <c:v>1260</c:v>
                </c:pt>
                <c:pt idx="402">
                  <c:v>1300</c:v>
                </c:pt>
                <c:pt idx="403">
                  <c:v>2259</c:v>
                </c:pt>
                <c:pt idx="404">
                  <c:v>1200</c:v>
                </c:pt>
                <c:pt idx="405">
                  <c:v>4800</c:v>
                </c:pt>
                <c:pt idx="406">
                  <c:v>1439</c:v>
                </c:pt>
                <c:pt idx="407">
                  <c:v>1175</c:v>
                </c:pt>
                <c:pt idx="408">
                  <c:v>3000</c:v>
                </c:pt>
                <c:pt idx="409">
                  <c:v>1530</c:v>
                </c:pt>
                <c:pt idx="410">
                  <c:v>1200</c:v>
                </c:pt>
                <c:pt idx="411">
                  <c:v>1093</c:v>
                </c:pt>
                <c:pt idx="412">
                  <c:v>937</c:v>
                </c:pt>
                <c:pt idx="413">
                  <c:v>1270</c:v>
                </c:pt>
                <c:pt idx="414">
                  <c:v>1116</c:v>
                </c:pt>
                <c:pt idx="415">
                  <c:v>1680</c:v>
                </c:pt>
                <c:pt idx="416">
                  <c:v>656</c:v>
                </c:pt>
                <c:pt idx="417">
                  <c:v>1615</c:v>
                </c:pt>
                <c:pt idx="418">
                  <c:v>1700</c:v>
                </c:pt>
                <c:pt idx="419">
                  <c:v>1253</c:v>
                </c:pt>
                <c:pt idx="420">
                  <c:v>1185</c:v>
                </c:pt>
                <c:pt idx="421">
                  <c:v>1800</c:v>
                </c:pt>
                <c:pt idx="422">
                  <c:v>2805</c:v>
                </c:pt>
                <c:pt idx="423">
                  <c:v>1745</c:v>
                </c:pt>
                <c:pt idx="424">
                  <c:v>795</c:v>
                </c:pt>
                <c:pt idx="425">
                  <c:v>1210</c:v>
                </c:pt>
                <c:pt idx="426">
                  <c:v>1362</c:v>
                </c:pt>
                <c:pt idx="427">
                  <c:v>1225</c:v>
                </c:pt>
                <c:pt idx="428">
                  <c:v>1071</c:v>
                </c:pt>
                <c:pt idx="429">
                  <c:v>2000</c:v>
                </c:pt>
                <c:pt idx="430">
                  <c:v>1950.2</c:v>
                </c:pt>
                <c:pt idx="431">
                  <c:v>1670</c:v>
                </c:pt>
                <c:pt idx="432">
                  <c:v>550</c:v>
                </c:pt>
                <c:pt idx="433">
                  <c:v>1168</c:v>
                </c:pt>
                <c:pt idx="434">
                  <c:v>814</c:v>
                </c:pt>
                <c:pt idx="435">
                  <c:v>1105</c:v>
                </c:pt>
                <c:pt idx="436">
                  <c:v>1200</c:v>
                </c:pt>
                <c:pt idx="437">
                  <c:v>1571</c:v>
                </c:pt>
                <c:pt idx="438">
                  <c:v>1322</c:v>
                </c:pt>
                <c:pt idx="439">
                  <c:v>1000</c:v>
                </c:pt>
                <c:pt idx="440">
                  <c:v>1345</c:v>
                </c:pt>
                <c:pt idx="441">
                  <c:v>600</c:v>
                </c:pt>
                <c:pt idx="442">
                  <c:v>1610</c:v>
                </c:pt>
                <c:pt idx="443">
                  <c:v>3602</c:v>
                </c:pt>
                <c:pt idx="444">
                  <c:v>996</c:v>
                </c:pt>
                <c:pt idx="445">
                  <c:v>620</c:v>
                </c:pt>
                <c:pt idx="446">
                  <c:v>1400</c:v>
                </c:pt>
                <c:pt idx="447">
                  <c:v>1852</c:v>
                </c:pt>
                <c:pt idx="448">
                  <c:v>1410</c:v>
                </c:pt>
                <c:pt idx="449">
                  <c:v>1648</c:v>
                </c:pt>
                <c:pt idx="450">
                  <c:v>1400</c:v>
                </c:pt>
                <c:pt idx="451">
                  <c:v>924</c:v>
                </c:pt>
                <c:pt idx="452">
                  <c:v>941</c:v>
                </c:pt>
                <c:pt idx="453">
                  <c:v>1230</c:v>
                </c:pt>
                <c:pt idx="454">
                  <c:v>1010</c:v>
                </c:pt>
                <c:pt idx="455">
                  <c:v>650</c:v>
                </c:pt>
                <c:pt idx="456">
                  <c:v>1200</c:v>
                </c:pt>
                <c:pt idx="457">
                  <c:v>635</c:v>
                </c:pt>
                <c:pt idx="458">
                  <c:v>1600</c:v>
                </c:pt>
                <c:pt idx="459">
                  <c:v>1180</c:v>
                </c:pt>
                <c:pt idx="460">
                  <c:v>800</c:v>
                </c:pt>
                <c:pt idx="461">
                  <c:v>1464</c:v>
                </c:pt>
                <c:pt idx="462">
                  <c:v>1500</c:v>
                </c:pt>
                <c:pt idx="463">
                  <c:v>690</c:v>
                </c:pt>
                <c:pt idx="464">
                  <c:v>2736</c:v>
                </c:pt>
                <c:pt idx="465">
                  <c:v>782</c:v>
                </c:pt>
                <c:pt idx="466">
                  <c:v>1384</c:v>
                </c:pt>
                <c:pt idx="467">
                  <c:v>1020.1</c:v>
                </c:pt>
                <c:pt idx="468">
                  <c:v>1409</c:v>
                </c:pt>
                <c:pt idx="469">
                  <c:v>1075</c:v>
                </c:pt>
                <c:pt idx="470">
                  <c:v>1274</c:v>
                </c:pt>
                <c:pt idx="471">
                  <c:v>1500</c:v>
                </c:pt>
                <c:pt idx="472">
                  <c:v>1100</c:v>
                </c:pt>
                <c:pt idx="473">
                  <c:v>1220</c:v>
                </c:pt>
                <c:pt idx="474">
                  <c:v>1335</c:v>
                </c:pt>
                <c:pt idx="475">
                  <c:v>1178</c:v>
                </c:pt>
                <c:pt idx="476">
                  <c:v>1550</c:v>
                </c:pt>
                <c:pt idx="477">
                  <c:v>2280</c:v>
                </c:pt>
                <c:pt idx="478">
                  <c:v>995</c:v>
                </c:pt>
                <c:pt idx="479">
                  <c:v>1400</c:v>
                </c:pt>
                <c:pt idx="480">
                  <c:v>1850</c:v>
                </c:pt>
                <c:pt idx="481">
                  <c:v>2600</c:v>
                </c:pt>
                <c:pt idx="482">
                  <c:v>1933</c:v>
                </c:pt>
                <c:pt idx="483">
                  <c:v>1246</c:v>
                </c:pt>
                <c:pt idx="484">
                  <c:v>1200</c:v>
                </c:pt>
                <c:pt idx="485">
                  <c:v>750</c:v>
                </c:pt>
                <c:pt idx="486">
                  <c:v>1200</c:v>
                </c:pt>
                <c:pt idx="487">
                  <c:v>1230</c:v>
                </c:pt>
                <c:pt idx="488">
                  <c:v>1100</c:v>
                </c:pt>
                <c:pt idx="489">
                  <c:v>1504</c:v>
                </c:pt>
                <c:pt idx="490">
                  <c:v>1896</c:v>
                </c:pt>
                <c:pt idx="491">
                  <c:v>1043</c:v>
                </c:pt>
                <c:pt idx="492">
                  <c:v>1048</c:v>
                </c:pt>
                <c:pt idx="493">
                  <c:v>1091</c:v>
                </c:pt>
                <c:pt idx="494">
                  <c:v>1745</c:v>
                </c:pt>
                <c:pt idx="495">
                  <c:v>1790</c:v>
                </c:pt>
                <c:pt idx="496">
                  <c:v>2000</c:v>
                </c:pt>
                <c:pt idx="497">
                  <c:v>1864</c:v>
                </c:pt>
                <c:pt idx="498">
                  <c:v>3000</c:v>
                </c:pt>
                <c:pt idx="499">
                  <c:v>1090</c:v>
                </c:pt>
                <c:pt idx="500">
                  <c:v>1150</c:v>
                </c:pt>
                <c:pt idx="501">
                  <c:v>1065</c:v>
                </c:pt>
                <c:pt idx="502">
                  <c:v>1390</c:v>
                </c:pt>
                <c:pt idx="503">
                  <c:v>1500</c:v>
                </c:pt>
                <c:pt idx="504">
                  <c:v>1140</c:v>
                </c:pt>
                <c:pt idx="505">
                  <c:v>2700</c:v>
                </c:pt>
                <c:pt idx="506">
                  <c:v>1200</c:v>
                </c:pt>
                <c:pt idx="507">
                  <c:v>3205</c:v>
                </c:pt>
                <c:pt idx="508">
                  <c:v>1100</c:v>
                </c:pt>
                <c:pt idx="509">
                  <c:v>1026</c:v>
                </c:pt>
                <c:pt idx="510">
                  <c:v>1060</c:v>
                </c:pt>
                <c:pt idx="511">
                  <c:v>1239</c:v>
                </c:pt>
                <c:pt idx="512">
                  <c:v>1225</c:v>
                </c:pt>
                <c:pt idx="513">
                  <c:v>1600</c:v>
                </c:pt>
                <c:pt idx="514">
                  <c:v>1640</c:v>
                </c:pt>
                <c:pt idx="515">
                  <c:v>1085</c:v>
                </c:pt>
                <c:pt idx="516">
                  <c:v>1100</c:v>
                </c:pt>
                <c:pt idx="517">
                  <c:v>1180</c:v>
                </c:pt>
                <c:pt idx="518">
                  <c:v>1665</c:v>
                </c:pt>
                <c:pt idx="519">
                  <c:v>1505</c:v>
                </c:pt>
                <c:pt idx="520">
                  <c:v>1057</c:v>
                </c:pt>
                <c:pt idx="521">
                  <c:v>1180</c:v>
                </c:pt>
                <c:pt idx="522">
                  <c:v>1410.5</c:v>
                </c:pt>
                <c:pt idx="523">
                  <c:v>2119</c:v>
                </c:pt>
                <c:pt idx="524">
                  <c:v>3385</c:v>
                </c:pt>
                <c:pt idx="525">
                  <c:v>1100</c:v>
                </c:pt>
                <c:pt idx="526">
                  <c:v>1700</c:v>
                </c:pt>
                <c:pt idx="527">
                  <c:v>1500</c:v>
                </c:pt>
                <c:pt idx="528">
                  <c:v>1145</c:v>
                </c:pt>
                <c:pt idx="529">
                  <c:v>905</c:v>
                </c:pt>
                <c:pt idx="530">
                  <c:v>1614</c:v>
                </c:pt>
                <c:pt idx="531">
                  <c:v>1139</c:v>
                </c:pt>
                <c:pt idx="532">
                  <c:v>1226</c:v>
                </c:pt>
                <c:pt idx="533">
                  <c:v>1088</c:v>
                </c:pt>
                <c:pt idx="534">
                  <c:v>1000</c:v>
                </c:pt>
                <c:pt idx="535">
                  <c:v>1783</c:v>
                </c:pt>
                <c:pt idx="536">
                  <c:v>1200</c:v>
                </c:pt>
                <c:pt idx="537">
                  <c:v>1385</c:v>
                </c:pt>
                <c:pt idx="538">
                  <c:v>1550</c:v>
                </c:pt>
                <c:pt idx="539">
                  <c:v>1330</c:v>
                </c:pt>
                <c:pt idx="540">
                  <c:v>2375</c:v>
                </c:pt>
                <c:pt idx="541">
                  <c:v>4355</c:v>
                </c:pt>
                <c:pt idx="542">
                  <c:v>1806</c:v>
                </c:pt>
                <c:pt idx="543">
                  <c:v>1005</c:v>
                </c:pt>
                <c:pt idx="544">
                  <c:v>1150</c:v>
                </c:pt>
                <c:pt idx="545">
                  <c:v>1165</c:v>
                </c:pt>
                <c:pt idx="546">
                  <c:v>1240</c:v>
                </c:pt>
                <c:pt idx="547">
                  <c:v>2100</c:v>
                </c:pt>
                <c:pt idx="548">
                  <c:v>1111</c:v>
                </c:pt>
                <c:pt idx="549">
                  <c:v>1322.5</c:v>
                </c:pt>
                <c:pt idx="550">
                  <c:v>1626</c:v>
                </c:pt>
                <c:pt idx="551">
                  <c:v>688</c:v>
                </c:pt>
                <c:pt idx="552">
                  <c:v>1130</c:v>
                </c:pt>
                <c:pt idx="553">
                  <c:v>1250</c:v>
                </c:pt>
                <c:pt idx="554">
                  <c:v>1253</c:v>
                </c:pt>
                <c:pt idx="555">
                  <c:v>800</c:v>
                </c:pt>
                <c:pt idx="556">
                  <c:v>2312</c:v>
                </c:pt>
                <c:pt idx="557">
                  <c:v>1418</c:v>
                </c:pt>
                <c:pt idx="558">
                  <c:v>1506</c:v>
                </c:pt>
                <c:pt idx="559">
                  <c:v>1800</c:v>
                </c:pt>
                <c:pt idx="560">
                  <c:v>1549</c:v>
                </c:pt>
                <c:pt idx="561">
                  <c:v>660</c:v>
                </c:pt>
                <c:pt idx="562">
                  <c:v>1246</c:v>
                </c:pt>
                <c:pt idx="563">
                  <c:v>1200</c:v>
                </c:pt>
                <c:pt idx="564">
                  <c:v>1135</c:v>
                </c:pt>
                <c:pt idx="565">
                  <c:v>1282</c:v>
                </c:pt>
                <c:pt idx="566">
                  <c:v>1200</c:v>
                </c:pt>
                <c:pt idx="567">
                  <c:v>1225</c:v>
                </c:pt>
                <c:pt idx="568">
                  <c:v>981</c:v>
                </c:pt>
                <c:pt idx="569">
                  <c:v>2185</c:v>
                </c:pt>
                <c:pt idx="570">
                  <c:v>1260</c:v>
                </c:pt>
                <c:pt idx="571">
                  <c:v>1025</c:v>
                </c:pt>
                <c:pt idx="572">
                  <c:v>957</c:v>
                </c:pt>
                <c:pt idx="573">
                  <c:v>645</c:v>
                </c:pt>
                <c:pt idx="574">
                  <c:v>2400</c:v>
                </c:pt>
                <c:pt idx="575">
                  <c:v>1280</c:v>
                </c:pt>
                <c:pt idx="576">
                  <c:v>3913</c:v>
                </c:pt>
                <c:pt idx="577">
                  <c:v>1257</c:v>
                </c:pt>
                <c:pt idx="578">
                  <c:v>2000</c:v>
                </c:pt>
                <c:pt idx="579">
                  <c:v>595</c:v>
                </c:pt>
                <c:pt idx="580">
                  <c:v>1070</c:v>
                </c:pt>
                <c:pt idx="581">
                  <c:v>890</c:v>
                </c:pt>
                <c:pt idx="582">
                  <c:v>1777.3</c:v>
                </c:pt>
                <c:pt idx="583">
                  <c:v>2365</c:v>
                </c:pt>
                <c:pt idx="584">
                  <c:v>1050</c:v>
                </c:pt>
                <c:pt idx="585">
                  <c:v>1100</c:v>
                </c:pt>
                <c:pt idx="586">
                  <c:v>1254</c:v>
                </c:pt>
                <c:pt idx="587">
                  <c:v>1520</c:v>
                </c:pt>
                <c:pt idx="588">
                  <c:v>1460</c:v>
                </c:pt>
                <c:pt idx="589">
                  <c:v>1463</c:v>
                </c:pt>
                <c:pt idx="590">
                  <c:v>1260</c:v>
                </c:pt>
                <c:pt idx="591">
                  <c:v>1020</c:v>
                </c:pt>
                <c:pt idx="592">
                  <c:v>1820</c:v>
                </c:pt>
                <c:pt idx="593">
                  <c:v>1076</c:v>
                </c:pt>
                <c:pt idx="594">
                  <c:v>1135</c:v>
                </c:pt>
                <c:pt idx="595">
                  <c:v>1200</c:v>
                </c:pt>
                <c:pt idx="596">
                  <c:v>1095</c:v>
                </c:pt>
                <c:pt idx="597">
                  <c:v>1210</c:v>
                </c:pt>
                <c:pt idx="598">
                  <c:v>1520</c:v>
                </c:pt>
                <c:pt idx="599">
                  <c:v>1625</c:v>
                </c:pt>
                <c:pt idx="600">
                  <c:v>451</c:v>
                </c:pt>
                <c:pt idx="601">
                  <c:v>1165</c:v>
                </c:pt>
                <c:pt idx="602">
                  <c:v>1007</c:v>
                </c:pt>
                <c:pt idx="603">
                  <c:v>1024</c:v>
                </c:pt>
                <c:pt idx="604">
                  <c:v>1185</c:v>
                </c:pt>
                <c:pt idx="605">
                  <c:v>1310</c:v>
                </c:pt>
                <c:pt idx="606">
                  <c:v>3600</c:v>
                </c:pt>
                <c:pt idx="607">
                  <c:v>1200</c:v>
                </c:pt>
                <c:pt idx="608">
                  <c:v>2000</c:v>
                </c:pt>
                <c:pt idx="609">
                  <c:v>1200</c:v>
                </c:pt>
                <c:pt idx="610">
                  <c:v>705</c:v>
                </c:pt>
                <c:pt idx="611">
                  <c:v>1400</c:v>
                </c:pt>
                <c:pt idx="612">
                  <c:v>2485</c:v>
                </c:pt>
                <c:pt idx="613">
                  <c:v>2500</c:v>
                </c:pt>
                <c:pt idx="614">
                  <c:v>1025</c:v>
                </c:pt>
                <c:pt idx="615">
                  <c:v>765</c:v>
                </c:pt>
                <c:pt idx="616">
                  <c:v>1810</c:v>
                </c:pt>
                <c:pt idx="617">
                  <c:v>750</c:v>
                </c:pt>
                <c:pt idx="618">
                  <c:v>1096</c:v>
                </c:pt>
                <c:pt idx="619">
                  <c:v>1566</c:v>
                </c:pt>
                <c:pt idx="620">
                  <c:v>2135</c:v>
                </c:pt>
                <c:pt idx="621">
                  <c:v>2400</c:v>
                </c:pt>
                <c:pt idx="622">
                  <c:v>1820</c:v>
                </c:pt>
                <c:pt idx="623">
                  <c:v>1285</c:v>
                </c:pt>
                <c:pt idx="624">
                  <c:v>1410</c:v>
                </c:pt>
                <c:pt idx="625">
                  <c:v>1720</c:v>
                </c:pt>
                <c:pt idx="626">
                  <c:v>1172</c:v>
                </c:pt>
                <c:pt idx="627">
                  <c:v>985</c:v>
                </c:pt>
                <c:pt idx="628">
                  <c:v>1200</c:v>
                </c:pt>
                <c:pt idx="629">
                  <c:v>1340</c:v>
                </c:pt>
                <c:pt idx="630">
                  <c:v>1175</c:v>
                </c:pt>
                <c:pt idx="631">
                  <c:v>1200</c:v>
                </c:pt>
                <c:pt idx="632">
                  <c:v>1545</c:v>
                </c:pt>
                <c:pt idx="633">
                  <c:v>1301</c:v>
                </c:pt>
                <c:pt idx="634">
                  <c:v>3930</c:v>
                </c:pt>
                <c:pt idx="635">
                  <c:v>1325</c:v>
                </c:pt>
                <c:pt idx="636">
                  <c:v>1866</c:v>
                </c:pt>
                <c:pt idx="637">
                  <c:v>900</c:v>
                </c:pt>
                <c:pt idx="638">
                  <c:v>648</c:v>
                </c:pt>
                <c:pt idx="639">
                  <c:v>3205</c:v>
                </c:pt>
                <c:pt idx="640">
                  <c:v>674</c:v>
                </c:pt>
                <c:pt idx="641">
                  <c:v>1243</c:v>
                </c:pt>
                <c:pt idx="642">
                  <c:v>1331</c:v>
                </c:pt>
                <c:pt idx="643">
                  <c:v>1599</c:v>
                </c:pt>
                <c:pt idx="644">
                  <c:v>3250</c:v>
                </c:pt>
                <c:pt idx="645">
                  <c:v>1035</c:v>
                </c:pt>
                <c:pt idx="646">
                  <c:v>1852</c:v>
                </c:pt>
                <c:pt idx="647">
                  <c:v>1154</c:v>
                </c:pt>
                <c:pt idx="648">
                  <c:v>1524</c:v>
                </c:pt>
                <c:pt idx="649">
                  <c:v>1521</c:v>
                </c:pt>
                <c:pt idx="650">
                  <c:v>3179</c:v>
                </c:pt>
                <c:pt idx="651">
                  <c:v>1400</c:v>
                </c:pt>
                <c:pt idx="652">
                  <c:v>2830</c:v>
                </c:pt>
                <c:pt idx="653">
                  <c:v>650</c:v>
                </c:pt>
                <c:pt idx="654">
                  <c:v>1192</c:v>
                </c:pt>
                <c:pt idx="655">
                  <c:v>1386</c:v>
                </c:pt>
                <c:pt idx="656">
                  <c:v>975</c:v>
                </c:pt>
                <c:pt idx="657">
                  <c:v>1290</c:v>
                </c:pt>
                <c:pt idx="658">
                  <c:v>1516</c:v>
                </c:pt>
                <c:pt idx="659">
                  <c:v>1424</c:v>
                </c:pt>
                <c:pt idx="660">
                  <c:v>1100</c:v>
                </c:pt>
                <c:pt idx="661">
                  <c:v>600</c:v>
                </c:pt>
                <c:pt idx="662">
                  <c:v>1000</c:v>
                </c:pt>
                <c:pt idx="663">
                  <c:v>1160</c:v>
                </c:pt>
                <c:pt idx="664">
                  <c:v>1520</c:v>
                </c:pt>
                <c:pt idx="665">
                  <c:v>1145</c:v>
                </c:pt>
                <c:pt idx="666">
                  <c:v>700</c:v>
                </c:pt>
                <c:pt idx="667">
                  <c:v>1223</c:v>
                </c:pt>
                <c:pt idx="668">
                  <c:v>1251</c:v>
                </c:pt>
                <c:pt idx="669">
                  <c:v>1531</c:v>
                </c:pt>
                <c:pt idx="670">
                  <c:v>1476</c:v>
                </c:pt>
                <c:pt idx="671">
                  <c:v>1464</c:v>
                </c:pt>
                <c:pt idx="672">
                  <c:v>1055</c:v>
                </c:pt>
                <c:pt idx="673">
                  <c:v>1420</c:v>
                </c:pt>
                <c:pt idx="674">
                  <c:v>800</c:v>
                </c:pt>
                <c:pt idx="675">
                  <c:v>1464</c:v>
                </c:pt>
                <c:pt idx="676">
                  <c:v>1560</c:v>
                </c:pt>
                <c:pt idx="677">
                  <c:v>1777</c:v>
                </c:pt>
                <c:pt idx="678">
                  <c:v>1600</c:v>
                </c:pt>
                <c:pt idx="679">
                  <c:v>1155</c:v>
                </c:pt>
                <c:pt idx="680">
                  <c:v>1157</c:v>
                </c:pt>
                <c:pt idx="681">
                  <c:v>1685</c:v>
                </c:pt>
                <c:pt idx="682">
                  <c:v>1304</c:v>
                </c:pt>
                <c:pt idx="683">
                  <c:v>1400</c:v>
                </c:pt>
                <c:pt idx="684">
                  <c:v>1450</c:v>
                </c:pt>
                <c:pt idx="685">
                  <c:v>3301.8</c:v>
                </c:pt>
                <c:pt idx="686">
                  <c:v>1315</c:v>
                </c:pt>
                <c:pt idx="687">
                  <c:v>1592</c:v>
                </c:pt>
                <c:pt idx="688">
                  <c:v>1476</c:v>
                </c:pt>
                <c:pt idx="689">
                  <c:v>1500</c:v>
                </c:pt>
                <c:pt idx="690">
                  <c:v>1450</c:v>
                </c:pt>
                <c:pt idx="691">
                  <c:v>2440</c:v>
                </c:pt>
                <c:pt idx="692">
                  <c:v>1261</c:v>
                </c:pt>
                <c:pt idx="693">
                  <c:v>1335</c:v>
                </c:pt>
                <c:pt idx="694">
                  <c:v>1710</c:v>
                </c:pt>
                <c:pt idx="695">
                  <c:v>1243</c:v>
                </c:pt>
                <c:pt idx="696">
                  <c:v>3400</c:v>
                </c:pt>
                <c:pt idx="697">
                  <c:v>1295</c:v>
                </c:pt>
                <c:pt idx="698">
                  <c:v>1438</c:v>
                </c:pt>
                <c:pt idx="699">
                  <c:v>1452</c:v>
                </c:pt>
              </c:numCache>
            </c:numRef>
          </c:xVal>
          <c:yVal>
            <c:numRef>
              <c:f>Sheet1!$B$2:$B$701</c:f>
              <c:numCache>
                <c:formatCode>General</c:formatCode>
                <c:ptCount val="700"/>
                <c:pt idx="0">
                  <c:v>85</c:v>
                </c:pt>
                <c:pt idx="1">
                  <c:v>126</c:v>
                </c:pt>
                <c:pt idx="2">
                  <c:v>70</c:v>
                </c:pt>
                <c:pt idx="3">
                  <c:v>121</c:v>
                </c:pt>
                <c:pt idx="4">
                  <c:v>38.5</c:v>
                </c:pt>
                <c:pt idx="5">
                  <c:v>20</c:v>
                </c:pt>
                <c:pt idx="6">
                  <c:v>38.12</c:v>
                </c:pt>
                <c:pt idx="7">
                  <c:v>40</c:v>
                </c:pt>
                <c:pt idx="8">
                  <c:v>125</c:v>
                </c:pt>
                <c:pt idx="9">
                  <c:v>79</c:v>
                </c:pt>
                <c:pt idx="10">
                  <c:v>50</c:v>
                </c:pt>
                <c:pt idx="11">
                  <c:v>42</c:v>
                </c:pt>
                <c:pt idx="12">
                  <c:v>85</c:v>
                </c:pt>
                <c:pt idx="13">
                  <c:v>66.5</c:v>
                </c:pt>
                <c:pt idx="14">
                  <c:v>55.5</c:v>
                </c:pt>
                <c:pt idx="15">
                  <c:v>500</c:v>
                </c:pt>
                <c:pt idx="16">
                  <c:v>59.94</c:v>
                </c:pt>
                <c:pt idx="17">
                  <c:v>315</c:v>
                </c:pt>
                <c:pt idx="18">
                  <c:v>330</c:v>
                </c:pt>
                <c:pt idx="19">
                  <c:v>53</c:v>
                </c:pt>
                <c:pt idx="20">
                  <c:v>99</c:v>
                </c:pt>
                <c:pt idx="21">
                  <c:v>26</c:v>
                </c:pt>
                <c:pt idx="22">
                  <c:v>50</c:v>
                </c:pt>
                <c:pt idx="23">
                  <c:v>34</c:v>
                </c:pt>
                <c:pt idx="24">
                  <c:v>77.68</c:v>
                </c:pt>
                <c:pt idx="25">
                  <c:v>60</c:v>
                </c:pt>
                <c:pt idx="26">
                  <c:v>39</c:v>
                </c:pt>
                <c:pt idx="27">
                  <c:v>100</c:v>
                </c:pt>
                <c:pt idx="28">
                  <c:v>48.1</c:v>
                </c:pt>
                <c:pt idx="29">
                  <c:v>36</c:v>
                </c:pt>
                <c:pt idx="30">
                  <c:v>89.45</c:v>
                </c:pt>
                <c:pt idx="31">
                  <c:v>95</c:v>
                </c:pt>
                <c:pt idx="32">
                  <c:v>30</c:v>
                </c:pt>
                <c:pt idx="33">
                  <c:v>40.43</c:v>
                </c:pt>
                <c:pt idx="34">
                  <c:v>225</c:v>
                </c:pt>
                <c:pt idx="35">
                  <c:v>85</c:v>
                </c:pt>
                <c:pt idx="36">
                  <c:v>38.67</c:v>
                </c:pt>
                <c:pt idx="37">
                  <c:v>60</c:v>
                </c:pt>
                <c:pt idx="38">
                  <c:v>77</c:v>
                </c:pt>
                <c:pt idx="39">
                  <c:v>185</c:v>
                </c:pt>
                <c:pt idx="40">
                  <c:v>160</c:v>
                </c:pt>
                <c:pt idx="41">
                  <c:v>75</c:v>
                </c:pt>
                <c:pt idx="42">
                  <c:v>50.06</c:v>
                </c:pt>
                <c:pt idx="43">
                  <c:v>120</c:v>
                </c:pt>
                <c:pt idx="44">
                  <c:v>140</c:v>
                </c:pt>
                <c:pt idx="45">
                  <c:v>65</c:v>
                </c:pt>
                <c:pt idx="46">
                  <c:v>60</c:v>
                </c:pt>
                <c:pt idx="47">
                  <c:v>65</c:v>
                </c:pt>
                <c:pt idx="48">
                  <c:v>62</c:v>
                </c:pt>
                <c:pt idx="49">
                  <c:v>55.55</c:v>
                </c:pt>
                <c:pt idx="50">
                  <c:v>58</c:v>
                </c:pt>
                <c:pt idx="51">
                  <c:v>67.77</c:v>
                </c:pt>
                <c:pt idx="52">
                  <c:v>45</c:v>
                </c:pt>
                <c:pt idx="53">
                  <c:v>120</c:v>
                </c:pt>
                <c:pt idx="54">
                  <c:v>600</c:v>
                </c:pt>
                <c:pt idx="55">
                  <c:v>65</c:v>
                </c:pt>
                <c:pt idx="56">
                  <c:v>50</c:v>
                </c:pt>
                <c:pt idx="57">
                  <c:v>42.66</c:v>
                </c:pt>
                <c:pt idx="58">
                  <c:v>75</c:v>
                </c:pt>
                <c:pt idx="59">
                  <c:v>93.93</c:v>
                </c:pt>
                <c:pt idx="60">
                  <c:v>80</c:v>
                </c:pt>
                <c:pt idx="61">
                  <c:v>50.3</c:v>
                </c:pt>
                <c:pt idx="62">
                  <c:v>150</c:v>
                </c:pt>
                <c:pt idx="63">
                  <c:v>65</c:v>
                </c:pt>
                <c:pt idx="64">
                  <c:v>59</c:v>
                </c:pt>
                <c:pt idx="65">
                  <c:v>67</c:v>
                </c:pt>
                <c:pt idx="66">
                  <c:v>45</c:v>
                </c:pt>
                <c:pt idx="67">
                  <c:v>75</c:v>
                </c:pt>
                <c:pt idx="68">
                  <c:v>41</c:v>
                </c:pt>
                <c:pt idx="69">
                  <c:v>74.4</c:v>
                </c:pt>
                <c:pt idx="70">
                  <c:v>50</c:v>
                </c:pt>
                <c:pt idx="71">
                  <c:v>29.61</c:v>
                </c:pt>
                <c:pt idx="72">
                  <c:v>40</c:v>
                </c:pt>
                <c:pt idx="73">
                  <c:v>340</c:v>
                </c:pt>
                <c:pt idx="74">
                  <c:v>88</c:v>
                </c:pt>
                <c:pt idx="75">
                  <c:v>88</c:v>
                </c:pt>
                <c:pt idx="76">
                  <c:v>105</c:v>
                </c:pt>
                <c:pt idx="77">
                  <c:v>51</c:v>
                </c:pt>
                <c:pt idx="78">
                  <c:v>69</c:v>
                </c:pt>
                <c:pt idx="79">
                  <c:v>93</c:v>
                </c:pt>
                <c:pt idx="80">
                  <c:v>62.17</c:v>
                </c:pt>
                <c:pt idx="81">
                  <c:v>300</c:v>
                </c:pt>
                <c:pt idx="82">
                  <c:v>150</c:v>
                </c:pt>
                <c:pt idx="83">
                  <c:v>89</c:v>
                </c:pt>
                <c:pt idx="84">
                  <c:v>78</c:v>
                </c:pt>
                <c:pt idx="85">
                  <c:v>95</c:v>
                </c:pt>
                <c:pt idx="86">
                  <c:v>53</c:v>
                </c:pt>
                <c:pt idx="87">
                  <c:v>46</c:v>
                </c:pt>
                <c:pt idx="88">
                  <c:v>78</c:v>
                </c:pt>
                <c:pt idx="89">
                  <c:v>84</c:v>
                </c:pt>
                <c:pt idx="90">
                  <c:v>75</c:v>
                </c:pt>
                <c:pt idx="91">
                  <c:v>70.93</c:v>
                </c:pt>
                <c:pt idx="92">
                  <c:v>86</c:v>
                </c:pt>
                <c:pt idx="93">
                  <c:v>67</c:v>
                </c:pt>
                <c:pt idx="94">
                  <c:v>68</c:v>
                </c:pt>
                <c:pt idx="95">
                  <c:v>75</c:v>
                </c:pt>
                <c:pt idx="96">
                  <c:v>33</c:v>
                </c:pt>
                <c:pt idx="97">
                  <c:v>60</c:v>
                </c:pt>
                <c:pt idx="98">
                  <c:v>93</c:v>
                </c:pt>
                <c:pt idx="99">
                  <c:v>43</c:v>
                </c:pt>
                <c:pt idx="100">
                  <c:v>38</c:v>
                </c:pt>
                <c:pt idx="101">
                  <c:v>15</c:v>
                </c:pt>
                <c:pt idx="102">
                  <c:v>123</c:v>
                </c:pt>
                <c:pt idx="103">
                  <c:v>139</c:v>
                </c:pt>
                <c:pt idx="104">
                  <c:v>51</c:v>
                </c:pt>
                <c:pt idx="105">
                  <c:v>75</c:v>
                </c:pt>
                <c:pt idx="106">
                  <c:v>75</c:v>
                </c:pt>
                <c:pt idx="107">
                  <c:v>45.99</c:v>
                </c:pt>
                <c:pt idx="108">
                  <c:v>353</c:v>
                </c:pt>
                <c:pt idx="109">
                  <c:v>90</c:v>
                </c:pt>
                <c:pt idx="110">
                  <c:v>70</c:v>
                </c:pt>
                <c:pt idx="111">
                  <c:v>40</c:v>
                </c:pt>
                <c:pt idx="112">
                  <c:v>45.2</c:v>
                </c:pt>
                <c:pt idx="113">
                  <c:v>145</c:v>
                </c:pt>
                <c:pt idx="114">
                  <c:v>80</c:v>
                </c:pt>
                <c:pt idx="115">
                  <c:v>100</c:v>
                </c:pt>
                <c:pt idx="116">
                  <c:v>130</c:v>
                </c:pt>
                <c:pt idx="117">
                  <c:v>39.9</c:v>
                </c:pt>
                <c:pt idx="118">
                  <c:v>44.28</c:v>
                </c:pt>
                <c:pt idx="119">
                  <c:v>138</c:v>
                </c:pt>
                <c:pt idx="120">
                  <c:v>59.76</c:v>
                </c:pt>
                <c:pt idx="121">
                  <c:v>35</c:v>
                </c:pt>
                <c:pt idx="122">
                  <c:v>54</c:v>
                </c:pt>
                <c:pt idx="123">
                  <c:v>120</c:v>
                </c:pt>
                <c:pt idx="124">
                  <c:v>70</c:v>
                </c:pt>
                <c:pt idx="125">
                  <c:v>630</c:v>
                </c:pt>
                <c:pt idx="126">
                  <c:v>33</c:v>
                </c:pt>
                <c:pt idx="127">
                  <c:v>68</c:v>
                </c:pt>
                <c:pt idx="128">
                  <c:v>98</c:v>
                </c:pt>
                <c:pt idx="129">
                  <c:v>133</c:v>
                </c:pt>
                <c:pt idx="130">
                  <c:v>413</c:v>
                </c:pt>
                <c:pt idx="131">
                  <c:v>230</c:v>
                </c:pt>
                <c:pt idx="132">
                  <c:v>42</c:v>
                </c:pt>
                <c:pt idx="133">
                  <c:v>101</c:v>
                </c:pt>
                <c:pt idx="134">
                  <c:v>145</c:v>
                </c:pt>
                <c:pt idx="135">
                  <c:v>130</c:v>
                </c:pt>
                <c:pt idx="136">
                  <c:v>65</c:v>
                </c:pt>
                <c:pt idx="137">
                  <c:v>95</c:v>
                </c:pt>
                <c:pt idx="138">
                  <c:v>600</c:v>
                </c:pt>
                <c:pt idx="139">
                  <c:v>25</c:v>
                </c:pt>
                <c:pt idx="140">
                  <c:v>56</c:v>
                </c:pt>
                <c:pt idx="141">
                  <c:v>700</c:v>
                </c:pt>
                <c:pt idx="142">
                  <c:v>250</c:v>
                </c:pt>
                <c:pt idx="143">
                  <c:v>140</c:v>
                </c:pt>
                <c:pt idx="144">
                  <c:v>52</c:v>
                </c:pt>
                <c:pt idx="145">
                  <c:v>153</c:v>
                </c:pt>
                <c:pt idx="146">
                  <c:v>73</c:v>
                </c:pt>
                <c:pt idx="147">
                  <c:v>101</c:v>
                </c:pt>
                <c:pt idx="148">
                  <c:v>60</c:v>
                </c:pt>
                <c:pt idx="149">
                  <c:v>70</c:v>
                </c:pt>
                <c:pt idx="150">
                  <c:v>37.83</c:v>
                </c:pt>
                <c:pt idx="151">
                  <c:v>120</c:v>
                </c:pt>
                <c:pt idx="152">
                  <c:v>50.66</c:v>
                </c:pt>
                <c:pt idx="153">
                  <c:v>56.7</c:v>
                </c:pt>
                <c:pt idx="154">
                  <c:v>78</c:v>
                </c:pt>
                <c:pt idx="155">
                  <c:v>64.08</c:v>
                </c:pt>
                <c:pt idx="156">
                  <c:v>50</c:v>
                </c:pt>
                <c:pt idx="157">
                  <c:v>80</c:v>
                </c:pt>
                <c:pt idx="158">
                  <c:v>235</c:v>
                </c:pt>
                <c:pt idx="159">
                  <c:v>108</c:v>
                </c:pt>
                <c:pt idx="160">
                  <c:v>26.49</c:v>
                </c:pt>
                <c:pt idx="161">
                  <c:v>375</c:v>
                </c:pt>
                <c:pt idx="162">
                  <c:v>36</c:v>
                </c:pt>
                <c:pt idx="163">
                  <c:v>39</c:v>
                </c:pt>
                <c:pt idx="164">
                  <c:v>324</c:v>
                </c:pt>
                <c:pt idx="165">
                  <c:v>45</c:v>
                </c:pt>
                <c:pt idx="166">
                  <c:v>55</c:v>
                </c:pt>
                <c:pt idx="167">
                  <c:v>56</c:v>
                </c:pt>
                <c:pt idx="168">
                  <c:v>84</c:v>
                </c:pt>
                <c:pt idx="169">
                  <c:v>92</c:v>
                </c:pt>
                <c:pt idx="170">
                  <c:v>85</c:v>
                </c:pt>
                <c:pt idx="171">
                  <c:v>98</c:v>
                </c:pt>
                <c:pt idx="172">
                  <c:v>100</c:v>
                </c:pt>
                <c:pt idx="173">
                  <c:v>55</c:v>
                </c:pt>
                <c:pt idx="174">
                  <c:v>85</c:v>
                </c:pt>
                <c:pt idx="175">
                  <c:v>400</c:v>
                </c:pt>
                <c:pt idx="176">
                  <c:v>62</c:v>
                </c:pt>
                <c:pt idx="177">
                  <c:v>26.63</c:v>
                </c:pt>
                <c:pt idx="178">
                  <c:v>70</c:v>
                </c:pt>
                <c:pt idx="179">
                  <c:v>42</c:v>
                </c:pt>
                <c:pt idx="180">
                  <c:v>78</c:v>
                </c:pt>
                <c:pt idx="181">
                  <c:v>333</c:v>
                </c:pt>
                <c:pt idx="182">
                  <c:v>60</c:v>
                </c:pt>
                <c:pt idx="183">
                  <c:v>65</c:v>
                </c:pt>
                <c:pt idx="184">
                  <c:v>45.51</c:v>
                </c:pt>
                <c:pt idx="185">
                  <c:v>28.47</c:v>
                </c:pt>
                <c:pt idx="186">
                  <c:v>97</c:v>
                </c:pt>
                <c:pt idx="187">
                  <c:v>45.12</c:v>
                </c:pt>
                <c:pt idx="188">
                  <c:v>187</c:v>
                </c:pt>
                <c:pt idx="189">
                  <c:v>52.76</c:v>
                </c:pt>
                <c:pt idx="190">
                  <c:v>55</c:v>
                </c:pt>
                <c:pt idx="191">
                  <c:v>60.98</c:v>
                </c:pt>
                <c:pt idx="192">
                  <c:v>265</c:v>
                </c:pt>
                <c:pt idx="193">
                  <c:v>40</c:v>
                </c:pt>
                <c:pt idx="194">
                  <c:v>85</c:v>
                </c:pt>
                <c:pt idx="195">
                  <c:v>50</c:v>
                </c:pt>
                <c:pt idx="196">
                  <c:v>150</c:v>
                </c:pt>
                <c:pt idx="197">
                  <c:v>145</c:v>
                </c:pt>
                <c:pt idx="198">
                  <c:v>215</c:v>
                </c:pt>
                <c:pt idx="199">
                  <c:v>74</c:v>
                </c:pt>
                <c:pt idx="200">
                  <c:v>77</c:v>
                </c:pt>
                <c:pt idx="201">
                  <c:v>70</c:v>
                </c:pt>
                <c:pt idx="202">
                  <c:v>130</c:v>
                </c:pt>
                <c:pt idx="203">
                  <c:v>68</c:v>
                </c:pt>
                <c:pt idx="204">
                  <c:v>56</c:v>
                </c:pt>
                <c:pt idx="205">
                  <c:v>34.82</c:v>
                </c:pt>
                <c:pt idx="206">
                  <c:v>55</c:v>
                </c:pt>
                <c:pt idx="207">
                  <c:v>125</c:v>
                </c:pt>
                <c:pt idx="208">
                  <c:v>60</c:v>
                </c:pt>
                <c:pt idx="209">
                  <c:v>68</c:v>
                </c:pt>
                <c:pt idx="210">
                  <c:v>55</c:v>
                </c:pt>
                <c:pt idx="211">
                  <c:v>55.11</c:v>
                </c:pt>
                <c:pt idx="212">
                  <c:v>135</c:v>
                </c:pt>
                <c:pt idx="213">
                  <c:v>55.5</c:v>
                </c:pt>
                <c:pt idx="214">
                  <c:v>95</c:v>
                </c:pt>
                <c:pt idx="215">
                  <c:v>60</c:v>
                </c:pt>
                <c:pt idx="216">
                  <c:v>68</c:v>
                </c:pt>
                <c:pt idx="217">
                  <c:v>57.6</c:v>
                </c:pt>
                <c:pt idx="218">
                  <c:v>150</c:v>
                </c:pt>
                <c:pt idx="219">
                  <c:v>58</c:v>
                </c:pt>
                <c:pt idx="220">
                  <c:v>50</c:v>
                </c:pt>
                <c:pt idx="221">
                  <c:v>64</c:v>
                </c:pt>
                <c:pt idx="222">
                  <c:v>66</c:v>
                </c:pt>
                <c:pt idx="223">
                  <c:v>53</c:v>
                </c:pt>
                <c:pt idx="224">
                  <c:v>55</c:v>
                </c:pt>
                <c:pt idx="225">
                  <c:v>53</c:v>
                </c:pt>
                <c:pt idx="226">
                  <c:v>86.58</c:v>
                </c:pt>
                <c:pt idx="227">
                  <c:v>64</c:v>
                </c:pt>
                <c:pt idx="228">
                  <c:v>172</c:v>
                </c:pt>
                <c:pt idx="229">
                  <c:v>95</c:v>
                </c:pt>
                <c:pt idx="230">
                  <c:v>55</c:v>
                </c:pt>
                <c:pt idx="231">
                  <c:v>42.25</c:v>
                </c:pt>
                <c:pt idx="232">
                  <c:v>225</c:v>
                </c:pt>
                <c:pt idx="233">
                  <c:v>221</c:v>
                </c:pt>
                <c:pt idx="234">
                  <c:v>680</c:v>
                </c:pt>
                <c:pt idx="235">
                  <c:v>240</c:v>
                </c:pt>
                <c:pt idx="236">
                  <c:v>65.4</c:v>
                </c:pt>
                <c:pt idx="237">
                  <c:v>125</c:v>
                </c:pt>
                <c:pt idx="238">
                  <c:v>67.75</c:v>
                </c:pt>
                <c:pt idx="239">
                  <c:v>34.55</c:v>
                </c:pt>
                <c:pt idx="240">
                  <c:v>63</c:v>
                </c:pt>
                <c:pt idx="241">
                  <c:v>160</c:v>
                </c:pt>
                <c:pt idx="242">
                  <c:v>165</c:v>
                </c:pt>
                <c:pt idx="243">
                  <c:v>37.5</c:v>
                </c:pt>
                <c:pt idx="244">
                  <c:v>115</c:v>
                </c:pt>
                <c:pt idx="245">
                  <c:v>40</c:v>
                </c:pt>
                <c:pt idx="246">
                  <c:v>350</c:v>
                </c:pt>
                <c:pt idx="247">
                  <c:v>105</c:v>
                </c:pt>
                <c:pt idx="248">
                  <c:v>41.82</c:v>
                </c:pt>
                <c:pt idx="249">
                  <c:v>51.91</c:v>
                </c:pt>
                <c:pt idx="250">
                  <c:v>90</c:v>
                </c:pt>
                <c:pt idx="251">
                  <c:v>40.25</c:v>
                </c:pt>
                <c:pt idx="252">
                  <c:v>38</c:v>
                </c:pt>
                <c:pt idx="253">
                  <c:v>78</c:v>
                </c:pt>
                <c:pt idx="254">
                  <c:v>123</c:v>
                </c:pt>
                <c:pt idx="255">
                  <c:v>38</c:v>
                </c:pt>
                <c:pt idx="256">
                  <c:v>113</c:v>
                </c:pt>
                <c:pt idx="257">
                  <c:v>83.3</c:v>
                </c:pt>
                <c:pt idx="258">
                  <c:v>103</c:v>
                </c:pt>
                <c:pt idx="259">
                  <c:v>32</c:v>
                </c:pt>
                <c:pt idx="260">
                  <c:v>40</c:v>
                </c:pt>
                <c:pt idx="261">
                  <c:v>65.11</c:v>
                </c:pt>
                <c:pt idx="262">
                  <c:v>100</c:v>
                </c:pt>
                <c:pt idx="263">
                  <c:v>400</c:v>
                </c:pt>
                <c:pt idx="264">
                  <c:v>122</c:v>
                </c:pt>
                <c:pt idx="265">
                  <c:v>65</c:v>
                </c:pt>
                <c:pt idx="266">
                  <c:v>46</c:v>
                </c:pt>
                <c:pt idx="267">
                  <c:v>103</c:v>
                </c:pt>
                <c:pt idx="268">
                  <c:v>45</c:v>
                </c:pt>
                <c:pt idx="269">
                  <c:v>71</c:v>
                </c:pt>
                <c:pt idx="270">
                  <c:v>168</c:v>
                </c:pt>
                <c:pt idx="271">
                  <c:v>50.12</c:v>
                </c:pt>
                <c:pt idx="272">
                  <c:v>90</c:v>
                </c:pt>
                <c:pt idx="273">
                  <c:v>54.01</c:v>
                </c:pt>
                <c:pt idx="274">
                  <c:v>53.35</c:v>
                </c:pt>
                <c:pt idx="275">
                  <c:v>110</c:v>
                </c:pt>
                <c:pt idx="276">
                  <c:v>36.85</c:v>
                </c:pt>
                <c:pt idx="277">
                  <c:v>220</c:v>
                </c:pt>
                <c:pt idx="278">
                  <c:v>67</c:v>
                </c:pt>
                <c:pt idx="279">
                  <c:v>140</c:v>
                </c:pt>
                <c:pt idx="280">
                  <c:v>68</c:v>
                </c:pt>
                <c:pt idx="281">
                  <c:v>55</c:v>
                </c:pt>
                <c:pt idx="282">
                  <c:v>225</c:v>
                </c:pt>
                <c:pt idx="283">
                  <c:v>110</c:v>
                </c:pt>
                <c:pt idx="284">
                  <c:v>140</c:v>
                </c:pt>
                <c:pt idx="285">
                  <c:v>43</c:v>
                </c:pt>
                <c:pt idx="286">
                  <c:v>55</c:v>
                </c:pt>
                <c:pt idx="287">
                  <c:v>98</c:v>
                </c:pt>
                <c:pt idx="288">
                  <c:v>48</c:v>
                </c:pt>
                <c:pt idx="289">
                  <c:v>43.71</c:v>
                </c:pt>
                <c:pt idx="290">
                  <c:v>78.34</c:v>
                </c:pt>
                <c:pt idx="291">
                  <c:v>140</c:v>
                </c:pt>
                <c:pt idx="292">
                  <c:v>90</c:v>
                </c:pt>
                <c:pt idx="293">
                  <c:v>200</c:v>
                </c:pt>
                <c:pt idx="294">
                  <c:v>80</c:v>
                </c:pt>
                <c:pt idx="295">
                  <c:v>26</c:v>
                </c:pt>
                <c:pt idx="296">
                  <c:v>107</c:v>
                </c:pt>
                <c:pt idx="297">
                  <c:v>280</c:v>
                </c:pt>
                <c:pt idx="298">
                  <c:v>68</c:v>
                </c:pt>
                <c:pt idx="299">
                  <c:v>25</c:v>
                </c:pt>
                <c:pt idx="300">
                  <c:v>43</c:v>
                </c:pt>
                <c:pt idx="301">
                  <c:v>74.5</c:v>
                </c:pt>
                <c:pt idx="302">
                  <c:v>27</c:v>
                </c:pt>
                <c:pt idx="303">
                  <c:v>82</c:v>
                </c:pt>
                <c:pt idx="304">
                  <c:v>260</c:v>
                </c:pt>
                <c:pt idx="305">
                  <c:v>225</c:v>
                </c:pt>
                <c:pt idx="306">
                  <c:v>52</c:v>
                </c:pt>
                <c:pt idx="307">
                  <c:v>75</c:v>
                </c:pt>
                <c:pt idx="308">
                  <c:v>51.35</c:v>
                </c:pt>
                <c:pt idx="309">
                  <c:v>80</c:v>
                </c:pt>
                <c:pt idx="310">
                  <c:v>49</c:v>
                </c:pt>
                <c:pt idx="311">
                  <c:v>170</c:v>
                </c:pt>
                <c:pt idx="312">
                  <c:v>47</c:v>
                </c:pt>
                <c:pt idx="313">
                  <c:v>76</c:v>
                </c:pt>
                <c:pt idx="314">
                  <c:v>42.81</c:v>
                </c:pt>
                <c:pt idx="315">
                  <c:v>42</c:v>
                </c:pt>
                <c:pt idx="316">
                  <c:v>99</c:v>
                </c:pt>
                <c:pt idx="317">
                  <c:v>45</c:v>
                </c:pt>
                <c:pt idx="318">
                  <c:v>140</c:v>
                </c:pt>
                <c:pt idx="319">
                  <c:v>120</c:v>
                </c:pt>
                <c:pt idx="320">
                  <c:v>63</c:v>
                </c:pt>
                <c:pt idx="321">
                  <c:v>35</c:v>
                </c:pt>
                <c:pt idx="322">
                  <c:v>90</c:v>
                </c:pt>
                <c:pt idx="323">
                  <c:v>37.64</c:v>
                </c:pt>
                <c:pt idx="324">
                  <c:v>68</c:v>
                </c:pt>
                <c:pt idx="325">
                  <c:v>60</c:v>
                </c:pt>
                <c:pt idx="326">
                  <c:v>150</c:v>
                </c:pt>
                <c:pt idx="327">
                  <c:v>99</c:v>
                </c:pt>
                <c:pt idx="328">
                  <c:v>54</c:v>
                </c:pt>
                <c:pt idx="329">
                  <c:v>48</c:v>
                </c:pt>
                <c:pt idx="330">
                  <c:v>66</c:v>
                </c:pt>
                <c:pt idx="331">
                  <c:v>100</c:v>
                </c:pt>
                <c:pt idx="332">
                  <c:v>55</c:v>
                </c:pt>
                <c:pt idx="333">
                  <c:v>55</c:v>
                </c:pt>
                <c:pt idx="334">
                  <c:v>55</c:v>
                </c:pt>
                <c:pt idx="335">
                  <c:v>112</c:v>
                </c:pt>
                <c:pt idx="336">
                  <c:v>70.65</c:v>
                </c:pt>
                <c:pt idx="337">
                  <c:v>55</c:v>
                </c:pt>
                <c:pt idx="338">
                  <c:v>59.95</c:v>
                </c:pt>
                <c:pt idx="339">
                  <c:v>40</c:v>
                </c:pt>
                <c:pt idx="340">
                  <c:v>44</c:v>
                </c:pt>
                <c:pt idx="341">
                  <c:v>35</c:v>
                </c:pt>
                <c:pt idx="342">
                  <c:v>125</c:v>
                </c:pt>
                <c:pt idx="343">
                  <c:v>131</c:v>
                </c:pt>
                <c:pt idx="344">
                  <c:v>180</c:v>
                </c:pt>
                <c:pt idx="345">
                  <c:v>80</c:v>
                </c:pt>
                <c:pt idx="346">
                  <c:v>59</c:v>
                </c:pt>
                <c:pt idx="347">
                  <c:v>34.73</c:v>
                </c:pt>
                <c:pt idx="348">
                  <c:v>85</c:v>
                </c:pt>
                <c:pt idx="349">
                  <c:v>65</c:v>
                </c:pt>
                <c:pt idx="350">
                  <c:v>45</c:v>
                </c:pt>
                <c:pt idx="351">
                  <c:v>34</c:v>
                </c:pt>
                <c:pt idx="352">
                  <c:v>100</c:v>
                </c:pt>
                <c:pt idx="353">
                  <c:v>449</c:v>
                </c:pt>
                <c:pt idx="354">
                  <c:v>84.22</c:v>
                </c:pt>
                <c:pt idx="355">
                  <c:v>78</c:v>
                </c:pt>
                <c:pt idx="356">
                  <c:v>44</c:v>
                </c:pt>
                <c:pt idx="357">
                  <c:v>285</c:v>
                </c:pt>
                <c:pt idx="358">
                  <c:v>58</c:v>
                </c:pt>
                <c:pt idx="359">
                  <c:v>43</c:v>
                </c:pt>
                <c:pt idx="360">
                  <c:v>360</c:v>
                </c:pt>
                <c:pt idx="361">
                  <c:v>139.5</c:v>
                </c:pt>
                <c:pt idx="362">
                  <c:v>51</c:v>
                </c:pt>
                <c:pt idx="363">
                  <c:v>39.9</c:v>
                </c:pt>
                <c:pt idx="364">
                  <c:v>214</c:v>
                </c:pt>
                <c:pt idx="365">
                  <c:v>65</c:v>
                </c:pt>
                <c:pt idx="366">
                  <c:v>27.38</c:v>
                </c:pt>
                <c:pt idx="367">
                  <c:v>35</c:v>
                </c:pt>
                <c:pt idx="368">
                  <c:v>65</c:v>
                </c:pt>
                <c:pt idx="369">
                  <c:v>45</c:v>
                </c:pt>
                <c:pt idx="370">
                  <c:v>340</c:v>
                </c:pt>
                <c:pt idx="371">
                  <c:v>80.27</c:v>
                </c:pt>
                <c:pt idx="372">
                  <c:v>51.91</c:v>
                </c:pt>
                <c:pt idx="373">
                  <c:v>100</c:v>
                </c:pt>
                <c:pt idx="374">
                  <c:v>45</c:v>
                </c:pt>
                <c:pt idx="375">
                  <c:v>158</c:v>
                </c:pt>
                <c:pt idx="376">
                  <c:v>104</c:v>
                </c:pt>
                <c:pt idx="377">
                  <c:v>54</c:v>
                </c:pt>
                <c:pt idx="378">
                  <c:v>85</c:v>
                </c:pt>
                <c:pt idx="379">
                  <c:v>240</c:v>
                </c:pt>
                <c:pt idx="380">
                  <c:v>76</c:v>
                </c:pt>
                <c:pt idx="381">
                  <c:v>74.23</c:v>
                </c:pt>
                <c:pt idx="382">
                  <c:v>150</c:v>
                </c:pt>
                <c:pt idx="383">
                  <c:v>48</c:v>
                </c:pt>
                <c:pt idx="384">
                  <c:v>46.5</c:v>
                </c:pt>
                <c:pt idx="385">
                  <c:v>156</c:v>
                </c:pt>
                <c:pt idx="386">
                  <c:v>115</c:v>
                </c:pt>
                <c:pt idx="387">
                  <c:v>52</c:v>
                </c:pt>
                <c:pt idx="388">
                  <c:v>90</c:v>
                </c:pt>
                <c:pt idx="389">
                  <c:v>183</c:v>
                </c:pt>
                <c:pt idx="390">
                  <c:v>160</c:v>
                </c:pt>
                <c:pt idx="391">
                  <c:v>200</c:v>
                </c:pt>
                <c:pt idx="392">
                  <c:v>45</c:v>
                </c:pt>
                <c:pt idx="393">
                  <c:v>86.58</c:v>
                </c:pt>
                <c:pt idx="394">
                  <c:v>54</c:v>
                </c:pt>
                <c:pt idx="395">
                  <c:v>56</c:v>
                </c:pt>
                <c:pt idx="396">
                  <c:v>85</c:v>
                </c:pt>
                <c:pt idx="397">
                  <c:v>58</c:v>
                </c:pt>
                <c:pt idx="398">
                  <c:v>95</c:v>
                </c:pt>
                <c:pt idx="399">
                  <c:v>103</c:v>
                </c:pt>
                <c:pt idx="400">
                  <c:v>35.5</c:v>
                </c:pt>
                <c:pt idx="401">
                  <c:v>76</c:v>
                </c:pt>
                <c:pt idx="402">
                  <c:v>80</c:v>
                </c:pt>
                <c:pt idx="403">
                  <c:v>135</c:v>
                </c:pt>
                <c:pt idx="404">
                  <c:v>54</c:v>
                </c:pt>
                <c:pt idx="405">
                  <c:v>170</c:v>
                </c:pt>
                <c:pt idx="406">
                  <c:v>57.23</c:v>
                </c:pt>
                <c:pt idx="407">
                  <c:v>73.5</c:v>
                </c:pt>
                <c:pt idx="408">
                  <c:v>160</c:v>
                </c:pt>
                <c:pt idx="409">
                  <c:v>64</c:v>
                </c:pt>
                <c:pt idx="410">
                  <c:v>180</c:v>
                </c:pt>
                <c:pt idx="411">
                  <c:v>37</c:v>
                </c:pt>
                <c:pt idx="412">
                  <c:v>30</c:v>
                </c:pt>
                <c:pt idx="413">
                  <c:v>50.79</c:v>
                </c:pt>
                <c:pt idx="414">
                  <c:v>40</c:v>
                </c:pt>
                <c:pt idx="415">
                  <c:v>160</c:v>
                </c:pt>
                <c:pt idx="416">
                  <c:v>25</c:v>
                </c:pt>
                <c:pt idx="417">
                  <c:v>175</c:v>
                </c:pt>
                <c:pt idx="418">
                  <c:v>86</c:v>
                </c:pt>
                <c:pt idx="419">
                  <c:v>102</c:v>
                </c:pt>
                <c:pt idx="420">
                  <c:v>40.17</c:v>
                </c:pt>
                <c:pt idx="421">
                  <c:v>115</c:v>
                </c:pt>
                <c:pt idx="422">
                  <c:v>154</c:v>
                </c:pt>
                <c:pt idx="423">
                  <c:v>100</c:v>
                </c:pt>
                <c:pt idx="424">
                  <c:v>32</c:v>
                </c:pt>
                <c:pt idx="425">
                  <c:v>58</c:v>
                </c:pt>
                <c:pt idx="426">
                  <c:v>62.63</c:v>
                </c:pt>
                <c:pt idx="427">
                  <c:v>52</c:v>
                </c:pt>
                <c:pt idx="428">
                  <c:v>51</c:v>
                </c:pt>
                <c:pt idx="429">
                  <c:v>100</c:v>
                </c:pt>
                <c:pt idx="430">
                  <c:v>193</c:v>
                </c:pt>
                <c:pt idx="431">
                  <c:v>135</c:v>
                </c:pt>
                <c:pt idx="432">
                  <c:v>23</c:v>
                </c:pt>
                <c:pt idx="433">
                  <c:v>64.08</c:v>
                </c:pt>
                <c:pt idx="434">
                  <c:v>42</c:v>
                </c:pt>
                <c:pt idx="435">
                  <c:v>49.73</c:v>
                </c:pt>
                <c:pt idx="436">
                  <c:v>70</c:v>
                </c:pt>
                <c:pt idx="437">
                  <c:v>53.12</c:v>
                </c:pt>
                <c:pt idx="438">
                  <c:v>80</c:v>
                </c:pt>
                <c:pt idx="439">
                  <c:v>60</c:v>
                </c:pt>
                <c:pt idx="440">
                  <c:v>57</c:v>
                </c:pt>
                <c:pt idx="441">
                  <c:v>35</c:v>
                </c:pt>
                <c:pt idx="442">
                  <c:v>92</c:v>
                </c:pt>
                <c:pt idx="443">
                  <c:v>280</c:v>
                </c:pt>
                <c:pt idx="444">
                  <c:v>67</c:v>
                </c:pt>
                <c:pt idx="445">
                  <c:v>22</c:v>
                </c:pt>
                <c:pt idx="446">
                  <c:v>57.5</c:v>
                </c:pt>
                <c:pt idx="447">
                  <c:v>130</c:v>
                </c:pt>
                <c:pt idx="448">
                  <c:v>44.42</c:v>
                </c:pt>
                <c:pt idx="449">
                  <c:v>85</c:v>
                </c:pt>
                <c:pt idx="450">
                  <c:v>45</c:v>
                </c:pt>
                <c:pt idx="451">
                  <c:v>65</c:v>
                </c:pt>
                <c:pt idx="452">
                  <c:v>48</c:v>
                </c:pt>
                <c:pt idx="453">
                  <c:v>58</c:v>
                </c:pt>
                <c:pt idx="454">
                  <c:v>51</c:v>
                </c:pt>
                <c:pt idx="455">
                  <c:v>25</c:v>
                </c:pt>
                <c:pt idx="456">
                  <c:v>325</c:v>
                </c:pt>
                <c:pt idx="457">
                  <c:v>22</c:v>
                </c:pt>
                <c:pt idx="458">
                  <c:v>75</c:v>
                </c:pt>
                <c:pt idx="459">
                  <c:v>55</c:v>
                </c:pt>
                <c:pt idx="460">
                  <c:v>30</c:v>
                </c:pt>
                <c:pt idx="461">
                  <c:v>56</c:v>
                </c:pt>
                <c:pt idx="462">
                  <c:v>40</c:v>
                </c:pt>
                <c:pt idx="463">
                  <c:v>39.8</c:v>
                </c:pt>
                <c:pt idx="464">
                  <c:v>130</c:v>
                </c:pt>
                <c:pt idx="465">
                  <c:v>55.68</c:v>
                </c:pt>
                <c:pt idx="466">
                  <c:v>62.28</c:v>
                </c:pt>
                <c:pt idx="467">
                  <c:v>68.38</c:v>
                </c:pt>
                <c:pt idx="468">
                  <c:v>62</c:v>
                </c:pt>
                <c:pt idx="469">
                  <c:v>52.57</c:v>
                </c:pt>
                <c:pt idx="470">
                  <c:v>48.42</c:v>
                </c:pt>
                <c:pt idx="471">
                  <c:v>65</c:v>
                </c:pt>
                <c:pt idx="472">
                  <c:v>50</c:v>
                </c:pt>
                <c:pt idx="473">
                  <c:v>58</c:v>
                </c:pt>
                <c:pt idx="474">
                  <c:v>110</c:v>
                </c:pt>
                <c:pt idx="475">
                  <c:v>82</c:v>
                </c:pt>
                <c:pt idx="476">
                  <c:v>80</c:v>
                </c:pt>
                <c:pt idx="477">
                  <c:v>184</c:v>
                </c:pt>
                <c:pt idx="478">
                  <c:v>34.82</c:v>
                </c:pt>
                <c:pt idx="479">
                  <c:v>90</c:v>
                </c:pt>
                <c:pt idx="480">
                  <c:v>90</c:v>
                </c:pt>
                <c:pt idx="481">
                  <c:v>180</c:v>
                </c:pt>
                <c:pt idx="482">
                  <c:v>129</c:v>
                </c:pt>
                <c:pt idx="483">
                  <c:v>67.4</c:v>
                </c:pt>
                <c:pt idx="484">
                  <c:v>45.6</c:v>
                </c:pt>
                <c:pt idx="485">
                  <c:v>50</c:v>
                </c:pt>
                <c:pt idx="486">
                  <c:v>46</c:v>
                </c:pt>
                <c:pt idx="487">
                  <c:v>55</c:v>
                </c:pt>
                <c:pt idx="488">
                  <c:v>41.15</c:v>
                </c:pt>
                <c:pt idx="489">
                  <c:v>83</c:v>
                </c:pt>
                <c:pt idx="490">
                  <c:v>75</c:v>
                </c:pt>
                <c:pt idx="491">
                  <c:v>55</c:v>
                </c:pt>
                <c:pt idx="492">
                  <c:v>44</c:v>
                </c:pt>
                <c:pt idx="493">
                  <c:v>34.9</c:v>
                </c:pt>
                <c:pt idx="494">
                  <c:v>98.48</c:v>
                </c:pt>
                <c:pt idx="495">
                  <c:v>120</c:v>
                </c:pt>
                <c:pt idx="496">
                  <c:v>95</c:v>
                </c:pt>
                <c:pt idx="497">
                  <c:v>115</c:v>
                </c:pt>
                <c:pt idx="498">
                  <c:v>260</c:v>
                </c:pt>
                <c:pt idx="499">
                  <c:v>43.59</c:v>
                </c:pt>
                <c:pt idx="500">
                  <c:v>60</c:v>
                </c:pt>
                <c:pt idx="501">
                  <c:v>50.92</c:v>
                </c:pt>
                <c:pt idx="502">
                  <c:v>65.31</c:v>
                </c:pt>
                <c:pt idx="503">
                  <c:v>120</c:v>
                </c:pt>
                <c:pt idx="504">
                  <c:v>62</c:v>
                </c:pt>
                <c:pt idx="505">
                  <c:v>324</c:v>
                </c:pt>
                <c:pt idx="506">
                  <c:v>53</c:v>
                </c:pt>
                <c:pt idx="507">
                  <c:v>300</c:v>
                </c:pt>
                <c:pt idx="508">
                  <c:v>50</c:v>
                </c:pt>
                <c:pt idx="509">
                  <c:v>45</c:v>
                </c:pt>
                <c:pt idx="510">
                  <c:v>34</c:v>
                </c:pt>
                <c:pt idx="511">
                  <c:v>82</c:v>
                </c:pt>
                <c:pt idx="512">
                  <c:v>48</c:v>
                </c:pt>
                <c:pt idx="513">
                  <c:v>125</c:v>
                </c:pt>
                <c:pt idx="514">
                  <c:v>223</c:v>
                </c:pt>
                <c:pt idx="515">
                  <c:v>34.2</c:v>
                </c:pt>
                <c:pt idx="516">
                  <c:v>44</c:v>
                </c:pt>
                <c:pt idx="517">
                  <c:v>60</c:v>
                </c:pt>
                <c:pt idx="518">
                  <c:v>86.91</c:v>
                </c:pt>
                <c:pt idx="519">
                  <c:v>42</c:v>
                </c:pt>
                <c:pt idx="520">
                  <c:v>42</c:v>
                </c:pt>
                <c:pt idx="521">
                  <c:v>70</c:v>
                </c:pt>
                <c:pt idx="522">
                  <c:v>70.39</c:v>
                </c:pt>
                <c:pt idx="523">
                  <c:v>111</c:v>
                </c:pt>
                <c:pt idx="524">
                  <c:v>220</c:v>
                </c:pt>
                <c:pt idx="525">
                  <c:v>70</c:v>
                </c:pt>
                <c:pt idx="526">
                  <c:v>80</c:v>
                </c:pt>
                <c:pt idx="527">
                  <c:v>72.99</c:v>
                </c:pt>
                <c:pt idx="528">
                  <c:v>41.21</c:v>
                </c:pt>
                <c:pt idx="529">
                  <c:v>50</c:v>
                </c:pt>
                <c:pt idx="530">
                  <c:v>100</c:v>
                </c:pt>
                <c:pt idx="531">
                  <c:v>60</c:v>
                </c:pt>
                <c:pt idx="532">
                  <c:v>60</c:v>
                </c:pt>
                <c:pt idx="533">
                  <c:v>48</c:v>
                </c:pt>
                <c:pt idx="534">
                  <c:v>70</c:v>
                </c:pt>
                <c:pt idx="535">
                  <c:v>85</c:v>
                </c:pt>
                <c:pt idx="536">
                  <c:v>170</c:v>
                </c:pt>
                <c:pt idx="537">
                  <c:v>80</c:v>
                </c:pt>
                <c:pt idx="538">
                  <c:v>82</c:v>
                </c:pt>
                <c:pt idx="539">
                  <c:v>92.5</c:v>
                </c:pt>
                <c:pt idx="540">
                  <c:v>189</c:v>
                </c:pt>
                <c:pt idx="541">
                  <c:v>350</c:v>
                </c:pt>
                <c:pt idx="542">
                  <c:v>116</c:v>
                </c:pt>
                <c:pt idx="543">
                  <c:v>42</c:v>
                </c:pt>
                <c:pt idx="544">
                  <c:v>70</c:v>
                </c:pt>
                <c:pt idx="545">
                  <c:v>49.61</c:v>
                </c:pt>
                <c:pt idx="546">
                  <c:v>45.88</c:v>
                </c:pt>
                <c:pt idx="547">
                  <c:v>200</c:v>
                </c:pt>
                <c:pt idx="548">
                  <c:v>50</c:v>
                </c:pt>
                <c:pt idx="549">
                  <c:v>40.98</c:v>
                </c:pt>
                <c:pt idx="550">
                  <c:v>89</c:v>
                </c:pt>
                <c:pt idx="551">
                  <c:v>50</c:v>
                </c:pt>
                <c:pt idx="552">
                  <c:v>55</c:v>
                </c:pt>
                <c:pt idx="553">
                  <c:v>110</c:v>
                </c:pt>
                <c:pt idx="554">
                  <c:v>57</c:v>
                </c:pt>
                <c:pt idx="555">
                  <c:v>32</c:v>
                </c:pt>
                <c:pt idx="556">
                  <c:v>156</c:v>
                </c:pt>
                <c:pt idx="557">
                  <c:v>106</c:v>
                </c:pt>
                <c:pt idx="558">
                  <c:v>95</c:v>
                </c:pt>
                <c:pt idx="559">
                  <c:v>105</c:v>
                </c:pt>
                <c:pt idx="560">
                  <c:v>80</c:v>
                </c:pt>
                <c:pt idx="561">
                  <c:v>62</c:v>
                </c:pt>
                <c:pt idx="562">
                  <c:v>67.4</c:v>
                </c:pt>
                <c:pt idx="563">
                  <c:v>200</c:v>
                </c:pt>
                <c:pt idx="564">
                  <c:v>58</c:v>
                </c:pt>
                <c:pt idx="565">
                  <c:v>68.52</c:v>
                </c:pt>
                <c:pt idx="566">
                  <c:v>110</c:v>
                </c:pt>
                <c:pt idx="567">
                  <c:v>47</c:v>
                </c:pt>
                <c:pt idx="568">
                  <c:v>37.28</c:v>
                </c:pt>
                <c:pt idx="569">
                  <c:v>120</c:v>
                </c:pt>
                <c:pt idx="570">
                  <c:v>49</c:v>
                </c:pt>
                <c:pt idx="571">
                  <c:v>50</c:v>
                </c:pt>
                <c:pt idx="572">
                  <c:v>53</c:v>
                </c:pt>
                <c:pt idx="573">
                  <c:v>16.45</c:v>
                </c:pt>
                <c:pt idx="574">
                  <c:v>89</c:v>
                </c:pt>
                <c:pt idx="575">
                  <c:v>87</c:v>
                </c:pt>
                <c:pt idx="576">
                  <c:v>176</c:v>
                </c:pt>
                <c:pt idx="577">
                  <c:v>40.22</c:v>
                </c:pt>
                <c:pt idx="578">
                  <c:v>99</c:v>
                </c:pt>
                <c:pt idx="579">
                  <c:v>33.32</c:v>
                </c:pt>
                <c:pt idx="580">
                  <c:v>42</c:v>
                </c:pt>
                <c:pt idx="581">
                  <c:v>45</c:v>
                </c:pt>
                <c:pt idx="582">
                  <c:v>92</c:v>
                </c:pt>
                <c:pt idx="583">
                  <c:v>175</c:v>
                </c:pt>
                <c:pt idx="584">
                  <c:v>56</c:v>
                </c:pt>
                <c:pt idx="585">
                  <c:v>37.1</c:v>
                </c:pt>
                <c:pt idx="586">
                  <c:v>38</c:v>
                </c:pt>
                <c:pt idx="587">
                  <c:v>81</c:v>
                </c:pt>
                <c:pt idx="588">
                  <c:v>80</c:v>
                </c:pt>
                <c:pt idx="589">
                  <c:v>61.45</c:v>
                </c:pt>
                <c:pt idx="590">
                  <c:v>85.05</c:v>
                </c:pt>
                <c:pt idx="591">
                  <c:v>29.45</c:v>
                </c:pt>
                <c:pt idx="592">
                  <c:v>93</c:v>
                </c:pt>
                <c:pt idx="593">
                  <c:v>52</c:v>
                </c:pt>
                <c:pt idx="594">
                  <c:v>32.91</c:v>
                </c:pt>
                <c:pt idx="595">
                  <c:v>36</c:v>
                </c:pt>
                <c:pt idx="596">
                  <c:v>55.85</c:v>
                </c:pt>
                <c:pt idx="597">
                  <c:v>80</c:v>
                </c:pt>
                <c:pt idx="598">
                  <c:v>165</c:v>
                </c:pt>
                <c:pt idx="599">
                  <c:v>95</c:v>
                </c:pt>
                <c:pt idx="600">
                  <c:v>29.9</c:v>
                </c:pt>
                <c:pt idx="601">
                  <c:v>135</c:v>
                </c:pt>
                <c:pt idx="602">
                  <c:v>53</c:v>
                </c:pt>
                <c:pt idx="603">
                  <c:v>42</c:v>
                </c:pt>
                <c:pt idx="604">
                  <c:v>43</c:v>
                </c:pt>
                <c:pt idx="605">
                  <c:v>80.43</c:v>
                </c:pt>
                <c:pt idx="606">
                  <c:v>330</c:v>
                </c:pt>
                <c:pt idx="607">
                  <c:v>130</c:v>
                </c:pt>
                <c:pt idx="608">
                  <c:v>85</c:v>
                </c:pt>
                <c:pt idx="609">
                  <c:v>210</c:v>
                </c:pt>
                <c:pt idx="610">
                  <c:v>57</c:v>
                </c:pt>
                <c:pt idx="611">
                  <c:v>78</c:v>
                </c:pt>
                <c:pt idx="612">
                  <c:v>198</c:v>
                </c:pt>
                <c:pt idx="613">
                  <c:v>200</c:v>
                </c:pt>
                <c:pt idx="614">
                  <c:v>37</c:v>
                </c:pt>
                <c:pt idx="615">
                  <c:v>37.49</c:v>
                </c:pt>
                <c:pt idx="616">
                  <c:v>131</c:v>
                </c:pt>
                <c:pt idx="617">
                  <c:v>30</c:v>
                </c:pt>
                <c:pt idx="618">
                  <c:v>40.55</c:v>
                </c:pt>
                <c:pt idx="619">
                  <c:v>97</c:v>
                </c:pt>
                <c:pt idx="620">
                  <c:v>170</c:v>
                </c:pt>
                <c:pt idx="621">
                  <c:v>400</c:v>
                </c:pt>
                <c:pt idx="622">
                  <c:v>77</c:v>
                </c:pt>
                <c:pt idx="623">
                  <c:v>82</c:v>
                </c:pt>
                <c:pt idx="624">
                  <c:v>73</c:v>
                </c:pt>
                <c:pt idx="625">
                  <c:v>98.97</c:v>
                </c:pt>
                <c:pt idx="626">
                  <c:v>75</c:v>
                </c:pt>
                <c:pt idx="627">
                  <c:v>63</c:v>
                </c:pt>
                <c:pt idx="628">
                  <c:v>110</c:v>
                </c:pt>
                <c:pt idx="629">
                  <c:v>41</c:v>
                </c:pt>
                <c:pt idx="630">
                  <c:v>45</c:v>
                </c:pt>
                <c:pt idx="631">
                  <c:v>45</c:v>
                </c:pt>
                <c:pt idx="632">
                  <c:v>68.75</c:v>
                </c:pt>
                <c:pt idx="633">
                  <c:v>55</c:v>
                </c:pt>
                <c:pt idx="634">
                  <c:v>329</c:v>
                </c:pt>
                <c:pt idx="635">
                  <c:v>70</c:v>
                </c:pt>
                <c:pt idx="636">
                  <c:v>245</c:v>
                </c:pt>
                <c:pt idx="637">
                  <c:v>45</c:v>
                </c:pt>
                <c:pt idx="638">
                  <c:v>40</c:v>
                </c:pt>
                <c:pt idx="639">
                  <c:v>380</c:v>
                </c:pt>
                <c:pt idx="640">
                  <c:v>19.9</c:v>
                </c:pt>
                <c:pt idx="641">
                  <c:v>46</c:v>
                </c:pt>
                <c:pt idx="642">
                  <c:v>88</c:v>
                </c:pt>
                <c:pt idx="643">
                  <c:v>80</c:v>
                </c:pt>
                <c:pt idx="644">
                  <c:v>600</c:v>
                </c:pt>
                <c:pt idx="645">
                  <c:v>44</c:v>
                </c:pt>
                <c:pt idx="646">
                  <c:v>122</c:v>
                </c:pt>
                <c:pt idx="647">
                  <c:v>51.8</c:v>
                </c:pt>
                <c:pt idx="648">
                  <c:v>72</c:v>
                </c:pt>
                <c:pt idx="649">
                  <c:v>94.99</c:v>
                </c:pt>
                <c:pt idx="650">
                  <c:v>351</c:v>
                </c:pt>
                <c:pt idx="651">
                  <c:v>48</c:v>
                </c:pt>
                <c:pt idx="652">
                  <c:v>161</c:v>
                </c:pt>
                <c:pt idx="653">
                  <c:v>40</c:v>
                </c:pt>
                <c:pt idx="654">
                  <c:v>74</c:v>
                </c:pt>
                <c:pt idx="655">
                  <c:v>57.46</c:v>
                </c:pt>
                <c:pt idx="656">
                  <c:v>60</c:v>
                </c:pt>
                <c:pt idx="657">
                  <c:v>100</c:v>
                </c:pt>
                <c:pt idx="658">
                  <c:v>147</c:v>
                </c:pt>
                <c:pt idx="659">
                  <c:v>55</c:v>
                </c:pt>
                <c:pt idx="660">
                  <c:v>42</c:v>
                </c:pt>
                <c:pt idx="661">
                  <c:v>72</c:v>
                </c:pt>
                <c:pt idx="662">
                  <c:v>35</c:v>
                </c:pt>
                <c:pt idx="663">
                  <c:v>40.61</c:v>
                </c:pt>
                <c:pt idx="664">
                  <c:v>103</c:v>
                </c:pt>
                <c:pt idx="665">
                  <c:v>46</c:v>
                </c:pt>
                <c:pt idx="666">
                  <c:v>21.5</c:v>
                </c:pt>
                <c:pt idx="667">
                  <c:v>42.81</c:v>
                </c:pt>
                <c:pt idx="668">
                  <c:v>46</c:v>
                </c:pt>
                <c:pt idx="669">
                  <c:v>72</c:v>
                </c:pt>
                <c:pt idx="670">
                  <c:v>98.94</c:v>
                </c:pt>
                <c:pt idx="671">
                  <c:v>56</c:v>
                </c:pt>
                <c:pt idx="672">
                  <c:v>55</c:v>
                </c:pt>
                <c:pt idx="673">
                  <c:v>62</c:v>
                </c:pt>
                <c:pt idx="674">
                  <c:v>72</c:v>
                </c:pt>
                <c:pt idx="675">
                  <c:v>56</c:v>
                </c:pt>
                <c:pt idx="676">
                  <c:v>66</c:v>
                </c:pt>
                <c:pt idx="677">
                  <c:v>100</c:v>
                </c:pt>
                <c:pt idx="678">
                  <c:v>79</c:v>
                </c:pt>
                <c:pt idx="679">
                  <c:v>39</c:v>
                </c:pt>
                <c:pt idx="680">
                  <c:v>75</c:v>
                </c:pt>
                <c:pt idx="681">
                  <c:v>115</c:v>
                </c:pt>
                <c:pt idx="682">
                  <c:v>111</c:v>
                </c:pt>
                <c:pt idx="683">
                  <c:v>63</c:v>
                </c:pt>
                <c:pt idx="684">
                  <c:v>55</c:v>
                </c:pt>
                <c:pt idx="685">
                  <c:v>570</c:v>
                </c:pt>
                <c:pt idx="686">
                  <c:v>59.1</c:v>
                </c:pt>
                <c:pt idx="687">
                  <c:v>75</c:v>
                </c:pt>
                <c:pt idx="688">
                  <c:v>105</c:v>
                </c:pt>
                <c:pt idx="689">
                  <c:v>60</c:v>
                </c:pt>
                <c:pt idx="690">
                  <c:v>75</c:v>
                </c:pt>
                <c:pt idx="691">
                  <c:v>142</c:v>
                </c:pt>
                <c:pt idx="692">
                  <c:v>80</c:v>
                </c:pt>
                <c:pt idx="693">
                  <c:v>56</c:v>
                </c:pt>
                <c:pt idx="694">
                  <c:v>110</c:v>
                </c:pt>
                <c:pt idx="695">
                  <c:v>58</c:v>
                </c:pt>
                <c:pt idx="696">
                  <c:v>420</c:v>
                </c:pt>
                <c:pt idx="697">
                  <c:v>55.47</c:v>
                </c:pt>
                <c:pt idx="698">
                  <c:v>89</c:v>
                </c:pt>
                <c:pt idx="699">
                  <c:v>41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900" b="0" i="0" u="none" strike="noStrike">
                    <a:solidFill>
                      <a:srgbClr val="5C6675"/>
                    </a:solidFill>
                    <a:latin typeface="Arial"/>
                  </a:defRPr>
                </a:pPr>
                <a:r>
                  <a:rPr sz="900" b="0" i="0" u="none" strike="noStrike">
                    <a:solidFill>
                      <a:srgbClr val="5C6675"/>
                    </a:solidFill>
                    <a:latin typeface="Arial"/>
                  </a:rPr>
                  <a:t>Built-up area (sq.ft)</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2"/>
        <c:crosses val="autoZero"/>
        <c:auto val="1"/>
        <c:lblAlgn val="ctr"/>
        <c:noMultiLvlLbl val="1"/>
      </c:valAx>
      <c:valAx>
        <c:axId val="2094734552"/>
        <c:scaling>
          <c:orientation val="minMax"/>
        </c:scaling>
        <c:delete val="0"/>
        <c:axPos val="l"/>
        <c:majorGridlines>
          <c:spPr>
            <a:ln w="12700" cap="flat">
              <a:solidFill>
                <a:srgbClr val="E6EAF0"/>
              </a:solidFill>
              <a:prstDash val="solid"/>
              <a:round/>
            </a:ln>
          </c:spPr>
        </c:majorGridlines>
        <c:title>
          <c:tx>
            <c:rich>
              <a:bodyPr/>
              <a:lstStyle/>
              <a:p>
                <a:pPr>
                  <a:defRPr sz="900" b="0" i="0" u="none" strike="noStrike">
                    <a:solidFill>
                      <a:srgbClr val="5C6675"/>
                    </a:solidFill>
                    <a:latin typeface="Arial"/>
                  </a:defRPr>
                </a:pPr>
                <a:r>
                  <a:rPr sz="900" b="0" i="0" u="none" strike="noStrike">
                    <a:solidFill>
                      <a:srgbClr val="5C6675"/>
                    </a:solidFill>
                    <a:latin typeface="Arial"/>
                  </a:rPr>
                  <a:t>Price (INR lakh)</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4"/>
        <c:crosses val="autoZero"/>
        <c:crossBetween val="midCat"/>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365D"/>
                </a:solidFill>
                <a:latin typeface="Calibri"/>
              </a:defRPr>
            </a:pPr>
            <a:r>
              <a:rPr sz="1200" b="0" i="0" u="none" strike="noStrike">
                <a:solidFill>
                  <a:srgbClr val="1B365D"/>
                </a:solidFill>
                <a:latin typeface="Calibri"/>
              </a:rPr>
              <a:t>Median price by configuration (INR lakh)</a:t>
            </a:r>
          </a:p>
        </c:rich>
      </c:tx>
      <c:layout/>
      <c:overlay val="0"/>
    </c:title>
    <c:autoTitleDeleted val="0"/>
    <c:plotArea>
      <c:layout/>
      <c:barChart>
        <c:barDir val="col"/>
        <c:grouping val="clustered"/>
        <c:varyColors val="0"/>
        <c:ser>
          <c:idx val="0"/>
          <c:order val="0"/>
          <c:tx>
            <c:strRef>
              <c:f>Sheet1!$B$1</c:f>
              <c:strCache>
                <c:ptCount val="1"/>
                <c:pt idx="0">
                  <c:v>Median price (INR lakh)</c:v>
                </c:pt>
              </c:strCache>
            </c:strRef>
          </c:tx>
          <c:spPr>
            <a:solidFill>
              <a:srgbClr val="1B365D"/>
            </a:solidFill>
            <a:ln w="9525" cap="flat">
              <a:solidFill>
                <a:srgbClr val="FFFFFF"/>
              </a:solidFill>
              <a:prstDash val="solid"/>
              <a:round/>
            </a:ln>
            <a:effectLst/>
          </c:spPr>
          <c:invertIfNegative val="0"/>
          <c:dLbls>
            <c:numFmt formatCode="#,##0" sourceLinked="0"/>
            <c:txPr>
              <a:bodyPr/>
              <a:lstStyle/>
              <a:p>
                <a:pPr>
                  <a:defRPr b="0" i="0" strike="noStrike" sz="900" u="none">
                    <a:solidFill>
                      <a:srgbClr val="5C6675"/>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 BHK</c:v>
                  </c:pt>
                  <c:pt idx="1">
                    <c:v>2 BHK</c:v>
                  </c:pt>
                  <c:pt idx="2">
                    <c:v>3 BHK</c:v>
                  </c:pt>
                  <c:pt idx="3">
                    <c:v>4 BHK</c:v>
                  </c:pt>
                  <c:pt idx="4">
                    <c:v>5 BHK</c:v>
                  </c:pt>
                </c:lvl>
              </c:multiLvlStrCache>
            </c:multiLvlStrRef>
          </c:cat>
          <c:val>
            <c:numRef>
              <c:f>Sheet1!$B$2:$B$6</c:f>
              <c:numCache>
                <c:formatCode>General</c:formatCode>
                <c:ptCount val="5"/>
                <c:pt idx="0">
                  <c:v>33</c:v>
                </c:pt>
                <c:pt idx="1">
                  <c:v>53.5</c:v>
                </c:pt>
                <c:pt idx="2">
                  <c:v>88</c:v>
                </c:pt>
                <c:pt idx="3">
                  <c:v>211</c:v>
                </c:pt>
                <c:pt idx="4">
                  <c:v>240</c:v>
                </c:pt>
              </c:numCache>
            </c:numRef>
          </c:val>
        </c:ser>
        <c:dLbls>
          <c:numFmt formatCode="#,##0" sourceLinked="0"/>
          <c:txPr>
            <a:bodyPr/>
            <a:lstStyle/>
            <a:p>
              <a:pPr>
                <a:defRPr b="0" i="0" strike="noStrike" sz="900" u="none">
                  <a:solidFill>
                    <a:srgbClr val="5C667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365D"/>
                </a:solidFill>
                <a:latin typeface="Calibri"/>
              </a:defRPr>
            </a:pPr>
            <a:r>
              <a:rPr sz="1200" b="0" i="0" u="none" strike="noStrike">
                <a:solidFill>
                  <a:srgbClr val="1B365D"/>
                </a:solidFill>
                <a:latin typeface="Calibri"/>
              </a:rPr>
              <a:t>Median price per sq.ft — 12 most represented localities</a:t>
            </a:r>
          </a:p>
        </c:rich>
      </c:tx>
      <c:layout/>
      <c:overlay val="0"/>
    </c:title>
    <c:autoTitleDeleted val="0"/>
    <c:plotArea>
      <c:layout/>
      <c:barChart>
        <c:barDir val="bar"/>
        <c:grouping val="clustered"/>
        <c:varyColors val="0"/>
        <c:ser>
          <c:idx val="0"/>
          <c:order val="0"/>
          <c:tx>
            <c:strRef>
              <c:f>Sheet1!$B$1</c:f>
              <c:strCache>
                <c:ptCount val="1"/>
                <c:pt idx="0">
                  <c:v>Median price per sq.ft (INR)</c:v>
                </c:pt>
              </c:strCache>
            </c:strRef>
          </c:tx>
          <c:spPr>
            <a:solidFill>
              <a:srgbClr val="1B365D"/>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Uttarahalli</c:v>
                  </c:pt>
                  <c:pt idx="1">
                    <c:v>Raja Rajeshwari Naga</c:v>
                  </c:pt>
                  <c:pt idx="2">
                    <c:v>Electronic City</c:v>
                  </c:pt>
                  <c:pt idx="3">
                    <c:v>Kanakpura Road</c:v>
                  </c:pt>
                  <c:pt idx="4">
                    <c:v>Yelahanka</c:v>
                  </c:pt>
                  <c:pt idx="5">
                    <c:v>Bannerghatta Road</c:v>
                  </c:pt>
                  <c:pt idx="6">
                    <c:v>Marathahalli</c:v>
                  </c:pt>
                  <c:pt idx="7">
                    <c:v>Whitefield</c:v>
                  </c:pt>
                  <c:pt idx="8">
                    <c:v>Sarjapur  Road</c:v>
                  </c:pt>
                  <c:pt idx="9">
                    <c:v>Thanisandra</c:v>
                  </c:pt>
                  <c:pt idx="10">
                    <c:v>Hennur Road</c:v>
                  </c:pt>
                  <c:pt idx="11">
                    <c:v>Hebbal</c:v>
                  </c:pt>
                </c:lvl>
              </c:multiLvlStrCache>
            </c:multiLvlStrRef>
          </c:cat>
          <c:val>
            <c:numRef>
              <c:f>Sheet1!$B$2:$B$13</c:f>
              <c:numCache>
                <c:formatCode>General</c:formatCode>
                <c:ptCount val="12"/>
                <c:pt idx="0">
                  <c:v>4000</c:v>
                </c:pt>
                <c:pt idx="1">
                  <c:v>4203</c:v>
                </c:pt>
                <c:pt idx="2">
                  <c:v>4497</c:v>
                </c:pt>
                <c:pt idx="3">
                  <c:v>5000</c:v>
                </c:pt>
                <c:pt idx="4">
                  <c:v>5013</c:v>
                </c:pt>
                <c:pt idx="5">
                  <c:v>5283</c:v>
                </c:pt>
                <c:pt idx="6">
                  <c:v>5434</c:v>
                </c:pt>
                <c:pt idx="7">
                  <c:v>5534</c:v>
                </c:pt>
                <c:pt idx="8">
                  <c:v>5589</c:v>
                </c:pt>
                <c:pt idx="9">
                  <c:v>5595</c:v>
                </c:pt>
                <c:pt idx="10">
                  <c:v>5854</c:v>
                </c:pt>
                <c:pt idx="11">
                  <c:v>7112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5C6675"/>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6EA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67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Review 1. The application has not been developed yet; this review covers problem definition, the dataset, statistical analysis, EDA and the proposed ML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problem. Review 1 stops at methodology; model results come in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price, not transaction price. Karnataka does not publish transaction prices. This is a stated limitation,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individual correlations are themselves a finding: they justify multivariate, non-linear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values are invented. Preliminary experiments have been carried out; results are reserved for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12243F"/>
          </a:solidFill>
          <a:ln w="12700">
            <a:solidFill>
              <a:srgbClr val="12243F"/>
            </a:solidFill>
            <a:prstDash val="solid"/>
          </a:ln>
        </p:spPr>
      </p:sp>
      <p:sp>
        <p:nvSpPr>
          <p:cNvPr id="3" name="Shape 1"/>
          <p:cNvSpPr/>
          <p:nvPr/>
        </p:nvSpPr>
        <p:spPr>
          <a:xfrm>
            <a:off x="10607040" y="4663440"/>
            <a:ext cx="2743200" cy="2743200"/>
          </a:xfrm>
          <a:prstGeom prst="ellipse">
            <a:avLst/>
          </a:prstGeom>
          <a:solidFill>
            <a:srgbClr val="12243F"/>
          </a:solidFill>
          <a:ln w="12700">
            <a:solidFill>
              <a:srgbClr val="12243F"/>
            </a:solidFill>
            <a:prstDash val="solid"/>
          </a:ln>
        </p:spPr>
      </p:sp>
      <p:sp>
        <p:nvSpPr>
          <p:cNvPr id="4" name="Text 2"/>
          <p:cNvSpPr/>
          <p:nvPr/>
        </p:nvSpPr>
        <p:spPr>
          <a:xfrm>
            <a:off x="566928" y="685800"/>
            <a:ext cx="10058400" cy="274320"/>
          </a:xfrm>
          <a:prstGeom prst="rect">
            <a:avLst/>
          </a:prstGeom>
          <a:noFill/>
          <a:ln/>
        </p:spPr>
        <p:txBody>
          <a:bodyPr wrap="square" lIns="0" tIns="0" rIns="0" bIns="0" rtlCol="0" anchor="ctr"/>
          <a:lstStyle/>
          <a:p>
            <a:pPr indent="0" marL="0">
              <a:buNone/>
            </a:pPr>
            <a:r>
              <a:rPr lang="en-US" sz="1250" b="1" spc="180" kern="0" dirty="0">
                <a:solidFill>
                  <a:srgbClr val="9FB3D1"/>
                </a:solidFill>
                <a:latin typeface="Calibri" pitchFamily="34" charset="0"/>
                <a:ea typeface="Calibri" pitchFamily="34" charset="-122"/>
                <a:cs typeface="Calibri" pitchFamily="34" charset="-120"/>
              </a:rPr>
              <a:t>SRM INSTITUTE OF SCIENCE AND TECHNOLOGY</a:t>
            </a:r>
            <a:endParaRPr lang="en-US" sz="1250" dirty="0"/>
          </a:p>
        </p:txBody>
      </p:sp>
      <p:sp>
        <p:nvSpPr>
          <p:cNvPr id="5" name="Text 3"/>
          <p:cNvSpPr/>
          <p:nvPr/>
        </p:nvSpPr>
        <p:spPr>
          <a:xfrm>
            <a:off x="566928" y="1417320"/>
            <a:ext cx="950976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Bengaluru AI Property &amp;</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Urban Intelligence Platform</a:t>
            </a:r>
            <a:endParaRPr lang="en-US" sz="4000" dirty="0"/>
          </a:p>
        </p:txBody>
      </p:sp>
      <p:sp>
        <p:nvSpPr>
          <p:cNvPr id="6" name="Text 4"/>
          <p:cNvSpPr/>
          <p:nvPr/>
        </p:nvSpPr>
        <p:spPr>
          <a:xfrm>
            <a:off x="566928" y="3246120"/>
            <a:ext cx="9509760" cy="384048"/>
          </a:xfrm>
          <a:prstGeom prst="rect">
            <a:avLst/>
          </a:prstGeom>
          <a:noFill/>
          <a:ln/>
        </p:spPr>
        <p:txBody>
          <a:bodyPr wrap="square" lIns="0" tIns="0" rIns="0" bIns="0" rtlCol="0" anchor="ctr"/>
          <a:lstStyle/>
          <a:p>
            <a:pPr indent="0" marL="0">
              <a:buNone/>
            </a:pPr>
            <a:r>
              <a:rPr lang="en-US" sz="1800" i="1" dirty="0">
                <a:solidFill>
                  <a:srgbClr val="E8B98C"/>
                </a:solidFill>
                <a:latin typeface="Calibri" pitchFamily="34" charset="0"/>
                <a:ea typeface="Calibri" pitchFamily="34" charset="-122"/>
                <a:cs typeface="Calibri" pitchFamily="34" charset="-120"/>
              </a:rPr>
              <a:t>Machine Learning Based Property Price Prediction</a:t>
            </a:r>
            <a:endParaRPr lang="en-US" sz="1800" dirty="0"/>
          </a:p>
        </p:txBody>
      </p:sp>
      <p:sp>
        <p:nvSpPr>
          <p:cNvPr id="7" name="Shape 5"/>
          <p:cNvSpPr/>
          <p:nvPr/>
        </p:nvSpPr>
        <p:spPr>
          <a:xfrm>
            <a:off x="566928" y="3950208"/>
            <a:ext cx="2286000" cy="402336"/>
          </a:xfrm>
          <a:prstGeom prst="roundRect">
            <a:avLst>
              <a:gd name="adj" fmla="val 13636"/>
            </a:avLst>
          </a:prstGeom>
          <a:solidFill>
            <a:srgbClr val="FFFFFF"/>
          </a:solidFill>
          <a:ln w="12700">
            <a:solidFill>
              <a:srgbClr val="FFFFFF"/>
            </a:solidFill>
            <a:prstDash val="solid"/>
          </a:ln>
        </p:spPr>
      </p:sp>
      <p:sp>
        <p:nvSpPr>
          <p:cNvPr id="8" name="Text 6"/>
          <p:cNvSpPr/>
          <p:nvPr/>
        </p:nvSpPr>
        <p:spPr>
          <a:xfrm>
            <a:off x="566928" y="3950208"/>
            <a:ext cx="2286000" cy="402336"/>
          </a:xfrm>
          <a:prstGeom prst="rect">
            <a:avLst/>
          </a:prstGeom>
          <a:noFill/>
          <a:ln/>
        </p:spPr>
        <p:txBody>
          <a:bodyPr wrap="square" lIns="0" tIns="0" rIns="0" bIns="0" rtlCol="0" anchor="ctr"/>
          <a:lstStyle/>
          <a:p>
            <a:pPr algn="ctr" indent="0" marL="0">
              <a:buNone/>
            </a:pPr>
            <a:r>
              <a:rPr lang="en-US" sz="1150" b="1" spc="80" kern="0" dirty="0">
                <a:solidFill>
                  <a:srgbClr val="1B365D"/>
                </a:solidFill>
                <a:latin typeface="Calibri" pitchFamily="34" charset="0"/>
                <a:ea typeface="Calibri" pitchFamily="34" charset="-122"/>
                <a:cs typeface="Calibri" pitchFamily="34" charset="-120"/>
              </a:rPr>
              <a:t>PROJECT REVIEW – 1</a:t>
            </a:r>
            <a:endParaRPr lang="en-US" sz="1150" dirty="0"/>
          </a:p>
        </p:txBody>
      </p:sp>
      <p:sp>
        <p:nvSpPr>
          <p:cNvPr id="9" name="Text 7"/>
          <p:cNvSpPr/>
          <p:nvPr/>
        </p:nvSpPr>
        <p:spPr>
          <a:xfrm>
            <a:off x="566928" y="4617720"/>
            <a:ext cx="5486400" cy="640080"/>
          </a:xfrm>
          <a:prstGeom prst="rect">
            <a:avLst/>
          </a:prstGeom>
          <a:noFill/>
          <a:ln/>
        </p:spPr>
        <p:txBody>
          <a:bodyPr wrap="square" lIns="0" tIns="0" rIns="0" bIns="0" rtlCol="0" anchor="ctr"/>
          <a:lstStyle/>
          <a:p>
            <a:pPr indent="0" marL="0">
              <a:lnSpc>
                <a:spcPts val="2000"/>
              </a:lnSpc>
              <a:buNone/>
            </a:pPr>
            <a:r>
              <a:rPr lang="en-US" sz="1350" dirty="0">
                <a:solidFill>
                  <a:srgbClr val="C9D6E8"/>
                </a:solidFill>
                <a:latin typeface="Calibri" pitchFamily="34" charset="0"/>
                <a:ea typeface="Calibri" pitchFamily="34" charset="-122"/>
                <a:cs typeface="Calibri" pitchFamily="34" charset="-120"/>
              </a:rPr>
              <a:t>B.Tech — Computer Science and Engineering</a:t>
            </a:r>
            <a:endParaRPr lang="en-US" sz="1350" dirty="0"/>
          </a:p>
          <a:p>
            <a:pPr indent="0" marL="0">
              <a:lnSpc>
                <a:spcPts val="2000"/>
              </a:lnSpc>
              <a:buNone/>
            </a:pPr>
            <a:r>
              <a:rPr lang="en-US" sz="1350" dirty="0">
                <a:solidFill>
                  <a:srgbClr val="C9D6E8"/>
                </a:solidFill>
                <a:latin typeface="Calibri" pitchFamily="34" charset="0"/>
                <a:ea typeface="Calibri" pitchFamily="34" charset="-122"/>
                <a:cs typeface="Calibri" pitchFamily="34" charset="-120"/>
              </a:rPr>
              <a:t>Artificial Intelligence and Machine Learning</a:t>
            </a:r>
            <a:endParaRPr lang="en-US" sz="1350" dirty="0"/>
          </a:p>
        </p:txBody>
      </p:sp>
      <p:sp>
        <p:nvSpPr>
          <p:cNvPr id="10" name="Text 8"/>
          <p:cNvSpPr/>
          <p:nvPr/>
        </p:nvSpPr>
        <p:spPr>
          <a:xfrm>
            <a:off x="6949440" y="4590288"/>
            <a:ext cx="2377440" cy="1005840"/>
          </a:xfrm>
          <a:prstGeom prst="rect">
            <a:avLst/>
          </a:prstGeom>
          <a:noFill/>
          <a:ln/>
        </p:spPr>
        <p:txBody>
          <a:bodyPr wrap="square" lIns="0" tIns="0" rIns="0" bIns="0" rtlCol="0" anchor="ctr"/>
          <a:lstStyle/>
          <a:p>
            <a:pPr indent="0" marL="0">
              <a:buNone/>
            </a:pPr>
            <a:r>
              <a:rPr lang="en-US" sz="1050" b="1" dirty="0">
                <a:solidFill>
                  <a:srgbClr val="8FA6C4"/>
                </a:solidFill>
                <a:latin typeface="Calibri" pitchFamily="34" charset="0"/>
                <a:ea typeface="Calibri" pitchFamily="34" charset="-122"/>
                <a:cs typeface="Calibri" pitchFamily="34" charset="-120"/>
              </a:rPr>
              <a:t>Submitted by
</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UJWAL M
</a:t>
            </a:r>
            <a:endParaRPr lang="en-US" sz="1050" dirty="0"/>
          </a:p>
          <a:p>
            <a:pPr indent="0" marL="0">
              <a:buNone/>
            </a:pPr>
            <a:r>
              <a:rPr lang="en-US" sz="1150" dirty="0">
                <a:solidFill>
                  <a:srgbClr val="C9D6E8"/>
                </a:solidFill>
                <a:latin typeface="Calibri" pitchFamily="34" charset="0"/>
                <a:ea typeface="Calibri" pitchFamily="34" charset="-122"/>
                <a:cs typeface="Calibri" pitchFamily="34" charset="-120"/>
              </a:rPr>
              <a:t>Register Number: [Register Number]</a:t>
            </a:r>
            <a:endParaRPr lang="en-US" sz="1050" dirty="0"/>
          </a:p>
        </p:txBody>
      </p:sp>
      <p:sp>
        <p:nvSpPr>
          <p:cNvPr id="11" name="Text 9"/>
          <p:cNvSpPr/>
          <p:nvPr/>
        </p:nvSpPr>
        <p:spPr>
          <a:xfrm>
            <a:off x="9418320" y="4590288"/>
            <a:ext cx="2194560" cy="1005840"/>
          </a:xfrm>
          <a:prstGeom prst="rect">
            <a:avLst/>
          </a:prstGeom>
          <a:noFill/>
          <a:ln/>
        </p:spPr>
        <p:txBody>
          <a:bodyPr wrap="square" lIns="0" tIns="0" rIns="0" bIns="0" rtlCol="0" anchor="ctr"/>
          <a:lstStyle/>
          <a:p>
            <a:pPr indent="0" marL="0">
              <a:buNone/>
            </a:pPr>
            <a:r>
              <a:rPr lang="en-US" sz="1050" b="1" dirty="0">
                <a:solidFill>
                  <a:srgbClr val="8FA6C4"/>
                </a:solidFill>
                <a:latin typeface="Calibri" pitchFamily="34" charset="0"/>
                <a:ea typeface="Calibri" pitchFamily="34" charset="-122"/>
                <a:cs typeface="Calibri" pitchFamily="34" charset="-120"/>
              </a:rPr>
              <a:t>Faculty Guide
</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[Faculty Name]
</a:t>
            </a:r>
            <a:endParaRPr lang="en-US" sz="1050" dirty="0"/>
          </a:p>
          <a:p>
            <a:pPr indent="0" marL="0">
              <a:buNone/>
            </a:pPr>
            <a:r>
              <a:rPr lang="en-US" sz="1150" dirty="0">
                <a:solidFill>
                  <a:srgbClr val="C9D6E8"/>
                </a:solidFill>
                <a:latin typeface="Calibri" pitchFamily="34" charset="0"/>
                <a:ea typeface="Calibri" pitchFamily="34" charset="-122"/>
                <a:cs typeface="Calibri" pitchFamily="34" charset="-120"/>
              </a:rPr>
              <a:t>Department of Computing Technologies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566928" y="1371600"/>
            <a:ext cx="6492240" cy="914400"/>
          </a:xfrm>
          <a:prstGeom prst="rect">
            <a:avLst/>
          </a:prstGeom>
          <a:noFill/>
          <a:ln/>
        </p:spPr>
        <p:txBody>
          <a:bodyPr wrap="square" lIns="0" tIns="0" rIns="0" bIns="0" rtlCol="0" anchor="ctr"/>
          <a:lstStyle/>
          <a:p>
            <a:pPr indent="0" marL="0">
              <a:lnSpc>
                <a:spcPts val="2200"/>
              </a:lnSpc>
              <a:buNone/>
            </a:pPr>
            <a:r>
              <a:rPr lang="en-US" sz="1450" dirty="0">
                <a:solidFill>
                  <a:srgbClr val="1F2430"/>
                </a:solidFill>
                <a:latin typeface="Calibri" pitchFamily="34" charset="0"/>
                <a:ea typeface="Calibri" pitchFamily="34" charset="-122"/>
                <a:cs typeface="Calibri" pitchFamily="34" charset="-120"/>
              </a:rPr>
              <a:t>The proposed project applies machine learning to estimate residential property prices in Bengaluru using property characteristics together with location-related features. Property price is treated as a continuous target, making this a supervised regression problem.</a:t>
            </a:r>
            <a:endParaRPr lang="en-US" sz="1450" dirty="0"/>
          </a:p>
        </p:txBody>
      </p:sp>
      <p:sp>
        <p:nvSpPr>
          <p:cNvPr id="5" name="Text 3"/>
          <p:cNvSpPr/>
          <p:nvPr/>
        </p:nvSpPr>
        <p:spPr>
          <a:xfrm>
            <a:off x="566928" y="2395728"/>
            <a:ext cx="6492240" cy="274320"/>
          </a:xfrm>
          <a:prstGeom prst="rect">
            <a:avLst/>
          </a:prstGeom>
          <a:noFill/>
          <a:ln/>
        </p:spPr>
        <p:txBody>
          <a:bodyPr wrap="square" lIns="0" tIns="0" rIns="0" bIns="0" rtlCol="0" anchor="ctr"/>
          <a:lstStyle/>
          <a:p>
            <a:pPr indent="0" marL="0">
              <a:buNone/>
            </a:pPr>
            <a:r>
              <a:rPr lang="en-US" sz="1300" i="1" dirty="0">
                <a:solidFill>
                  <a:srgbClr val="5C6675"/>
                </a:solidFill>
                <a:latin typeface="Calibri" pitchFamily="34" charset="0"/>
                <a:ea typeface="Calibri" pitchFamily="34" charset="-122"/>
                <a:cs typeface="Calibri" pitchFamily="34" charset="-120"/>
              </a:rPr>
              <a:t>Property price is influenced simultaneously by several groups of factors:</a:t>
            </a:r>
            <a:endParaRPr lang="en-US" sz="1300" dirty="0"/>
          </a:p>
        </p:txBody>
      </p:sp>
      <p:sp>
        <p:nvSpPr>
          <p:cNvPr id="6" name="Shape 4"/>
          <p:cNvSpPr/>
          <p:nvPr/>
        </p:nvSpPr>
        <p:spPr>
          <a:xfrm>
            <a:off x="566928" y="2798064"/>
            <a:ext cx="365760" cy="365760"/>
          </a:xfrm>
          <a:prstGeom prst="ellipse">
            <a:avLst/>
          </a:prstGeom>
          <a:solidFill>
            <a:srgbClr val="1B365D"/>
          </a:solidFill>
          <a:ln w="12700">
            <a:solidFill>
              <a:srgbClr val="1B365D"/>
            </a:solidFill>
            <a:prstDash val="solid"/>
          </a:ln>
        </p:spPr>
      </p:sp>
      <p:sp>
        <p:nvSpPr>
          <p:cNvPr id="7" name="Text 5"/>
          <p:cNvSpPr/>
          <p:nvPr/>
        </p:nvSpPr>
        <p:spPr>
          <a:xfrm>
            <a:off x="566928" y="2798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97280" y="2770632"/>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Physical attributes</a:t>
            </a:r>
            <a:endParaRPr lang="en-US" sz="1350" dirty="0"/>
          </a:p>
        </p:txBody>
      </p:sp>
      <p:sp>
        <p:nvSpPr>
          <p:cNvPr id="9" name="Text 7"/>
          <p:cNvSpPr/>
          <p:nvPr/>
        </p:nvSpPr>
        <p:spPr>
          <a:xfrm>
            <a:off x="1097280" y="3017520"/>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Built-up area, configuration (BHK), bathrooms, balconies</a:t>
            </a:r>
            <a:endParaRPr lang="en-US" sz="1200" dirty="0"/>
          </a:p>
        </p:txBody>
      </p:sp>
      <p:sp>
        <p:nvSpPr>
          <p:cNvPr id="10" name="Shape 8"/>
          <p:cNvSpPr/>
          <p:nvPr/>
        </p:nvSpPr>
        <p:spPr>
          <a:xfrm>
            <a:off x="566928" y="3511296"/>
            <a:ext cx="365760" cy="365760"/>
          </a:xfrm>
          <a:prstGeom prst="ellipse">
            <a:avLst/>
          </a:prstGeom>
          <a:solidFill>
            <a:srgbClr val="1B365D"/>
          </a:solidFill>
          <a:ln w="12700">
            <a:solidFill>
              <a:srgbClr val="1B365D"/>
            </a:solidFill>
            <a:prstDash val="solid"/>
          </a:ln>
        </p:spPr>
      </p:sp>
      <p:sp>
        <p:nvSpPr>
          <p:cNvPr id="11" name="Text 9"/>
          <p:cNvSpPr/>
          <p:nvPr/>
        </p:nvSpPr>
        <p:spPr>
          <a:xfrm>
            <a:off x="566928" y="3511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097280" y="3483864"/>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Location</a:t>
            </a:r>
            <a:endParaRPr lang="en-US" sz="1350" dirty="0"/>
          </a:p>
        </p:txBody>
      </p:sp>
      <p:sp>
        <p:nvSpPr>
          <p:cNvPr id="13" name="Text 11"/>
          <p:cNvSpPr/>
          <p:nvPr/>
        </p:nvSpPr>
        <p:spPr>
          <a:xfrm>
            <a:off x="1097280" y="3730752"/>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Locality, and the market conditions specific to that locality</a:t>
            </a:r>
            <a:endParaRPr lang="en-US" sz="1200" dirty="0"/>
          </a:p>
        </p:txBody>
      </p:sp>
      <p:sp>
        <p:nvSpPr>
          <p:cNvPr id="14" name="Shape 12"/>
          <p:cNvSpPr/>
          <p:nvPr/>
        </p:nvSpPr>
        <p:spPr>
          <a:xfrm>
            <a:off x="566928" y="4224528"/>
            <a:ext cx="365760" cy="365760"/>
          </a:xfrm>
          <a:prstGeom prst="ellipse">
            <a:avLst/>
          </a:prstGeom>
          <a:solidFill>
            <a:srgbClr val="1B365D"/>
          </a:solidFill>
          <a:ln w="12700">
            <a:solidFill>
              <a:srgbClr val="1B365D"/>
            </a:solidFill>
            <a:prstDash val="solid"/>
          </a:ln>
        </p:spPr>
      </p:sp>
      <p:sp>
        <p:nvSpPr>
          <p:cNvPr id="15" name="Text 13"/>
          <p:cNvSpPr/>
          <p:nvPr/>
        </p:nvSpPr>
        <p:spPr>
          <a:xfrm>
            <a:off x="566928" y="4224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097280" y="4197096"/>
            <a:ext cx="5852160" cy="237744"/>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Accessibility</a:t>
            </a:r>
            <a:endParaRPr lang="en-US" sz="1350" dirty="0"/>
          </a:p>
        </p:txBody>
      </p:sp>
      <p:sp>
        <p:nvSpPr>
          <p:cNvPr id="17" name="Text 15"/>
          <p:cNvSpPr/>
          <p:nvPr/>
        </p:nvSpPr>
        <p:spPr>
          <a:xfrm>
            <a:off x="1097280" y="4443984"/>
            <a:ext cx="5852160" cy="23774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Proximity to transport, healthcare, education and road network</a:t>
            </a:r>
            <a:endParaRPr lang="en-US" sz="1200" dirty="0"/>
          </a:p>
        </p:txBody>
      </p:sp>
      <p:sp>
        <p:nvSpPr>
          <p:cNvPr id="18" name="Text 16"/>
          <p:cNvSpPr/>
          <p:nvPr/>
        </p:nvSpPr>
        <p:spPr>
          <a:xfrm>
            <a:off x="566928" y="5120640"/>
            <a:ext cx="6492240" cy="548640"/>
          </a:xfrm>
          <a:prstGeom prst="rect">
            <a:avLst/>
          </a:prstGeom>
          <a:noFill/>
          <a:ln/>
        </p:spPr>
        <p:txBody>
          <a:bodyPr wrap="square" lIns="0" tIns="0" rIns="0" bIns="0" rtlCol="0" anchor="ctr"/>
          <a:lstStyle/>
          <a:p>
            <a:pPr indent="0" marL="0">
              <a:lnSpc>
                <a:spcPts val="1800"/>
              </a:lnSpc>
              <a:buNone/>
            </a:pPr>
            <a:r>
              <a:rPr lang="en-US" sz="1250" i="1" dirty="0">
                <a:solidFill>
                  <a:srgbClr val="5C6675"/>
                </a:solidFill>
                <a:latin typeface="Calibri" pitchFamily="34" charset="0"/>
                <a:ea typeface="Calibri" pitchFamily="34" charset="-122"/>
                <a:cs typeface="Calibri" pitchFamily="34" charset="-120"/>
              </a:rPr>
              <a:t>The broader intent is to combine the resulting model with location intelligence and GIS-derived information in a later stage of the project.</a:t>
            </a:r>
            <a:endParaRPr lang="en-US" sz="1250" dirty="0"/>
          </a:p>
        </p:txBody>
      </p:sp>
      <p:sp>
        <p:nvSpPr>
          <p:cNvPr id="19" name="Shape 17"/>
          <p:cNvSpPr/>
          <p:nvPr/>
        </p:nvSpPr>
        <p:spPr>
          <a:xfrm>
            <a:off x="7452360" y="1371600"/>
            <a:ext cx="4160520" cy="4114800"/>
          </a:xfrm>
          <a:prstGeom prst="roundRect">
            <a:avLst>
              <a:gd name="adj" fmla="val 1333"/>
            </a:avLst>
          </a:prstGeom>
          <a:solidFill>
            <a:srgbClr val="F4F6F9"/>
          </a:solidFill>
          <a:ln w="12700">
            <a:solidFill>
              <a:srgbClr val="D6DCE5"/>
            </a:solidFill>
            <a:prstDash val="solid"/>
          </a:ln>
        </p:spPr>
      </p:sp>
      <p:sp>
        <p:nvSpPr>
          <p:cNvPr id="20" name="Text 18"/>
          <p:cNvSpPr/>
          <p:nvPr/>
        </p:nvSpPr>
        <p:spPr>
          <a:xfrm>
            <a:off x="7726680" y="1572768"/>
            <a:ext cx="3657600"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Scope of Review 1</a:t>
            </a:r>
            <a:endParaRPr lang="en-US" sz="1500" dirty="0"/>
          </a:p>
        </p:txBody>
      </p:sp>
      <p:sp>
        <p:nvSpPr>
          <p:cNvPr id="21" name="Text 19"/>
          <p:cNvSpPr/>
          <p:nvPr/>
        </p:nvSpPr>
        <p:spPr>
          <a:xfrm>
            <a:off x="7726680" y="1965960"/>
            <a:ext cx="3657600" cy="3291840"/>
          </a:xfrm>
          <a:prstGeom prst="rect">
            <a:avLst/>
          </a:prstGeom>
          <a:noFill/>
          <a:ln/>
        </p:spPr>
        <p:txBody>
          <a:bodyPr wrap="square" lIns="0" tIns="0" rIns="0" bIns="0" rtlCol="0" anchor="ctr"/>
          <a:lstStyle/>
          <a:p>
            <a:pPr indent="0" marL="0">
              <a:spcAft>
                <a:spcPts val="500"/>
              </a:spcAft>
              <a:buNone/>
            </a:pPr>
            <a:r>
              <a:rPr lang="en-US" sz="1200" b="1" dirty="0">
                <a:solidFill>
                  <a:srgbClr val="1B365D"/>
                </a:solidFill>
                <a:latin typeface="Calibri" pitchFamily="34" charset="0"/>
                <a:ea typeface="Calibri" pitchFamily="34" charset="-122"/>
                <a:cs typeface="Calibri" pitchFamily="34" charset="-120"/>
              </a:rPr>
              <a:t>Covered in this review</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Problem definition and objectives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Dataset description</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Statistical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Exploratory data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Proposed ML methodology</a:t>
            </a:r>
            <a:endParaRPr lang="en-US" sz="1200" dirty="0"/>
          </a:p>
          <a:p>
            <a:pPr indent="0" marL="0">
              <a:spcAft>
                <a:spcPts val="500"/>
              </a:spcAft>
              <a:buNone/>
            </a:pPr>
            <a:endParaRPr lang="en-US" sz="1200" dirty="0"/>
          </a:p>
          <a:p>
            <a:pPr indent="0" marL="0">
              <a:spcAft>
                <a:spcPts val="500"/>
              </a:spcAft>
              <a:buNone/>
            </a:pPr>
            <a:r>
              <a:rPr lang="en-US" sz="1200" b="1" dirty="0">
                <a:solidFill>
                  <a:srgbClr val="1B365D"/>
                </a:solidFill>
                <a:latin typeface="Calibri" pitchFamily="34" charset="0"/>
                <a:ea typeface="Calibri" pitchFamily="34" charset="-122"/>
                <a:cs typeface="Calibri" pitchFamily="34" charset="-120"/>
              </a:rPr>
              <a:t>To be carried out next</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Model training and comparison</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Evaluation and tuning</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Explainability analysis</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Application interface</a:t>
            </a:r>
            <a:endParaRPr lang="en-US" sz="1200" dirty="0"/>
          </a:p>
        </p:txBody>
      </p:sp>
      <p:sp>
        <p:nvSpPr>
          <p:cNvPr id="23"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2</a:t>
            </a:r>
            <a:endParaRPr lang="en-US" sz="1000" dirty="0"/>
          </a:p>
        </p:txBody>
      </p:sp>
      <p:sp>
        <p:nvSpPr>
          <p:cNvPr id="24"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Understanding the Problem</a:t>
            </a:r>
            <a:endParaRPr lang="en-US" sz="3000" dirty="0"/>
          </a:p>
        </p:txBody>
      </p:sp>
      <p:sp>
        <p:nvSpPr>
          <p:cNvPr id="4" name="Text 2"/>
          <p:cNvSpPr/>
          <p:nvPr/>
        </p:nvSpPr>
        <p:spPr>
          <a:xfrm>
            <a:off x="566928" y="1371600"/>
            <a:ext cx="11027664" cy="685800"/>
          </a:xfrm>
          <a:prstGeom prst="rect">
            <a:avLst/>
          </a:prstGeom>
          <a:noFill/>
          <a:ln/>
        </p:spPr>
        <p:txBody>
          <a:bodyPr wrap="square" lIns="0" tIns="0" rIns="0" bIns="0" rtlCol="0" anchor="ctr"/>
          <a:lstStyle/>
          <a:p>
            <a:pPr indent="0" marL="0">
              <a:lnSpc>
                <a:spcPts val="2100"/>
              </a:lnSpc>
              <a:buNone/>
            </a:pPr>
            <a:r>
              <a:rPr lang="en-US" sz="1400" dirty="0">
                <a:solidFill>
                  <a:srgbClr val="1F2430"/>
                </a:solidFill>
                <a:latin typeface="Calibri" pitchFamily="34" charset="0"/>
                <a:ea typeface="Calibri" pitchFamily="34" charset="-122"/>
                <a:cs typeface="Calibri" pitchFamily="34" charset="-120"/>
              </a:rPr>
              <a:t>A prospective buyer typically knows the asking price, the built-up area, the configuration and the locality. Judging whether that asking price is reasonable requires comparing the property against a large number of historical records across several variables at once.</a:t>
            </a:r>
            <a:endParaRPr lang="en-US" sz="1400" dirty="0"/>
          </a:p>
        </p:txBody>
      </p:sp>
      <p:sp>
        <p:nvSpPr>
          <p:cNvPr id="5" name="Shape 3"/>
          <p:cNvSpPr/>
          <p:nvPr/>
        </p:nvSpPr>
        <p:spPr>
          <a:xfrm>
            <a:off x="566928" y="2286000"/>
            <a:ext cx="2523744" cy="1051560"/>
          </a:xfrm>
          <a:prstGeom prst="roundRect">
            <a:avLst>
              <a:gd name="adj" fmla="val 5217"/>
            </a:avLst>
          </a:prstGeom>
          <a:solidFill>
            <a:srgbClr val="F4F6F9"/>
          </a:solidFill>
          <a:ln w="12700">
            <a:solidFill>
              <a:srgbClr val="D6DCE5"/>
            </a:solidFill>
            <a:prstDash val="solid"/>
          </a:ln>
        </p:spPr>
      </p:sp>
      <p:sp>
        <p:nvSpPr>
          <p:cNvPr id="6" name="Text 4"/>
          <p:cNvSpPr/>
          <p:nvPr/>
        </p:nvSpPr>
        <p:spPr>
          <a:xfrm>
            <a:off x="713232"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Property Data</a:t>
            </a:r>
            <a:endParaRPr lang="en-US" sz="1350" dirty="0"/>
          </a:p>
        </p:txBody>
      </p:sp>
      <p:sp>
        <p:nvSpPr>
          <p:cNvPr id="7" name="Text 5"/>
          <p:cNvSpPr/>
          <p:nvPr/>
        </p:nvSpPr>
        <p:spPr>
          <a:xfrm>
            <a:off x="713232"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Area, BHK, bathrooms,</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balcony, property type</a:t>
            </a:r>
            <a:endParaRPr lang="en-US" sz="1150" dirty="0"/>
          </a:p>
        </p:txBody>
      </p:sp>
      <p:sp>
        <p:nvSpPr>
          <p:cNvPr id="8" name="Shape 6"/>
          <p:cNvSpPr/>
          <p:nvPr/>
        </p:nvSpPr>
        <p:spPr>
          <a:xfrm>
            <a:off x="3364992" y="2286000"/>
            <a:ext cx="2523744" cy="1051560"/>
          </a:xfrm>
          <a:prstGeom prst="roundRect">
            <a:avLst>
              <a:gd name="adj" fmla="val 5217"/>
            </a:avLst>
          </a:prstGeom>
          <a:solidFill>
            <a:srgbClr val="F4F6F9"/>
          </a:solidFill>
          <a:ln w="12700">
            <a:solidFill>
              <a:srgbClr val="D6DCE5"/>
            </a:solidFill>
            <a:prstDash val="solid"/>
          </a:ln>
        </p:spPr>
      </p:sp>
      <p:sp>
        <p:nvSpPr>
          <p:cNvPr id="9" name="Text 7"/>
          <p:cNvSpPr/>
          <p:nvPr/>
        </p:nvSpPr>
        <p:spPr>
          <a:xfrm>
            <a:off x="3511296"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Location Data</a:t>
            </a:r>
            <a:endParaRPr lang="en-US" sz="1350" dirty="0"/>
          </a:p>
        </p:txBody>
      </p:sp>
      <p:sp>
        <p:nvSpPr>
          <p:cNvPr id="10" name="Text 8"/>
          <p:cNvSpPr/>
          <p:nvPr/>
        </p:nvSpPr>
        <p:spPr>
          <a:xfrm>
            <a:off x="3511296"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Locality and</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geographic position</a:t>
            </a:r>
            <a:endParaRPr lang="en-US" sz="1150" dirty="0"/>
          </a:p>
        </p:txBody>
      </p:sp>
      <p:sp>
        <p:nvSpPr>
          <p:cNvPr id="11" name="Shape 9"/>
          <p:cNvSpPr/>
          <p:nvPr/>
        </p:nvSpPr>
        <p:spPr>
          <a:xfrm>
            <a:off x="6163056" y="2286000"/>
            <a:ext cx="2523744" cy="1051560"/>
          </a:xfrm>
          <a:prstGeom prst="roundRect">
            <a:avLst>
              <a:gd name="adj" fmla="val 5217"/>
            </a:avLst>
          </a:prstGeom>
          <a:solidFill>
            <a:srgbClr val="F4F6F9"/>
          </a:solidFill>
          <a:ln w="12700">
            <a:solidFill>
              <a:srgbClr val="D6DCE5"/>
            </a:solidFill>
            <a:prstDash val="solid"/>
          </a:ln>
        </p:spPr>
      </p:sp>
      <p:sp>
        <p:nvSpPr>
          <p:cNvPr id="12" name="Text 10"/>
          <p:cNvSpPr/>
          <p:nvPr/>
        </p:nvSpPr>
        <p:spPr>
          <a:xfrm>
            <a:off x="6309360" y="2432304"/>
            <a:ext cx="2231136" cy="274320"/>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Infrastructure Data</a:t>
            </a:r>
            <a:endParaRPr lang="en-US" sz="1350" dirty="0"/>
          </a:p>
        </p:txBody>
      </p:sp>
      <p:sp>
        <p:nvSpPr>
          <p:cNvPr id="13" name="Text 11"/>
          <p:cNvSpPr/>
          <p:nvPr/>
        </p:nvSpPr>
        <p:spPr>
          <a:xfrm>
            <a:off x="6309360" y="2724912"/>
            <a:ext cx="2231136" cy="548640"/>
          </a:xfrm>
          <a:prstGeom prst="rect">
            <a:avLst/>
          </a:prstGeom>
          <a:noFill/>
          <a:ln/>
        </p:spPr>
        <p:txBody>
          <a:bodyPr wrap="square" lIns="0" tIns="0" rIns="0" bIns="0" rtlCol="0" anchor="ctr"/>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Transport, healthcare,</a:t>
            </a:r>
            <a:endParaRPr lang="en-US" sz="1150" dirty="0"/>
          </a:p>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education, road access</a:t>
            </a:r>
            <a:endParaRPr lang="en-US" sz="1150" dirty="0"/>
          </a:p>
        </p:txBody>
      </p:sp>
      <p:sp>
        <p:nvSpPr>
          <p:cNvPr id="14" name="Shape 12"/>
          <p:cNvSpPr/>
          <p:nvPr/>
        </p:nvSpPr>
        <p:spPr>
          <a:xfrm>
            <a:off x="3090672" y="2807208"/>
            <a:ext cx="274320" cy="0"/>
          </a:xfrm>
          <a:prstGeom prst="line">
            <a:avLst/>
          </a:prstGeom>
          <a:noFill/>
          <a:ln w="19050">
            <a:solidFill>
              <a:srgbClr val="D6DCE5"/>
            </a:solidFill>
            <a:prstDash val="solid"/>
          </a:ln>
        </p:spPr>
      </p:sp>
      <p:sp>
        <p:nvSpPr>
          <p:cNvPr id="15" name="Shape 13"/>
          <p:cNvSpPr/>
          <p:nvPr/>
        </p:nvSpPr>
        <p:spPr>
          <a:xfrm>
            <a:off x="5888736" y="2807208"/>
            <a:ext cx="274320" cy="0"/>
          </a:xfrm>
          <a:prstGeom prst="line">
            <a:avLst/>
          </a:prstGeom>
          <a:noFill/>
          <a:ln w="19050">
            <a:solidFill>
              <a:srgbClr val="D6DCE5"/>
            </a:solidFill>
            <a:prstDash val="solid"/>
          </a:ln>
        </p:spPr>
      </p:sp>
      <p:sp>
        <p:nvSpPr>
          <p:cNvPr id="16" name="Shape 14"/>
          <p:cNvSpPr/>
          <p:nvPr/>
        </p:nvSpPr>
        <p:spPr>
          <a:xfrm>
            <a:off x="3657600" y="3337560"/>
            <a:ext cx="0" cy="457200"/>
          </a:xfrm>
          <a:prstGeom prst="line">
            <a:avLst/>
          </a:prstGeom>
          <a:noFill/>
          <a:ln w="19050">
            <a:solidFill>
              <a:srgbClr val="5C6675"/>
            </a:solidFill>
            <a:prstDash val="solid"/>
            <a:tailEnd type="triangle"/>
          </a:ln>
        </p:spPr>
      </p:sp>
      <p:sp>
        <p:nvSpPr>
          <p:cNvPr id="17" name="Shape 15"/>
          <p:cNvSpPr/>
          <p:nvPr/>
        </p:nvSpPr>
        <p:spPr>
          <a:xfrm>
            <a:off x="566928" y="3877056"/>
            <a:ext cx="8119872" cy="786384"/>
          </a:xfrm>
          <a:prstGeom prst="roundRect">
            <a:avLst>
              <a:gd name="adj" fmla="val 6977"/>
            </a:avLst>
          </a:prstGeom>
          <a:solidFill>
            <a:srgbClr val="1B365D"/>
          </a:solidFill>
          <a:ln w="12700">
            <a:solidFill>
              <a:srgbClr val="1B365D"/>
            </a:solidFill>
            <a:prstDash val="solid"/>
          </a:ln>
        </p:spPr>
      </p:sp>
      <p:sp>
        <p:nvSpPr>
          <p:cNvPr id="18" name="Text 16"/>
          <p:cNvSpPr/>
          <p:nvPr/>
        </p:nvSpPr>
        <p:spPr>
          <a:xfrm>
            <a:off x="566928" y="3877056"/>
            <a:ext cx="8119872"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Machine Learning  —  Supervised Regression</a:t>
            </a:r>
            <a:endParaRPr lang="en-US" sz="1700" dirty="0"/>
          </a:p>
        </p:txBody>
      </p:sp>
      <p:sp>
        <p:nvSpPr>
          <p:cNvPr id="19" name="Shape 17"/>
          <p:cNvSpPr/>
          <p:nvPr/>
        </p:nvSpPr>
        <p:spPr>
          <a:xfrm>
            <a:off x="3657600" y="4718304"/>
            <a:ext cx="0" cy="402336"/>
          </a:xfrm>
          <a:prstGeom prst="line">
            <a:avLst/>
          </a:prstGeom>
          <a:noFill/>
          <a:ln w="19050">
            <a:solidFill>
              <a:srgbClr val="5C6675"/>
            </a:solidFill>
            <a:prstDash val="solid"/>
            <a:tailEnd type="triangle"/>
          </a:ln>
        </p:spPr>
      </p:sp>
      <p:sp>
        <p:nvSpPr>
          <p:cNvPr id="20" name="Shape 18"/>
          <p:cNvSpPr/>
          <p:nvPr/>
        </p:nvSpPr>
        <p:spPr>
          <a:xfrm>
            <a:off x="566928" y="5193792"/>
            <a:ext cx="8119872" cy="640080"/>
          </a:xfrm>
          <a:prstGeom prst="roundRect">
            <a:avLst>
              <a:gd name="adj" fmla="val 8571"/>
            </a:avLst>
          </a:prstGeom>
          <a:solidFill>
            <a:srgbClr val="FFFFFF"/>
          </a:solidFill>
          <a:ln w="20320">
            <a:solidFill>
              <a:srgbClr val="C2703A"/>
            </a:solidFill>
            <a:prstDash val="solid"/>
          </a:ln>
        </p:spPr>
      </p:sp>
      <p:sp>
        <p:nvSpPr>
          <p:cNvPr id="21" name="Text 19"/>
          <p:cNvSpPr/>
          <p:nvPr/>
        </p:nvSpPr>
        <p:spPr>
          <a:xfrm>
            <a:off x="566928" y="5193792"/>
            <a:ext cx="8119872" cy="640080"/>
          </a:xfrm>
          <a:prstGeom prst="rect">
            <a:avLst/>
          </a:prstGeom>
          <a:noFill/>
          <a:ln/>
        </p:spPr>
        <p:txBody>
          <a:bodyPr wrap="square" lIns="0" tIns="0" rIns="0" bIns="0" rtlCol="0" anchor="ctr"/>
          <a:lstStyle/>
          <a:p>
            <a:pPr algn="ctr" indent="0" marL="0">
              <a:buNone/>
            </a:pPr>
            <a:r>
              <a:rPr lang="en-US" sz="1600" b="1" dirty="0">
                <a:solidFill>
                  <a:srgbClr val="C2703A"/>
                </a:solidFill>
                <a:latin typeface="Cambria" pitchFamily="34" charset="0"/>
                <a:ea typeface="Cambria" pitchFamily="34" charset="-122"/>
                <a:cs typeface="Cambria" pitchFamily="34" charset="-120"/>
              </a:rPr>
              <a:t>Estimated Property Price</a:t>
            </a:r>
            <a:endParaRPr lang="en-US" sz="1600" dirty="0"/>
          </a:p>
        </p:txBody>
      </p:sp>
      <p:sp>
        <p:nvSpPr>
          <p:cNvPr id="22" name="Shape 20"/>
          <p:cNvSpPr/>
          <p:nvPr/>
        </p:nvSpPr>
        <p:spPr>
          <a:xfrm>
            <a:off x="9052560" y="2286000"/>
            <a:ext cx="2542032" cy="3547872"/>
          </a:xfrm>
          <a:prstGeom prst="roundRect">
            <a:avLst>
              <a:gd name="adj" fmla="val 2158"/>
            </a:avLst>
          </a:prstGeom>
          <a:solidFill>
            <a:srgbClr val="F4F6F9"/>
          </a:solidFill>
          <a:ln w="12700">
            <a:solidFill>
              <a:srgbClr val="D6DCE5"/>
            </a:solidFill>
            <a:prstDash val="solid"/>
          </a:ln>
        </p:spPr>
      </p:sp>
      <p:sp>
        <p:nvSpPr>
          <p:cNvPr id="23" name="Text 21"/>
          <p:cNvSpPr/>
          <p:nvPr/>
        </p:nvSpPr>
        <p:spPr>
          <a:xfrm>
            <a:off x="9253728" y="2468880"/>
            <a:ext cx="2194560" cy="274320"/>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Why an ML problem?</a:t>
            </a:r>
            <a:endParaRPr lang="en-US" sz="1350" dirty="0"/>
          </a:p>
        </p:txBody>
      </p:sp>
      <p:sp>
        <p:nvSpPr>
          <p:cNvPr id="24" name="Text 22"/>
          <p:cNvSpPr/>
          <p:nvPr/>
        </p:nvSpPr>
        <p:spPr>
          <a:xfrm>
            <a:off x="9253728" y="2852928"/>
            <a:ext cx="2157984" cy="28346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The target is continuous</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Many predictors act together</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Relationships are not purely linear</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Historical labelled records are available</a:t>
            </a:r>
            <a:endParaRPr lang="en-US" sz="1150" dirty="0"/>
          </a:p>
          <a:p>
            <a:pPr marL="342900" indent="-342900">
              <a:spcAft>
                <a:spcPts val="700"/>
              </a:spcAft>
              <a:buSzPct val="100000"/>
              <a:buChar char="•"/>
            </a:pPr>
            <a:r>
              <a:rPr lang="en-US" sz="1150" dirty="0">
                <a:solidFill>
                  <a:srgbClr val="1F2430"/>
                </a:solidFill>
                <a:latin typeface="Calibri" pitchFamily="34" charset="0"/>
                <a:ea typeface="Calibri" pitchFamily="34" charset="-122"/>
                <a:cs typeface="Calibri" pitchFamily="34" charset="-120"/>
              </a:rPr>
              <a:t>Patterns can be learned rather than hand-coded</a:t>
            </a:r>
            <a:endParaRPr lang="en-US" sz="1150" dirty="0"/>
          </a:p>
        </p:txBody>
      </p:sp>
      <p:sp>
        <p:nvSpPr>
          <p:cNvPr id="25" name="Text 23"/>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3</a:t>
            </a:r>
            <a:endParaRPr lang="en-US" sz="1000" dirty="0"/>
          </a:p>
        </p:txBody>
      </p:sp>
      <p:sp>
        <p:nvSpPr>
          <p:cNvPr id="26" name="Text 24"/>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66928" y="1371600"/>
            <a:ext cx="11027664" cy="1298448"/>
          </a:xfrm>
          <a:prstGeom prst="roundRect">
            <a:avLst>
              <a:gd name="adj" fmla="val 4225"/>
            </a:avLst>
          </a:prstGeom>
          <a:solidFill>
            <a:srgbClr val="1B365D"/>
          </a:solidFill>
          <a:ln w="12700">
            <a:solidFill>
              <a:srgbClr val="1B365D"/>
            </a:solidFill>
            <a:prstDash val="solid"/>
          </a:ln>
        </p:spPr>
      </p:sp>
      <p:sp>
        <p:nvSpPr>
          <p:cNvPr id="5" name="Text 3"/>
          <p:cNvSpPr/>
          <p:nvPr/>
        </p:nvSpPr>
        <p:spPr>
          <a:xfrm>
            <a:off x="886968" y="1371600"/>
            <a:ext cx="10387584" cy="1298448"/>
          </a:xfrm>
          <a:prstGeom prst="rect">
            <a:avLst/>
          </a:prstGeom>
          <a:noFill/>
          <a:ln/>
        </p:spPr>
        <p:txBody>
          <a:bodyPr wrap="square" lIns="0" tIns="0" rIns="0" bIns="0" rtlCol="0" anchor="ctr"/>
          <a:lstStyle/>
          <a:p>
            <a:pPr indent="0" marL="0">
              <a:lnSpc>
                <a:spcPts val="2600"/>
              </a:lnSpc>
              <a:buNone/>
            </a:pPr>
            <a:r>
              <a:rPr lang="en-US" sz="1700" i="1" dirty="0">
                <a:solidFill>
                  <a:srgbClr val="FFFFFF"/>
                </a:solidFill>
                <a:latin typeface="Cambria" pitchFamily="34" charset="0"/>
                <a:ea typeface="Cambria" pitchFamily="34" charset="-122"/>
                <a:cs typeface="Cambria" pitchFamily="34" charset="-120"/>
              </a:rPr>
              <a:t>“To develop a machine learning based system that can estimate residential property prices using property characteristics and location-related features, while identifying the factors that influence the prediction.”</a:t>
            </a:r>
            <a:endParaRPr lang="en-US" sz="1700" dirty="0"/>
          </a:p>
        </p:txBody>
      </p:sp>
      <p:sp>
        <p:nvSpPr>
          <p:cNvPr id="6" name="Shape 4"/>
          <p:cNvSpPr/>
          <p:nvPr/>
        </p:nvSpPr>
        <p:spPr>
          <a:xfrm>
            <a:off x="566928" y="2944368"/>
            <a:ext cx="365760" cy="365760"/>
          </a:xfrm>
          <a:prstGeom prst="ellipse">
            <a:avLst/>
          </a:prstGeom>
          <a:solidFill>
            <a:srgbClr val="1B365D"/>
          </a:solidFill>
          <a:ln w="12700">
            <a:solidFill>
              <a:srgbClr val="1B365D"/>
            </a:solidFill>
            <a:prstDash val="solid"/>
          </a:ln>
        </p:spPr>
      </p:sp>
      <p:sp>
        <p:nvSpPr>
          <p:cNvPr id="7" name="Text 5"/>
          <p:cNvSpPr/>
          <p:nvPr/>
        </p:nvSpPr>
        <p:spPr>
          <a:xfrm>
            <a:off x="566928" y="2944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15568" y="2907792"/>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Multiple influencing variables</a:t>
            </a:r>
            <a:endParaRPr lang="en-US" sz="1350" dirty="0"/>
          </a:p>
        </p:txBody>
      </p:sp>
      <p:sp>
        <p:nvSpPr>
          <p:cNvPr id="9" name="Text 7"/>
          <p:cNvSpPr/>
          <p:nvPr/>
        </p:nvSpPr>
        <p:spPr>
          <a:xfrm>
            <a:off x="1115568" y="3154680"/>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Price depends on area, configuration, locality and accessibility acting together rather than in isolation.</a:t>
            </a:r>
            <a:endParaRPr lang="en-US" sz="1180" dirty="0"/>
          </a:p>
        </p:txBody>
      </p:sp>
      <p:sp>
        <p:nvSpPr>
          <p:cNvPr id="10" name="Shape 8"/>
          <p:cNvSpPr/>
          <p:nvPr/>
        </p:nvSpPr>
        <p:spPr>
          <a:xfrm>
            <a:off x="566928" y="3602736"/>
            <a:ext cx="365760" cy="365760"/>
          </a:xfrm>
          <a:prstGeom prst="ellipse">
            <a:avLst/>
          </a:prstGeom>
          <a:solidFill>
            <a:srgbClr val="1B365D"/>
          </a:solidFill>
          <a:ln w="12700">
            <a:solidFill>
              <a:srgbClr val="1B365D"/>
            </a:solidFill>
            <a:prstDash val="solid"/>
          </a:ln>
        </p:spPr>
      </p:sp>
      <p:sp>
        <p:nvSpPr>
          <p:cNvPr id="11" name="Text 9"/>
          <p:cNvSpPr/>
          <p:nvPr/>
        </p:nvSpPr>
        <p:spPr>
          <a:xfrm>
            <a:off x="566928" y="36027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15568" y="3566160"/>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Non-linear relationships</a:t>
            </a:r>
            <a:endParaRPr lang="en-US" sz="1350" dirty="0"/>
          </a:p>
        </p:txBody>
      </p:sp>
      <p:sp>
        <p:nvSpPr>
          <p:cNvPr id="13" name="Text 11"/>
          <p:cNvSpPr/>
          <p:nvPr/>
        </p:nvSpPr>
        <p:spPr>
          <a:xfrm>
            <a:off x="1115568" y="3813048"/>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The effect of one variable may change depending on the value of another, which limits simple linear estimation.</a:t>
            </a:r>
            <a:endParaRPr lang="en-US" sz="1180" dirty="0"/>
          </a:p>
        </p:txBody>
      </p:sp>
      <p:sp>
        <p:nvSpPr>
          <p:cNvPr id="14" name="Shape 12"/>
          <p:cNvSpPr/>
          <p:nvPr/>
        </p:nvSpPr>
        <p:spPr>
          <a:xfrm>
            <a:off x="566928" y="4261104"/>
            <a:ext cx="365760" cy="365760"/>
          </a:xfrm>
          <a:prstGeom prst="ellipse">
            <a:avLst/>
          </a:prstGeom>
          <a:solidFill>
            <a:srgbClr val="1B365D"/>
          </a:solidFill>
          <a:ln w="12700">
            <a:solidFill>
              <a:srgbClr val="1B365D"/>
            </a:solidFill>
            <a:prstDash val="solid"/>
          </a:ln>
        </p:spPr>
      </p:sp>
      <p:sp>
        <p:nvSpPr>
          <p:cNvPr id="15" name="Text 13"/>
          <p:cNvSpPr/>
          <p:nvPr/>
        </p:nvSpPr>
        <p:spPr>
          <a:xfrm>
            <a:off x="56692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15568" y="4224528"/>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Difficulty of manual estimation</a:t>
            </a:r>
            <a:endParaRPr lang="en-US" sz="1350" dirty="0"/>
          </a:p>
        </p:txBody>
      </p:sp>
      <p:sp>
        <p:nvSpPr>
          <p:cNvPr id="17" name="Text 15"/>
          <p:cNvSpPr/>
          <p:nvPr/>
        </p:nvSpPr>
        <p:spPr>
          <a:xfrm>
            <a:off x="1115568" y="4471416"/>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Comparing a property against thousands of historical records by hand is impractical for an individual buyer.</a:t>
            </a:r>
            <a:endParaRPr lang="en-US" sz="1180" dirty="0"/>
          </a:p>
        </p:txBody>
      </p:sp>
      <p:sp>
        <p:nvSpPr>
          <p:cNvPr id="18" name="Shape 16"/>
          <p:cNvSpPr/>
          <p:nvPr/>
        </p:nvSpPr>
        <p:spPr>
          <a:xfrm>
            <a:off x="566928" y="4919472"/>
            <a:ext cx="365760" cy="365760"/>
          </a:xfrm>
          <a:prstGeom prst="ellipse">
            <a:avLst/>
          </a:prstGeom>
          <a:solidFill>
            <a:srgbClr val="1B365D"/>
          </a:solidFill>
          <a:ln w="12700">
            <a:solidFill>
              <a:srgbClr val="1B365D"/>
            </a:solidFill>
            <a:prstDash val="solid"/>
          </a:ln>
        </p:spPr>
      </p:sp>
      <p:sp>
        <p:nvSpPr>
          <p:cNvPr id="19" name="Text 17"/>
          <p:cNvSpPr/>
          <p:nvPr/>
        </p:nvSpPr>
        <p:spPr>
          <a:xfrm>
            <a:off x="566928" y="49194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15568" y="4882896"/>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Learning from historical data</a:t>
            </a:r>
            <a:endParaRPr lang="en-US" sz="1350" dirty="0"/>
          </a:p>
        </p:txBody>
      </p:sp>
      <p:sp>
        <p:nvSpPr>
          <p:cNvPr id="21" name="Text 19"/>
          <p:cNvSpPr/>
          <p:nvPr/>
        </p:nvSpPr>
        <p:spPr>
          <a:xfrm>
            <a:off x="1115568" y="5129784"/>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A regression model can learn these patterns from labelled records and generalise to unseen properties.</a:t>
            </a:r>
            <a:endParaRPr lang="en-US" sz="1180" dirty="0"/>
          </a:p>
        </p:txBody>
      </p:sp>
      <p:sp>
        <p:nvSpPr>
          <p:cNvPr id="22" name="Shape 20"/>
          <p:cNvSpPr/>
          <p:nvPr/>
        </p:nvSpPr>
        <p:spPr>
          <a:xfrm>
            <a:off x="566928" y="5577840"/>
            <a:ext cx="365760" cy="365760"/>
          </a:xfrm>
          <a:prstGeom prst="ellipse">
            <a:avLst/>
          </a:prstGeom>
          <a:solidFill>
            <a:srgbClr val="1B365D"/>
          </a:solidFill>
          <a:ln w="12700">
            <a:solidFill>
              <a:srgbClr val="1B365D"/>
            </a:solidFill>
            <a:prstDash val="solid"/>
          </a:ln>
        </p:spPr>
      </p:sp>
      <p:sp>
        <p:nvSpPr>
          <p:cNvPr id="23" name="Text 21"/>
          <p:cNvSpPr/>
          <p:nvPr/>
        </p:nvSpPr>
        <p:spPr>
          <a:xfrm>
            <a:off x="566928" y="5577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15568" y="5541264"/>
            <a:ext cx="10332720" cy="246888"/>
          </a:xfrm>
          <a:prstGeom prst="rect">
            <a:avLst/>
          </a:prstGeom>
          <a:noFill/>
          <a:ln/>
        </p:spPr>
        <p:txBody>
          <a:bodyPr wrap="square" lIns="0" tIns="0" rIns="0" bIns="0" rtlCol="0" anchor="ctr"/>
          <a:lstStyle/>
          <a:p>
            <a:pPr indent="0" marL="0">
              <a:buNone/>
            </a:pPr>
            <a:r>
              <a:rPr lang="en-US" sz="1350" b="1" dirty="0">
                <a:solidFill>
                  <a:srgbClr val="1B365D"/>
                </a:solidFill>
                <a:latin typeface="Calibri" pitchFamily="34" charset="0"/>
                <a:ea typeface="Calibri" pitchFamily="34" charset="-122"/>
                <a:cs typeface="Calibri" pitchFamily="34" charset="-120"/>
              </a:rPr>
              <a:t>Interpretability requirement</a:t>
            </a:r>
            <a:endParaRPr lang="en-US" sz="1350" dirty="0"/>
          </a:p>
        </p:txBody>
      </p:sp>
      <p:sp>
        <p:nvSpPr>
          <p:cNvPr id="25" name="Text 23"/>
          <p:cNvSpPr/>
          <p:nvPr/>
        </p:nvSpPr>
        <p:spPr>
          <a:xfrm>
            <a:off x="1115568" y="5788152"/>
            <a:ext cx="10332720" cy="246888"/>
          </a:xfrm>
          <a:prstGeom prst="rect">
            <a:avLst/>
          </a:prstGeom>
          <a:noFill/>
          <a:ln/>
        </p:spPr>
        <p:txBody>
          <a:bodyPr wrap="square" lIns="0" tIns="0" rIns="0" bIns="0" rtlCol="0" anchor="ctr"/>
          <a:lstStyle/>
          <a:p>
            <a:pPr indent="0" marL="0">
              <a:buNone/>
            </a:pPr>
            <a:r>
              <a:rPr lang="en-US" sz="1180" dirty="0">
                <a:solidFill>
                  <a:srgbClr val="5C6675"/>
                </a:solidFill>
                <a:latin typeface="Calibri" pitchFamily="34" charset="0"/>
                <a:ea typeface="Calibri" pitchFamily="34" charset="-122"/>
                <a:cs typeface="Calibri" pitchFamily="34" charset="-120"/>
              </a:rPr>
              <a:t>The system should indicate which features influenced a prediction, not only produce a number.</a:t>
            </a:r>
            <a:endParaRPr lang="en-US" sz="1180" dirty="0"/>
          </a:p>
        </p:txBody>
      </p:sp>
      <p:sp>
        <p:nvSpPr>
          <p:cNvPr id="26" name="Text 24"/>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AIM AND SCOPE</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66928" y="1353312"/>
            <a:ext cx="11027664" cy="713232"/>
          </a:xfrm>
          <a:prstGeom prst="roundRect">
            <a:avLst>
              <a:gd name="adj" fmla="val 7692"/>
            </a:avLst>
          </a:prstGeom>
          <a:solidFill>
            <a:srgbClr val="F4F6F9"/>
          </a:solidFill>
          <a:ln w="17780">
            <a:solidFill>
              <a:srgbClr val="C2703A"/>
            </a:solidFill>
            <a:prstDash val="solid"/>
          </a:ln>
        </p:spPr>
      </p:sp>
      <p:sp>
        <p:nvSpPr>
          <p:cNvPr id="5" name="Text 3"/>
          <p:cNvSpPr/>
          <p:nvPr/>
        </p:nvSpPr>
        <p:spPr>
          <a:xfrm>
            <a:off x="841248" y="1353312"/>
            <a:ext cx="10479024" cy="713232"/>
          </a:xfrm>
          <a:prstGeom prst="rect">
            <a:avLst/>
          </a:prstGeom>
          <a:noFill/>
          <a:ln/>
        </p:spPr>
        <p:txBody>
          <a:bodyPr wrap="square" lIns="0" tIns="0" rIns="0" bIns="0" rtlCol="0" anchor="ctr"/>
          <a:lstStyle/>
          <a:p>
            <a:pPr indent="0" marL="0">
              <a:buNone/>
            </a:pPr>
            <a:r>
              <a:rPr lang="en-US" sz="1400" b="1" dirty="0">
                <a:solidFill>
                  <a:srgbClr val="C2703A"/>
                </a:solidFill>
                <a:latin typeface="Calibri" pitchFamily="34" charset="0"/>
                <a:ea typeface="Calibri" pitchFamily="34" charset="-122"/>
                <a:cs typeface="Calibri" pitchFamily="34" charset="-120"/>
              </a:rPr>
              <a:t>Primary objective:  </a:t>
            </a:r>
            <a:pPr indent="0" marL="0">
              <a:buNone/>
            </a:pPr>
            <a:r>
              <a:rPr lang="en-US" sz="1400" dirty="0">
                <a:solidFill>
                  <a:srgbClr val="1F2430"/>
                </a:solidFill>
                <a:latin typeface="Calibri" pitchFamily="34" charset="0"/>
                <a:ea typeface="Calibri" pitchFamily="34" charset="-122"/>
                <a:cs typeface="Calibri" pitchFamily="34" charset="-120"/>
              </a:rPr>
              <a:t>to develop and evaluate a machine learning model for residential property price prediction.</a:t>
            </a:r>
            <a:endParaRPr lang="en-US" sz="1400" dirty="0"/>
          </a:p>
        </p:txBody>
      </p:sp>
      <p:sp>
        <p:nvSpPr>
          <p:cNvPr id="6" name="Shape 4"/>
          <p:cNvSpPr/>
          <p:nvPr/>
        </p:nvSpPr>
        <p:spPr>
          <a:xfrm>
            <a:off x="566928" y="2395728"/>
            <a:ext cx="365760" cy="365760"/>
          </a:xfrm>
          <a:prstGeom prst="ellipse">
            <a:avLst/>
          </a:prstGeom>
          <a:solidFill>
            <a:srgbClr val="1B365D"/>
          </a:solidFill>
          <a:ln w="12700">
            <a:solidFill>
              <a:srgbClr val="1B365D"/>
            </a:solidFill>
            <a:prstDash val="solid"/>
          </a:ln>
        </p:spPr>
      </p:sp>
      <p:sp>
        <p:nvSpPr>
          <p:cNvPr id="7" name="Text 5"/>
          <p:cNvSpPr/>
          <p:nvPr/>
        </p:nvSpPr>
        <p:spPr>
          <a:xfrm>
            <a:off x="566928"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97280" y="2377440"/>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Understand and preprocess the selected dataset.</a:t>
            </a:r>
            <a:endParaRPr lang="en-US" sz="1250" dirty="0"/>
          </a:p>
        </p:txBody>
      </p:sp>
      <p:sp>
        <p:nvSpPr>
          <p:cNvPr id="9" name="Shape 7"/>
          <p:cNvSpPr/>
          <p:nvPr/>
        </p:nvSpPr>
        <p:spPr>
          <a:xfrm>
            <a:off x="566928" y="3072384"/>
            <a:ext cx="365760" cy="365760"/>
          </a:xfrm>
          <a:prstGeom prst="ellipse">
            <a:avLst/>
          </a:prstGeom>
          <a:solidFill>
            <a:srgbClr val="1B365D"/>
          </a:solidFill>
          <a:ln w="12700">
            <a:solidFill>
              <a:srgbClr val="1B365D"/>
            </a:solidFill>
            <a:prstDash val="solid"/>
          </a:ln>
        </p:spPr>
      </p:sp>
      <p:sp>
        <p:nvSpPr>
          <p:cNvPr id="10" name="Text 8"/>
          <p:cNvSpPr/>
          <p:nvPr/>
        </p:nvSpPr>
        <p:spPr>
          <a:xfrm>
            <a:off x="566928"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097280" y="3054096"/>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Perform statistical analysis and exploratory data analysis.</a:t>
            </a:r>
            <a:endParaRPr lang="en-US" sz="1250" dirty="0"/>
          </a:p>
        </p:txBody>
      </p:sp>
      <p:sp>
        <p:nvSpPr>
          <p:cNvPr id="12" name="Shape 10"/>
          <p:cNvSpPr/>
          <p:nvPr/>
        </p:nvSpPr>
        <p:spPr>
          <a:xfrm>
            <a:off x="566928" y="3749040"/>
            <a:ext cx="365760" cy="365760"/>
          </a:xfrm>
          <a:prstGeom prst="ellipse">
            <a:avLst/>
          </a:prstGeom>
          <a:solidFill>
            <a:srgbClr val="1B365D"/>
          </a:solidFill>
          <a:ln w="12700">
            <a:solidFill>
              <a:srgbClr val="1B365D"/>
            </a:solidFill>
            <a:prstDash val="solid"/>
          </a:ln>
        </p:spPr>
      </p:sp>
      <p:sp>
        <p:nvSpPr>
          <p:cNvPr id="13" name="Text 11"/>
          <p:cNvSpPr/>
          <p:nvPr/>
        </p:nvSpPr>
        <p:spPr>
          <a:xfrm>
            <a:off x="56692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97280" y="3730752"/>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Identify the features that influence property price.</a:t>
            </a:r>
            <a:endParaRPr lang="en-US" sz="1250" dirty="0"/>
          </a:p>
        </p:txBody>
      </p:sp>
      <p:sp>
        <p:nvSpPr>
          <p:cNvPr id="15" name="Shape 13"/>
          <p:cNvSpPr/>
          <p:nvPr/>
        </p:nvSpPr>
        <p:spPr>
          <a:xfrm>
            <a:off x="566928" y="4425696"/>
            <a:ext cx="365760" cy="365760"/>
          </a:xfrm>
          <a:prstGeom prst="ellipse">
            <a:avLst/>
          </a:prstGeom>
          <a:solidFill>
            <a:srgbClr val="1B365D"/>
          </a:solidFill>
          <a:ln w="12700">
            <a:solidFill>
              <a:srgbClr val="1B365D"/>
            </a:solidFill>
            <a:prstDash val="solid"/>
          </a:ln>
        </p:spPr>
      </p:sp>
      <p:sp>
        <p:nvSpPr>
          <p:cNvPr id="16" name="Text 14"/>
          <p:cNvSpPr/>
          <p:nvPr/>
        </p:nvSpPr>
        <p:spPr>
          <a:xfrm>
            <a:off x="566928" y="4425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097280" y="4407408"/>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Engineer property-level and location-level features.</a:t>
            </a:r>
            <a:endParaRPr lang="en-US" sz="1250" dirty="0"/>
          </a:p>
        </p:txBody>
      </p:sp>
      <p:sp>
        <p:nvSpPr>
          <p:cNvPr id="18" name="Shape 16"/>
          <p:cNvSpPr/>
          <p:nvPr/>
        </p:nvSpPr>
        <p:spPr>
          <a:xfrm>
            <a:off x="566928" y="5102352"/>
            <a:ext cx="365760" cy="365760"/>
          </a:xfrm>
          <a:prstGeom prst="ellipse">
            <a:avLst/>
          </a:prstGeom>
          <a:solidFill>
            <a:srgbClr val="1B365D"/>
          </a:solidFill>
          <a:ln w="12700">
            <a:solidFill>
              <a:srgbClr val="1B365D"/>
            </a:solidFill>
            <a:prstDash val="solid"/>
          </a:ln>
        </p:spPr>
      </p:sp>
      <p:sp>
        <p:nvSpPr>
          <p:cNvPr id="19" name="Text 17"/>
          <p:cNvSpPr/>
          <p:nvPr/>
        </p:nvSpPr>
        <p:spPr>
          <a:xfrm>
            <a:off x="566928"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097280" y="5084064"/>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Train several regression models on the prepared data.</a:t>
            </a:r>
            <a:endParaRPr lang="en-US" sz="1250" dirty="0"/>
          </a:p>
        </p:txBody>
      </p:sp>
      <p:sp>
        <p:nvSpPr>
          <p:cNvPr id="21" name="Shape 19"/>
          <p:cNvSpPr/>
          <p:nvPr/>
        </p:nvSpPr>
        <p:spPr>
          <a:xfrm>
            <a:off x="6190488" y="2395728"/>
            <a:ext cx="365760" cy="365760"/>
          </a:xfrm>
          <a:prstGeom prst="ellipse">
            <a:avLst/>
          </a:prstGeom>
          <a:solidFill>
            <a:srgbClr val="1B365D"/>
          </a:solidFill>
          <a:ln w="12700">
            <a:solidFill>
              <a:srgbClr val="1B365D"/>
            </a:solidFill>
            <a:prstDash val="solid"/>
          </a:ln>
        </p:spPr>
      </p:sp>
      <p:sp>
        <p:nvSpPr>
          <p:cNvPr id="22" name="Text 20"/>
          <p:cNvSpPr/>
          <p:nvPr/>
        </p:nvSpPr>
        <p:spPr>
          <a:xfrm>
            <a:off x="6190488"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6720840" y="2377440"/>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Compare model performance under a common evaluation protocol.</a:t>
            </a:r>
            <a:endParaRPr lang="en-US" sz="1250" dirty="0"/>
          </a:p>
        </p:txBody>
      </p:sp>
      <p:sp>
        <p:nvSpPr>
          <p:cNvPr id="24" name="Shape 22"/>
          <p:cNvSpPr/>
          <p:nvPr/>
        </p:nvSpPr>
        <p:spPr>
          <a:xfrm>
            <a:off x="6190488" y="3072384"/>
            <a:ext cx="365760" cy="365760"/>
          </a:xfrm>
          <a:prstGeom prst="ellipse">
            <a:avLst/>
          </a:prstGeom>
          <a:solidFill>
            <a:srgbClr val="1B365D"/>
          </a:solidFill>
          <a:ln w="12700">
            <a:solidFill>
              <a:srgbClr val="1B365D"/>
            </a:solidFill>
            <a:prstDash val="solid"/>
          </a:ln>
        </p:spPr>
      </p:sp>
      <p:sp>
        <p:nvSpPr>
          <p:cNvPr id="25" name="Text 23"/>
          <p:cNvSpPr/>
          <p:nvPr/>
        </p:nvSpPr>
        <p:spPr>
          <a:xfrm>
            <a:off x="6190488"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p:nvPr/>
        </p:nvSpPr>
        <p:spPr>
          <a:xfrm>
            <a:off x="6720840" y="3054096"/>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Evaluate predictions using MAE, RMSE and R².</a:t>
            </a:r>
            <a:endParaRPr lang="en-US" sz="1250" dirty="0"/>
          </a:p>
        </p:txBody>
      </p:sp>
      <p:sp>
        <p:nvSpPr>
          <p:cNvPr id="27" name="Shape 25"/>
          <p:cNvSpPr/>
          <p:nvPr/>
        </p:nvSpPr>
        <p:spPr>
          <a:xfrm>
            <a:off x="6190488" y="3749040"/>
            <a:ext cx="365760" cy="365760"/>
          </a:xfrm>
          <a:prstGeom prst="ellipse">
            <a:avLst/>
          </a:prstGeom>
          <a:solidFill>
            <a:srgbClr val="1B365D"/>
          </a:solidFill>
          <a:ln w="12700">
            <a:solidFill>
              <a:srgbClr val="1B365D"/>
            </a:solidFill>
            <a:prstDash val="solid"/>
          </a:ln>
        </p:spPr>
      </p:sp>
      <p:sp>
        <p:nvSpPr>
          <p:cNvPr id="28" name="Text 26"/>
          <p:cNvSpPr/>
          <p:nvPr/>
        </p:nvSpPr>
        <p:spPr>
          <a:xfrm>
            <a:off x="619048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p:nvPr/>
        </p:nvSpPr>
        <p:spPr>
          <a:xfrm>
            <a:off x="6720840" y="3730752"/>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Analyse feature importance for the selected model.</a:t>
            </a:r>
            <a:endParaRPr lang="en-US" sz="1250" dirty="0"/>
          </a:p>
        </p:txBody>
      </p:sp>
      <p:sp>
        <p:nvSpPr>
          <p:cNvPr id="30" name="Shape 28"/>
          <p:cNvSpPr/>
          <p:nvPr/>
        </p:nvSpPr>
        <p:spPr>
          <a:xfrm>
            <a:off x="6190488" y="4425696"/>
            <a:ext cx="365760" cy="365760"/>
          </a:xfrm>
          <a:prstGeom prst="ellipse">
            <a:avLst/>
          </a:prstGeom>
          <a:solidFill>
            <a:srgbClr val="1B365D"/>
          </a:solidFill>
          <a:ln w="12700">
            <a:solidFill>
              <a:srgbClr val="1B365D"/>
            </a:solidFill>
            <a:prstDash val="solid"/>
          </a:ln>
        </p:spPr>
      </p:sp>
      <p:sp>
        <p:nvSpPr>
          <p:cNvPr id="31" name="Text 29"/>
          <p:cNvSpPr/>
          <p:nvPr/>
        </p:nvSpPr>
        <p:spPr>
          <a:xfrm>
            <a:off x="6190488" y="4425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p:nvPr/>
        </p:nvSpPr>
        <p:spPr>
          <a:xfrm>
            <a:off x="6720840" y="4407408"/>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Explore explainable AI methods for interpreting predictions.</a:t>
            </a:r>
            <a:endParaRPr lang="en-US" sz="1250" dirty="0"/>
          </a:p>
        </p:txBody>
      </p:sp>
      <p:sp>
        <p:nvSpPr>
          <p:cNvPr id="33" name="Shape 31"/>
          <p:cNvSpPr/>
          <p:nvPr/>
        </p:nvSpPr>
        <p:spPr>
          <a:xfrm>
            <a:off x="6190488" y="5102352"/>
            <a:ext cx="365760" cy="365760"/>
          </a:xfrm>
          <a:prstGeom prst="ellipse">
            <a:avLst/>
          </a:prstGeom>
          <a:solidFill>
            <a:srgbClr val="1B365D"/>
          </a:solidFill>
          <a:ln w="12700">
            <a:solidFill>
              <a:srgbClr val="1B365D"/>
            </a:solidFill>
            <a:prstDash val="solid"/>
          </a:ln>
        </p:spPr>
      </p:sp>
      <p:sp>
        <p:nvSpPr>
          <p:cNvPr id="34" name="Text 32"/>
          <p:cNvSpPr/>
          <p:nvPr/>
        </p:nvSpPr>
        <p:spPr>
          <a:xfrm>
            <a:off x="6190488"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p:nvPr/>
        </p:nvSpPr>
        <p:spPr>
          <a:xfrm>
            <a:off x="6720840" y="5084064"/>
            <a:ext cx="4846320" cy="475488"/>
          </a:xfrm>
          <a:prstGeom prst="rect">
            <a:avLst/>
          </a:prstGeom>
          <a:noFill/>
          <a:ln/>
        </p:spPr>
        <p:txBody>
          <a:bodyPr wrap="square" lIns="0" tIns="0" rIns="0" bIns="0" rtlCol="0" anchor="ctr"/>
          <a:lstStyle/>
          <a:p>
            <a:pPr indent="0" marL="0">
              <a:lnSpc>
                <a:spcPts val="1600"/>
              </a:lnSpc>
              <a:buNone/>
            </a:pPr>
            <a:r>
              <a:rPr lang="en-US" sz="1250" dirty="0">
                <a:solidFill>
                  <a:srgbClr val="1F2430"/>
                </a:solidFill>
                <a:latin typeface="Calibri" pitchFamily="34" charset="0"/>
                <a:ea typeface="Calibri" pitchFamily="34" charset="-122"/>
                <a:cs typeface="Calibri" pitchFamily="34" charset="-120"/>
              </a:rPr>
              <a:t>Use the resulting model as the basis for a future application.</a:t>
            </a:r>
            <a:endParaRPr lang="en-US" sz="1250" dirty="0"/>
          </a:p>
        </p:txBody>
      </p:sp>
      <p:sp>
        <p:nvSpPr>
          <p:cNvPr id="36" name="Text 34"/>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5</a:t>
            </a:r>
            <a:endParaRPr lang="en-US" sz="1000" dirty="0"/>
          </a:p>
        </p:txBody>
      </p:sp>
      <p:sp>
        <p:nvSpPr>
          <p:cNvPr id="37" name="Text 35"/>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Dataset Description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6858000" cy="914400"/>
        </p:xfrm>
        <a:graphic>
          <a:graphicData uri="http://schemas.openxmlformats.org/drawingml/2006/table">
            <a:tbl>
              <a:tblPr/>
              <a:tblGrid>
                <a:gridCol w="2286000"/>
                <a:gridCol w="4572000"/>
              </a:tblGrid>
              <a:tr h="3063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Details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Bengaluru House Price dataset (public, tabular)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Publicly mirrored CSV (GitHub); licence unconfirmed</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Records (raw)</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13,320 rows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Attributes (raw)</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9 columns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Records after cleaning</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12,038 rows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Distinct localities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1,203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Target 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Price per sq.ft (derived from price and area)</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Task type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Supervised regression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6324">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200" dirty="0">
                          <a:solidFill>
                            <a:srgbClr val="1F2430"/>
                          </a:solidFill>
                          <a:latin typeface="Calibri" pitchFamily="34" charset="0"/>
                          <a:ea typeface="Calibri" pitchFamily="34" charset="-122"/>
                          <a:cs typeface="Calibri" pitchFamily="34" charset="-120"/>
                        </a:rPr>
                        <a:t>Residential real estate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5" name="Shape 2"/>
          <p:cNvSpPr/>
          <p:nvPr/>
        </p:nvSpPr>
        <p:spPr>
          <a:xfrm>
            <a:off x="7699248" y="1371600"/>
            <a:ext cx="3913632" cy="2148840"/>
          </a:xfrm>
          <a:prstGeom prst="roundRect">
            <a:avLst>
              <a:gd name="adj" fmla="val 2553"/>
            </a:avLst>
          </a:prstGeom>
          <a:solidFill>
            <a:srgbClr val="F4F6F9"/>
          </a:solidFill>
          <a:ln w="12700">
            <a:solidFill>
              <a:srgbClr val="D6DCE5"/>
            </a:solidFill>
            <a:prstDash val="solid"/>
          </a:ln>
        </p:spPr>
      </p:sp>
      <p:sp>
        <p:nvSpPr>
          <p:cNvPr id="6" name="Text 3"/>
          <p:cNvSpPr/>
          <p:nvPr/>
        </p:nvSpPr>
        <p:spPr>
          <a:xfrm>
            <a:off x="7936992" y="1536192"/>
            <a:ext cx="3474720" cy="256032"/>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Raw attributes</a:t>
            </a:r>
            <a:endParaRPr lang="en-US" sz="1350" dirty="0"/>
          </a:p>
        </p:txBody>
      </p:sp>
      <p:sp>
        <p:nvSpPr>
          <p:cNvPr id="7" name="Text 4"/>
          <p:cNvSpPr/>
          <p:nvPr/>
        </p:nvSpPr>
        <p:spPr>
          <a:xfrm>
            <a:off x="7936992" y="1847088"/>
            <a:ext cx="3456432" cy="1554480"/>
          </a:xfrm>
          <a:prstGeom prst="rect">
            <a:avLst/>
          </a:prstGeom>
          <a:noFill/>
          <a:ln/>
        </p:spPr>
        <p:txBody>
          <a:bodyPr wrap="square" lIns="0" tIns="0" rIns="0" bIns="0" rtlCol="0" anchor="ctr"/>
          <a:lstStyle/>
          <a:p>
            <a:pPr indent="0" marL="0">
              <a:lnSpc>
                <a:spcPts val="1900"/>
              </a:lnSpc>
              <a:buNone/>
            </a:pPr>
            <a:r>
              <a:rPr lang="en-US" sz="1200" dirty="0">
                <a:solidFill>
                  <a:srgbClr val="1F2430"/>
                </a:solidFill>
                <a:latin typeface="Calibri" pitchFamily="34" charset="0"/>
                <a:ea typeface="Calibri" pitchFamily="34" charset="-122"/>
                <a:cs typeface="Calibri" pitchFamily="34" charset="-120"/>
              </a:rPr>
              <a:t>area_type  ·  availability  ·  location  ·  size  ·  society  ·  total_sqft  ·  bath  ·  balcony  ·  price</a:t>
            </a:r>
            <a:endParaRPr lang="en-US" sz="1200" dirty="0"/>
          </a:p>
        </p:txBody>
      </p:sp>
      <p:sp>
        <p:nvSpPr>
          <p:cNvPr id="8" name="Shape 5"/>
          <p:cNvSpPr/>
          <p:nvPr/>
        </p:nvSpPr>
        <p:spPr>
          <a:xfrm>
            <a:off x="7699248" y="3675888"/>
            <a:ext cx="3913632" cy="2121408"/>
          </a:xfrm>
          <a:prstGeom prst="roundRect">
            <a:avLst>
              <a:gd name="adj" fmla="val 2586"/>
            </a:avLst>
          </a:prstGeom>
          <a:solidFill>
            <a:srgbClr val="FDF6EF"/>
          </a:solidFill>
          <a:ln w="12700">
            <a:solidFill>
              <a:srgbClr val="D6DCE5"/>
            </a:solidFill>
            <a:prstDash val="solid"/>
          </a:ln>
        </p:spPr>
      </p:sp>
      <p:sp>
        <p:nvSpPr>
          <p:cNvPr id="9" name="Text 6"/>
          <p:cNvSpPr/>
          <p:nvPr/>
        </p:nvSpPr>
        <p:spPr>
          <a:xfrm>
            <a:off x="7936992" y="3840480"/>
            <a:ext cx="3474720" cy="256032"/>
          </a:xfrm>
          <a:prstGeom prst="rect">
            <a:avLst/>
          </a:prstGeom>
          <a:noFill/>
          <a:ln/>
        </p:spPr>
        <p:txBody>
          <a:bodyPr wrap="square" lIns="0" tIns="0" rIns="0" bIns="0" rtlCol="0" anchor="ctr"/>
          <a:lstStyle/>
          <a:p>
            <a:pPr indent="0" marL="0">
              <a:buNone/>
            </a:pPr>
            <a:r>
              <a:rPr lang="en-US" sz="1350" b="1" dirty="0">
                <a:solidFill>
                  <a:srgbClr val="C2703A"/>
                </a:solidFill>
                <a:latin typeface="Cambria" pitchFamily="34" charset="0"/>
                <a:ea typeface="Cambria" pitchFamily="34" charset="-122"/>
                <a:cs typeface="Cambria" pitchFamily="34" charset="-120"/>
              </a:rPr>
              <a:t>Note on data provenance</a:t>
            </a:r>
            <a:endParaRPr lang="en-US" sz="1350" dirty="0"/>
          </a:p>
        </p:txBody>
      </p:sp>
      <p:sp>
        <p:nvSpPr>
          <p:cNvPr id="10" name="Text 7"/>
          <p:cNvSpPr/>
          <p:nvPr/>
        </p:nvSpPr>
        <p:spPr>
          <a:xfrm>
            <a:off x="7936992" y="4151376"/>
            <a:ext cx="3456432" cy="155448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Calibri" pitchFamily="34" charset="0"/>
                <a:ea typeface="Calibri" pitchFamily="34" charset="-122"/>
                <a:cs typeface="Calibri" pitchFamily="34" charset="-120"/>
              </a:rPr>
              <a:t>The dataset contains listed asking prices rather than registered transaction values. Registered transaction prices are not published publicly in Karnataka. This distinction is stated explicitly and will be carried into the interpretation of results.</a:t>
            </a:r>
            <a:endParaRPr lang="en-US" sz="115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6</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FEATURE GROUPS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Dataset Features</a:t>
            </a:r>
            <a:endParaRPr lang="en-US" sz="3000" dirty="0"/>
          </a:p>
        </p:txBody>
      </p:sp>
      <p:sp>
        <p:nvSpPr>
          <p:cNvPr id="4" name="Text 2"/>
          <p:cNvSpPr/>
          <p:nvPr/>
        </p:nvSpPr>
        <p:spPr>
          <a:xfrm>
            <a:off x="566928" y="1335024"/>
            <a:ext cx="11027664" cy="274320"/>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Attributes are grouped by the aspect of the property they describe. Accessibility features are to be derived in the feature-engineering stage.</a:t>
            </a:r>
            <a:endParaRPr lang="en-US" sz="1250" dirty="0"/>
          </a:p>
        </p:txBody>
      </p:sp>
      <p:sp>
        <p:nvSpPr>
          <p:cNvPr id="5" name="Shape 3"/>
          <p:cNvSpPr/>
          <p:nvPr/>
        </p:nvSpPr>
        <p:spPr>
          <a:xfrm>
            <a:off x="566928" y="1755648"/>
            <a:ext cx="3493008" cy="3246120"/>
          </a:xfrm>
          <a:prstGeom prst="roundRect">
            <a:avLst>
              <a:gd name="adj" fmla="val 1690"/>
            </a:avLst>
          </a:prstGeom>
          <a:solidFill>
            <a:srgbClr val="F4F6F9"/>
          </a:solidFill>
          <a:ln w="12700">
            <a:solidFill>
              <a:srgbClr val="D6DCE5"/>
            </a:solidFill>
            <a:prstDash val="solid"/>
          </a:ln>
        </p:spPr>
      </p:sp>
      <p:sp>
        <p:nvSpPr>
          <p:cNvPr id="6" name="Text 4"/>
          <p:cNvSpPr/>
          <p:nvPr/>
        </p:nvSpPr>
        <p:spPr>
          <a:xfrm>
            <a:off x="786384" y="1956816"/>
            <a:ext cx="3108960" cy="274320"/>
          </a:xfrm>
          <a:prstGeom prst="rect">
            <a:avLst/>
          </a:prstGeom>
          <a:noFill/>
          <a:ln/>
        </p:spPr>
        <p:txBody>
          <a:bodyPr wrap="square" lIns="0" tIns="0" rIns="0" bIns="0" rtlCol="0" anchor="ctr"/>
          <a:lstStyle/>
          <a:p>
            <a:pPr indent="0" marL="0">
              <a:buNone/>
            </a:pPr>
            <a:r>
              <a:rPr lang="en-US" sz="1450" b="1" dirty="0">
                <a:solidFill>
                  <a:srgbClr val="1B365D"/>
                </a:solidFill>
                <a:latin typeface="Cambria" pitchFamily="34" charset="0"/>
                <a:ea typeface="Cambria" pitchFamily="34" charset="-122"/>
                <a:cs typeface="Cambria" pitchFamily="34" charset="-120"/>
              </a:rPr>
              <a:t>Property Features</a:t>
            </a:r>
            <a:endParaRPr lang="en-US" sz="1450" dirty="0"/>
          </a:p>
        </p:txBody>
      </p:sp>
      <p:sp>
        <p:nvSpPr>
          <p:cNvPr id="7" name="Text 5"/>
          <p:cNvSpPr/>
          <p:nvPr/>
        </p:nvSpPr>
        <p:spPr>
          <a:xfrm>
            <a:off x="786384"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Configuration (BHK)</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Built-up area</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Bathrooms</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Balcony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Area type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Availability status</a:t>
            </a:r>
            <a:endParaRPr lang="en-US" sz="1200" dirty="0"/>
          </a:p>
        </p:txBody>
      </p:sp>
      <p:sp>
        <p:nvSpPr>
          <p:cNvPr id="8" name="Text 6"/>
          <p:cNvSpPr/>
          <p:nvPr/>
        </p:nvSpPr>
        <p:spPr>
          <a:xfrm>
            <a:off x="786384"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Available in the dataset</a:t>
            </a:r>
            <a:endParaRPr lang="en-US" sz="1050" dirty="0"/>
          </a:p>
        </p:txBody>
      </p:sp>
      <p:sp>
        <p:nvSpPr>
          <p:cNvPr id="9" name="Shape 7"/>
          <p:cNvSpPr/>
          <p:nvPr/>
        </p:nvSpPr>
        <p:spPr>
          <a:xfrm>
            <a:off x="4297680" y="1755648"/>
            <a:ext cx="3493008" cy="3246120"/>
          </a:xfrm>
          <a:prstGeom prst="roundRect">
            <a:avLst>
              <a:gd name="adj" fmla="val 1690"/>
            </a:avLst>
          </a:prstGeom>
          <a:solidFill>
            <a:srgbClr val="F4F6F9"/>
          </a:solidFill>
          <a:ln w="12700">
            <a:solidFill>
              <a:srgbClr val="D6DCE5"/>
            </a:solidFill>
            <a:prstDash val="solid"/>
          </a:ln>
        </p:spPr>
      </p:sp>
      <p:sp>
        <p:nvSpPr>
          <p:cNvPr id="10" name="Text 8"/>
          <p:cNvSpPr/>
          <p:nvPr/>
        </p:nvSpPr>
        <p:spPr>
          <a:xfrm>
            <a:off x="4517136" y="1956816"/>
            <a:ext cx="3108960" cy="274320"/>
          </a:xfrm>
          <a:prstGeom prst="rect">
            <a:avLst/>
          </a:prstGeom>
          <a:noFill/>
          <a:ln/>
        </p:spPr>
        <p:txBody>
          <a:bodyPr wrap="square" lIns="0" tIns="0" rIns="0" bIns="0" rtlCol="0" anchor="ctr"/>
          <a:lstStyle/>
          <a:p>
            <a:pPr indent="0" marL="0">
              <a:buNone/>
            </a:pPr>
            <a:r>
              <a:rPr lang="en-US" sz="1450" b="1" dirty="0">
                <a:solidFill>
                  <a:srgbClr val="1B365D"/>
                </a:solidFill>
                <a:latin typeface="Cambria" pitchFamily="34" charset="0"/>
                <a:ea typeface="Cambria" pitchFamily="34" charset="-122"/>
                <a:cs typeface="Cambria" pitchFamily="34" charset="-120"/>
              </a:rPr>
              <a:t>Location Features</a:t>
            </a:r>
            <a:endParaRPr lang="en-US" sz="1450" dirty="0"/>
          </a:p>
        </p:txBody>
      </p:sp>
      <p:sp>
        <p:nvSpPr>
          <p:cNvPr id="11" name="Text 9"/>
          <p:cNvSpPr/>
          <p:nvPr/>
        </p:nvSpPr>
        <p:spPr>
          <a:xfrm>
            <a:off x="4517136"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Locality name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Latitude — to be derived</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Longitude — to be derived</a:t>
            </a:r>
            <a:endParaRPr lang="en-US" sz="1200" dirty="0"/>
          </a:p>
        </p:txBody>
      </p:sp>
      <p:sp>
        <p:nvSpPr>
          <p:cNvPr id="12" name="Text 10"/>
          <p:cNvSpPr/>
          <p:nvPr/>
        </p:nvSpPr>
        <p:spPr>
          <a:xfrm>
            <a:off x="4517136"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Partly to be derived</a:t>
            </a:r>
            <a:endParaRPr lang="en-US" sz="1050" dirty="0"/>
          </a:p>
        </p:txBody>
      </p:sp>
      <p:sp>
        <p:nvSpPr>
          <p:cNvPr id="13" name="Shape 11"/>
          <p:cNvSpPr/>
          <p:nvPr/>
        </p:nvSpPr>
        <p:spPr>
          <a:xfrm>
            <a:off x="8028432" y="1755648"/>
            <a:ext cx="3493008" cy="3246120"/>
          </a:xfrm>
          <a:prstGeom prst="roundRect">
            <a:avLst>
              <a:gd name="adj" fmla="val 1690"/>
            </a:avLst>
          </a:prstGeom>
          <a:solidFill>
            <a:srgbClr val="F4F6F9"/>
          </a:solidFill>
          <a:ln w="12700">
            <a:solidFill>
              <a:srgbClr val="D6DCE5"/>
            </a:solidFill>
            <a:prstDash val="solid"/>
          </a:ln>
        </p:spPr>
      </p:sp>
      <p:sp>
        <p:nvSpPr>
          <p:cNvPr id="14" name="Text 12"/>
          <p:cNvSpPr/>
          <p:nvPr/>
        </p:nvSpPr>
        <p:spPr>
          <a:xfrm>
            <a:off x="8247888" y="1956816"/>
            <a:ext cx="3108960" cy="274320"/>
          </a:xfrm>
          <a:prstGeom prst="rect">
            <a:avLst/>
          </a:prstGeom>
          <a:noFill/>
          <a:ln/>
        </p:spPr>
        <p:txBody>
          <a:bodyPr wrap="square" lIns="0" tIns="0" rIns="0" bIns="0" rtlCol="0" anchor="ctr"/>
          <a:lstStyle/>
          <a:p>
            <a:pPr indent="0" marL="0">
              <a:buNone/>
            </a:pPr>
            <a:r>
              <a:rPr lang="en-US" sz="1450" b="1" dirty="0">
                <a:solidFill>
                  <a:srgbClr val="C2703A"/>
                </a:solidFill>
                <a:latin typeface="Cambria" pitchFamily="34" charset="0"/>
                <a:ea typeface="Cambria" pitchFamily="34" charset="-122"/>
                <a:cs typeface="Cambria" pitchFamily="34" charset="-120"/>
              </a:rPr>
              <a:t>Accessibility Features</a:t>
            </a:r>
            <a:endParaRPr lang="en-US" sz="1450" dirty="0"/>
          </a:p>
        </p:txBody>
      </p:sp>
      <p:sp>
        <p:nvSpPr>
          <p:cNvPr id="15" name="Text 13"/>
          <p:cNvSpPr/>
          <p:nvPr/>
        </p:nvSpPr>
        <p:spPr>
          <a:xfrm>
            <a:off x="8247888" y="2304288"/>
            <a:ext cx="3072384"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metro</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railway station</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bus stop</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hospital</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school</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Distance to major road</a:t>
            </a:r>
            <a:endParaRPr lang="en-US" sz="1200" dirty="0"/>
          </a:p>
        </p:txBody>
      </p:sp>
      <p:sp>
        <p:nvSpPr>
          <p:cNvPr id="16" name="Text 14"/>
          <p:cNvSpPr/>
          <p:nvPr/>
        </p:nvSpPr>
        <p:spPr>
          <a:xfrm>
            <a:off x="8247888" y="4617720"/>
            <a:ext cx="3072384" cy="237744"/>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To be computed</a:t>
            </a:r>
            <a:endParaRPr lang="en-US" sz="1050" dirty="0"/>
          </a:p>
        </p:txBody>
      </p:sp>
      <p:sp>
        <p:nvSpPr>
          <p:cNvPr id="17" name="Shape 15"/>
          <p:cNvSpPr/>
          <p:nvPr/>
        </p:nvSpPr>
        <p:spPr>
          <a:xfrm>
            <a:off x="566928" y="5193792"/>
            <a:ext cx="11027664" cy="658368"/>
          </a:xfrm>
          <a:prstGeom prst="roundRect">
            <a:avLst>
              <a:gd name="adj" fmla="val 8333"/>
            </a:avLst>
          </a:prstGeom>
          <a:solidFill>
            <a:srgbClr val="1B365D"/>
          </a:solidFill>
          <a:ln w="12700">
            <a:solidFill>
              <a:srgbClr val="1B365D"/>
            </a:solidFill>
            <a:prstDash val="solid"/>
          </a:ln>
        </p:spPr>
      </p:sp>
      <p:sp>
        <p:nvSpPr>
          <p:cNvPr id="18" name="Text 16"/>
          <p:cNvSpPr/>
          <p:nvPr/>
        </p:nvSpPr>
        <p:spPr>
          <a:xfrm>
            <a:off x="859536" y="5193792"/>
            <a:ext cx="10442448" cy="658368"/>
          </a:xfrm>
          <a:prstGeom prst="rect">
            <a:avLst/>
          </a:prstGeom>
          <a:noFill/>
          <a:ln/>
        </p:spPr>
        <p:txBody>
          <a:bodyPr wrap="square" lIns="0" tIns="0" rIns="0" bIns="0" rtlCol="0" anchor="ctr"/>
          <a:lstStyle/>
          <a:p>
            <a:pPr indent="0" marL="0">
              <a:buNone/>
            </a:pPr>
            <a:r>
              <a:rPr lang="en-US" sz="1350" b="1" dirty="0">
                <a:solidFill>
                  <a:srgbClr val="E8B98C"/>
                </a:solidFill>
                <a:latin typeface="Calibri" pitchFamily="34" charset="0"/>
                <a:ea typeface="Calibri" pitchFamily="34" charset="-122"/>
                <a:cs typeface="Calibri" pitchFamily="34" charset="-120"/>
              </a:rPr>
              <a:t>Target variable:   </a:t>
            </a:r>
            <a:pPr indent="0" marL="0">
              <a:buNone/>
            </a:pPr>
            <a:r>
              <a:rPr lang="en-US" sz="1350" b="1" dirty="0">
                <a:solidFill>
                  <a:srgbClr val="FFFFFF"/>
                </a:solidFill>
                <a:latin typeface="Calibri" pitchFamily="34" charset="0"/>
                <a:ea typeface="Calibri" pitchFamily="34" charset="-122"/>
                <a:cs typeface="Calibri" pitchFamily="34" charset="-120"/>
              </a:rPr>
              <a:t>Price per sq.ft (INR)</a:t>
            </a:r>
            <a:pPr indent="0" marL="0">
              <a:buNone/>
            </a:pPr>
            <a:r>
              <a:rPr lang="en-US" sz="1350" dirty="0">
                <a:solidFill>
                  <a:srgbClr val="C9D6E8"/>
                </a:solidFill>
                <a:latin typeface="Calibri" pitchFamily="34" charset="0"/>
                <a:ea typeface="Calibri" pitchFamily="34" charset="-122"/>
                <a:cs typeface="Calibri" pitchFamily="34" charset="-120"/>
              </a:rPr>
              <a:t>     — chosen over total price so that properties of different sizes remain comparable.</a:t>
            </a:r>
            <a:endParaRPr lang="en-US" sz="1350" dirty="0"/>
          </a:p>
        </p:txBody>
      </p:sp>
      <p:sp>
        <p:nvSpPr>
          <p:cNvPr id="19" name="Text 17"/>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7</a:t>
            </a:r>
            <a:endParaRPr lang="en-US" sz="1000" dirty="0"/>
          </a:p>
        </p:txBody>
      </p:sp>
      <p:sp>
        <p:nvSpPr>
          <p:cNvPr id="20" name="Text 18"/>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DESCRIPTIVE STATISTICS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Statistical Analysis of the Dataset</a:t>
            </a:r>
            <a:endParaRPr lang="en-US" sz="3000" dirty="0"/>
          </a:p>
        </p:txBody>
      </p:sp>
      <p:sp>
        <p:nvSpPr>
          <p:cNvPr id="4" name="Text 2"/>
          <p:cNvSpPr/>
          <p:nvPr/>
        </p:nvSpPr>
        <p:spPr>
          <a:xfrm>
            <a:off x="566928" y="1316736"/>
            <a:ext cx="11027664" cy="256032"/>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Descriptive statistics computed on the cleaned dataset (n = 12,038).</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82496"/>
          <a:ext cx="11027664" cy="914400"/>
        </p:xfrm>
        <a:graphic>
          <a:graphicData uri="http://schemas.openxmlformats.org/drawingml/2006/table">
            <a:tbl>
              <a:tblPr/>
              <a:tblGrid>
                <a:gridCol w="2212848"/>
                <a:gridCol w="969264"/>
                <a:gridCol w="1298448"/>
                <a:gridCol w="1152144"/>
                <a:gridCol w="1225296"/>
                <a:gridCol w="969264"/>
                <a:gridCol w="1060704"/>
                <a:gridCol w="1115568"/>
                <a:gridCol w="1024128"/>
              </a:tblGrid>
              <a:tr h="310896">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Area (sq.ft)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1,551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1,298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972</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1,112</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1,685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30,400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Price (INR)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1,02,90,047</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68,00,000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1,26,46,494</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9,00,000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48,50,000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1,10,00,000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29,12,00,000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BHK / 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Bathrooms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11,981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Balcony</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11,578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10896">
                <a:tc>
                  <a:txBody>
                    <a:bodyPr/>
                    <a:lstStyle/>
                    <a:p>
                      <a:pPr algn="r" indent="0" marL="0">
                        <a:buNone/>
                      </a:pPr>
                      <a:r>
                        <a:rPr lang="en-US" sz="1200" b="1" dirty="0">
                          <a:solidFill>
                            <a:srgbClr val="1B365D"/>
                          </a:solidFill>
                          <a:latin typeface="Calibri" pitchFamily="34" charset="0"/>
                          <a:ea typeface="Calibri" pitchFamily="34" charset="-122"/>
                          <a:cs typeface="Calibri" pitchFamily="34" charset="-120"/>
                        </a:rPr>
                        <a:t>Price per sq.ft (INR)</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12,038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6,015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5,226</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3,170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1,579</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4,198</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6,705</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37,500</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6" name="Text 3"/>
          <p:cNvSpPr/>
          <p:nvPr/>
        </p:nvSpPr>
        <p:spPr>
          <a:xfrm>
            <a:off x="566928" y="3913632"/>
            <a:ext cx="5486400"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Observations</a:t>
            </a:r>
            <a:endParaRPr lang="en-US" sz="1500" dirty="0"/>
          </a:p>
        </p:txBody>
      </p:sp>
      <p:sp>
        <p:nvSpPr>
          <p:cNvPr id="7" name="Shape 4"/>
          <p:cNvSpPr/>
          <p:nvPr/>
        </p:nvSpPr>
        <p:spPr>
          <a:xfrm>
            <a:off x="566928" y="4279392"/>
            <a:ext cx="347472" cy="347472"/>
          </a:xfrm>
          <a:prstGeom prst="ellipse">
            <a:avLst/>
          </a:prstGeom>
          <a:solidFill>
            <a:srgbClr val="1B365D"/>
          </a:solidFill>
          <a:ln w="12700">
            <a:solidFill>
              <a:srgbClr val="1B365D"/>
            </a:solidFill>
            <a:prstDash val="solid"/>
          </a:ln>
        </p:spPr>
      </p:sp>
      <p:sp>
        <p:nvSpPr>
          <p:cNvPr id="8" name="Text 5"/>
          <p:cNvSpPr/>
          <p:nvPr/>
        </p:nvSpPr>
        <p:spPr>
          <a:xfrm>
            <a:off x="566928" y="4279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78992" y="4242816"/>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Price per sq.ft is positively skewed (skewness = 3.086).</a:t>
            </a:r>
            <a:endParaRPr lang="en-US" sz="1250" dirty="0"/>
          </a:p>
        </p:txBody>
      </p:sp>
      <p:sp>
        <p:nvSpPr>
          <p:cNvPr id="10" name="Text 7"/>
          <p:cNvSpPr/>
          <p:nvPr/>
        </p:nvSpPr>
        <p:spPr>
          <a:xfrm>
            <a:off x="1078992" y="4471416"/>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The mean (6,015) exceeds the median (5,226), indicating a minority of high-priced properties pulling the average upward.</a:t>
            </a:r>
            <a:endParaRPr lang="en-US" sz="1150" dirty="0"/>
          </a:p>
        </p:txBody>
      </p:sp>
      <p:sp>
        <p:nvSpPr>
          <p:cNvPr id="11" name="Shape 8"/>
          <p:cNvSpPr/>
          <p:nvPr/>
        </p:nvSpPr>
        <p:spPr>
          <a:xfrm>
            <a:off x="566928" y="4882896"/>
            <a:ext cx="347472" cy="347472"/>
          </a:xfrm>
          <a:prstGeom prst="ellipse">
            <a:avLst/>
          </a:prstGeom>
          <a:solidFill>
            <a:srgbClr val="1B365D"/>
          </a:solidFill>
          <a:ln w="12700">
            <a:solidFill>
              <a:srgbClr val="1B365D"/>
            </a:solidFill>
            <a:prstDash val="solid"/>
          </a:ln>
        </p:spPr>
      </p:sp>
      <p:sp>
        <p:nvSpPr>
          <p:cNvPr id="12" name="Text 9"/>
          <p:cNvSpPr/>
          <p:nvPr/>
        </p:nvSpPr>
        <p:spPr>
          <a:xfrm>
            <a:off x="566928" y="48828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78992" y="4846320"/>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Built-up area is strongly right-skewed (skewness = 8.429).</a:t>
            </a:r>
            <a:endParaRPr lang="en-US" sz="1250" dirty="0"/>
          </a:p>
        </p:txBody>
      </p:sp>
      <p:sp>
        <p:nvSpPr>
          <p:cNvPr id="14" name="Text 11"/>
          <p:cNvSpPr/>
          <p:nvPr/>
        </p:nvSpPr>
        <p:spPr>
          <a:xfrm>
            <a:off x="1078992" y="5074920"/>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Values range from 300 to 30,400 sq.ft, so the median is the more representative measure of central tendency.</a:t>
            </a:r>
            <a:endParaRPr lang="en-US" sz="1150" dirty="0"/>
          </a:p>
        </p:txBody>
      </p:sp>
      <p:sp>
        <p:nvSpPr>
          <p:cNvPr id="15" name="Shape 12"/>
          <p:cNvSpPr/>
          <p:nvPr/>
        </p:nvSpPr>
        <p:spPr>
          <a:xfrm>
            <a:off x="566928" y="5486400"/>
            <a:ext cx="347472" cy="347472"/>
          </a:xfrm>
          <a:prstGeom prst="ellipse">
            <a:avLst/>
          </a:prstGeom>
          <a:solidFill>
            <a:srgbClr val="1B365D"/>
          </a:solidFill>
          <a:ln w="12700">
            <a:solidFill>
              <a:srgbClr val="1B365D"/>
            </a:solidFill>
            <a:prstDash val="solid"/>
          </a:ln>
        </p:spPr>
      </p:sp>
      <p:sp>
        <p:nvSpPr>
          <p:cNvPr id="16" name="Text 13"/>
          <p:cNvSpPr/>
          <p:nvPr/>
        </p:nvSpPr>
        <p:spPr>
          <a:xfrm>
            <a:off x="566928" y="54864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078992" y="5449824"/>
            <a:ext cx="10424160" cy="237744"/>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Configuration is concentrated in a narrow band.</a:t>
            </a:r>
            <a:endParaRPr lang="en-US" sz="1250" dirty="0"/>
          </a:p>
        </p:txBody>
      </p:sp>
      <p:sp>
        <p:nvSpPr>
          <p:cNvPr id="18" name="Text 15"/>
          <p:cNvSpPr/>
          <p:nvPr/>
        </p:nvSpPr>
        <p:spPr>
          <a:xfrm>
            <a:off x="1078992" y="5678424"/>
            <a:ext cx="10424160" cy="237744"/>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Mean BHK is 2.6 with a standard deviation of 1.0, indicating that 2 and 3 BHK properties dominate the dataset.</a:t>
            </a:r>
            <a:endParaRPr lang="en-US" sz="1150" dirty="0"/>
          </a:p>
        </p:txBody>
      </p:sp>
      <p:sp>
        <p:nvSpPr>
          <p:cNvPr id="19" name="Text 16"/>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8</a:t>
            </a:r>
            <a:endParaRPr lang="en-US" sz="1000" dirty="0"/>
          </a:p>
        </p:txBody>
      </p:sp>
      <p:sp>
        <p:nvSpPr>
          <p:cNvPr id="20" name="Text 17"/>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PREPROCESSING</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Data Quality Analysis</a:t>
            </a:r>
            <a:endParaRPr lang="en-US" sz="3000" dirty="0"/>
          </a:p>
        </p:txBody>
      </p:sp>
      <p:graphicFrame>
        <p:nvGraphicFramePr>
          <p:cNvPr id="4" name="Chart 0" descr=""/>
          <p:cNvGraphicFramePr/>
          <p:nvPr/>
        </p:nvGraphicFramePr>
        <p:xfrm>
          <a:off x="566928" y="1335024"/>
          <a:ext cx="5394960" cy="2377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3877056"/>
            <a:ext cx="5394960" cy="237744"/>
          </a:xfrm>
          <a:prstGeom prst="rect">
            <a:avLst/>
          </a:prstGeom>
          <a:noFill/>
          <a:ln/>
        </p:spPr>
        <p:txBody>
          <a:bodyPr wrap="square" lIns="0" tIns="0" rIns="0" bIns="0" rtlCol="0" anchor="ctr"/>
          <a:lstStyle/>
          <a:p>
            <a:pPr indent="0" marL="0">
              <a:buNone/>
            </a:pPr>
            <a:r>
              <a:rPr lang="en-US" sz="1150" b="1" dirty="0">
                <a:solidFill>
                  <a:srgbClr val="1B365D"/>
                </a:solidFill>
                <a:latin typeface="Calibri" pitchFamily="34" charset="0"/>
                <a:ea typeface="Calibri" pitchFamily="34" charset="-122"/>
                <a:cs typeface="Calibri" pitchFamily="34" charset="-120"/>
              </a:rPr>
              <a:t>Five-number summary and outlier count (1.5 × IQR rule)</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4169664"/>
          <a:ext cx="5394960" cy="914400"/>
        </p:xfrm>
        <a:graphic>
          <a:graphicData uri="http://schemas.openxmlformats.org/drawingml/2006/table">
            <a:tbl>
              <a:tblPr/>
              <a:tblGrid>
                <a:gridCol w="1481328"/>
                <a:gridCol w="603504"/>
                <a:gridCol w="603504"/>
                <a:gridCol w="676656"/>
                <a:gridCol w="603504"/>
                <a:gridCol w="694944"/>
                <a:gridCol w="73152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Outliers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29184">
                <a:tc>
                  <a:txBody>
                    <a:bodyPr/>
                    <a:lstStyle/>
                    <a:p>
                      <a:pPr algn="l" indent="0" marL="0">
                        <a:buNone/>
                      </a:pPr>
                      <a:r>
                        <a:rPr lang="en-US" sz="1050" b="1" dirty="0">
                          <a:solidFill>
                            <a:srgbClr val="1B365D"/>
                          </a:solidFill>
                          <a:latin typeface="Calibri" pitchFamily="34" charset="0"/>
                          <a:ea typeface="Calibri" pitchFamily="34" charset="-122"/>
                          <a:cs typeface="Calibri" pitchFamily="34" charset="-120"/>
                        </a:rPr>
                        <a:t>Area (sq.ft)</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1,112</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1,298</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1,685</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30,400</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b="1" dirty="0">
                          <a:solidFill>
                            <a:srgbClr val="C2703A"/>
                          </a:solidFill>
                          <a:latin typeface="Calibri" pitchFamily="34" charset="0"/>
                          <a:ea typeface="Calibri" pitchFamily="34" charset="-122"/>
                          <a:cs typeface="Calibri" pitchFamily="34" charset="-120"/>
                        </a:rPr>
                        <a:t>1,026</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050" b="1" dirty="0">
                          <a:solidFill>
                            <a:srgbClr val="1B365D"/>
                          </a:solidFill>
                          <a:latin typeface="Calibri" pitchFamily="34" charset="0"/>
                          <a:ea typeface="Calibri" pitchFamily="34" charset="-122"/>
                          <a:cs typeface="Calibri" pitchFamily="34" charset="-120"/>
                        </a:rPr>
                        <a:t>Price per sq.ft (INR)</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1,579</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4,198</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5,226</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6,705</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dirty="0">
                          <a:solidFill>
                            <a:srgbClr val="1F2430"/>
                          </a:solidFill>
                          <a:latin typeface="Calibri" pitchFamily="34" charset="0"/>
                          <a:ea typeface="Calibri" pitchFamily="34" charset="-122"/>
                          <a:cs typeface="Calibri" pitchFamily="34" charset="-120"/>
                        </a:rPr>
                        <a:t>37,500</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050" b="1" dirty="0">
                          <a:solidFill>
                            <a:srgbClr val="C2703A"/>
                          </a:solidFill>
                          <a:latin typeface="Calibri" pitchFamily="34" charset="0"/>
                          <a:ea typeface="Calibri" pitchFamily="34" charset="-122"/>
                          <a:cs typeface="Calibri" pitchFamily="34" charset="-120"/>
                        </a:rPr>
                        <a:t>855</a:t>
                      </a:r>
                      <a:endParaRPr lang="en-US" sz="10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7" name="Text 3"/>
          <p:cNvSpPr/>
          <p:nvPr/>
        </p:nvSpPr>
        <p:spPr>
          <a:xfrm>
            <a:off x="566928" y="5358384"/>
            <a:ext cx="5394960" cy="457200"/>
          </a:xfrm>
          <a:prstGeom prst="rect">
            <a:avLst/>
          </a:prstGeom>
          <a:noFill/>
          <a:ln/>
        </p:spPr>
        <p:txBody>
          <a:bodyPr wrap="square" lIns="0" tIns="0" rIns="0" bIns="0" rtlCol="0" anchor="ctr"/>
          <a:lstStyle/>
          <a:p>
            <a:pPr indent="0" marL="0">
              <a:lnSpc>
                <a:spcPts val="1400"/>
              </a:lnSpc>
              <a:buNone/>
            </a:pPr>
            <a:r>
              <a:rPr lang="en-US" sz="1080" i="1" dirty="0">
                <a:solidFill>
                  <a:srgbClr val="5C6675"/>
                </a:solidFill>
                <a:latin typeface="Calibri" pitchFamily="34" charset="0"/>
                <a:ea typeface="Calibri" pitchFamily="34" charset="-122"/>
                <a:cs typeface="Calibri" pitchFamily="34" charset="-120"/>
              </a:rPr>
              <a:t>The wide gap between Q3 and the maximum in both variables confirms the right-skew identified in the descriptive statistics.</a:t>
            </a:r>
            <a:endParaRPr lang="en-US" sz="108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99632" y="1371600"/>
          <a:ext cx="5394960" cy="914400"/>
        </p:xfrm>
        <a:graphic>
          <a:graphicData uri="http://schemas.openxmlformats.org/drawingml/2006/table">
            <a:tbl>
              <a:tblPr/>
              <a:tblGrid>
                <a:gridCol w="1965960"/>
                <a:gridCol w="3429000"/>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Quality check</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Duplicate records</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529 exact duplicate rows in the raw data</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society</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5,502 (41.3%) — column excluded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balcony</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609 (4.6%) — to be imputed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bath</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73 — to be imputed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Missing — size</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16 — records removed</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Outliers — area</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1,026 beyond 1.5 × IQR</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01752">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Outliers — price/sq.ft</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50" dirty="0">
                          <a:solidFill>
                            <a:srgbClr val="1F2430"/>
                          </a:solidFill>
                          <a:latin typeface="Calibri" pitchFamily="34" charset="0"/>
                          <a:ea typeface="Calibri" pitchFamily="34" charset="-122"/>
                          <a:cs typeface="Calibri" pitchFamily="34" charset="-120"/>
                        </a:rPr>
                        <a:t>855 beyond 1.5 × IQR</a:t>
                      </a:r>
                      <a:endParaRPr lang="en-US" sz="11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9" name="Shape 4"/>
          <p:cNvSpPr/>
          <p:nvPr/>
        </p:nvSpPr>
        <p:spPr>
          <a:xfrm>
            <a:off x="6199632" y="3968496"/>
            <a:ext cx="5394960" cy="2322576"/>
          </a:xfrm>
          <a:prstGeom prst="roundRect">
            <a:avLst>
              <a:gd name="adj" fmla="val 2362"/>
            </a:avLst>
          </a:prstGeom>
          <a:solidFill>
            <a:srgbClr val="F4F6F9"/>
          </a:solidFill>
          <a:ln w="12700">
            <a:solidFill>
              <a:srgbClr val="D6DCE5"/>
            </a:solidFill>
            <a:prstDash val="solid"/>
          </a:ln>
        </p:spPr>
      </p:sp>
      <p:sp>
        <p:nvSpPr>
          <p:cNvPr id="10" name="Text 5"/>
          <p:cNvSpPr/>
          <p:nvPr/>
        </p:nvSpPr>
        <p:spPr>
          <a:xfrm>
            <a:off x="6419088" y="4133088"/>
            <a:ext cx="4937760" cy="256032"/>
          </a:xfrm>
          <a:prstGeom prst="rect">
            <a:avLst/>
          </a:prstGeom>
          <a:noFill/>
          <a:ln/>
        </p:spPr>
        <p:txBody>
          <a:bodyPr wrap="square" lIns="0" tIns="0" rIns="0" bIns="0" rtlCol="0" anchor="ctr"/>
          <a:lstStyle/>
          <a:p>
            <a:pPr indent="0" marL="0">
              <a:buNone/>
            </a:pPr>
            <a:r>
              <a:rPr lang="en-US" sz="1350" b="1" dirty="0">
                <a:solidFill>
                  <a:srgbClr val="1B365D"/>
                </a:solidFill>
                <a:latin typeface="Cambria" pitchFamily="34" charset="0"/>
                <a:ea typeface="Cambria" pitchFamily="34" charset="-122"/>
                <a:cs typeface="Cambria" pitchFamily="34" charset="-120"/>
              </a:rPr>
              <a:t>Data type handling</a:t>
            </a:r>
            <a:endParaRPr lang="en-US" sz="1350" dirty="0"/>
          </a:p>
        </p:txBody>
      </p:sp>
      <p:sp>
        <p:nvSpPr>
          <p:cNvPr id="11" name="Text 6"/>
          <p:cNvSpPr/>
          <p:nvPr/>
        </p:nvSpPr>
        <p:spPr>
          <a:xfrm>
            <a:off x="6419088" y="4443984"/>
            <a:ext cx="4937760" cy="173736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total_sqft is stored as text and contains ranges (e.g. “1195 - 1440”) and alternative units, requiring parsing to a numeric value.</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size is text (e.g. “2 BHK”, “4 Bedroom”) and must be converted to an integer room count.</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area_type, availability and location are categorical and require encoding before model training.</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Data quality is addressed before training because unparsed and inconsistent values would otherwise propagate directly into the model.</a:t>
            </a:r>
            <a:endParaRPr lang="en-US" sz="1150" dirty="0"/>
          </a:p>
        </p:txBody>
      </p:sp>
      <p:sp>
        <p:nvSpPr>
          <p:cNvPr id="12" name="Text 7"/>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9</a:t>
            </a:r>
            <a:endParaRPr lang="en-US" sz="1000" dirty="0"/>
          </a:p>
        </p:txBody>
      </p:sp>
      <p:sp>
        <p:nvSpPr>
          <p:cNvPr id="13" name="Text 8"/>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DISTRIBUTION AND AREA</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Exploratory Data Analysis</a:t>
            </a:r>
            <a:endParaRPr lang="en-US" sz="3000" dirty="0"/>
          </a:p>
        </p:txBody>
      </p:sp>
      <p:graphicFrame>
        <p:nvGraphicFramePr>
          <p:cNvPr id="4" name="Chart 0" descr=""/>
          <p:cNvGraphicFramePr/>
          <p:nvPr/>
        </p:nvGraphicFramePr>
        <p:xfrm>
          <a:off x="566928" y="1335024"/>
          <a:ext cx="54864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72784" y="1335024"/>
          <a:ext cx="5321808" cy="32004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66928" y="4681728"/>
            <a:ext cx="5486400" cy="1463040"/>
          </a:xfrm>
          <a:prstGeom prst="roundRect">
            <a:avLst>
              <a:gd name="adj" fmla="val 3750"/>
            </a:avLst>
          </a:prstGeom>
          <a:solidFill>
            <a:srgbClr val="F4F6F9"/>
          </a:solidFill>
          <a:ln w="12700">
            <a:solidFill>
              <a:srgbClr val="D6DCE5"/>
            </a:solidFill>
            <a:prstDash val="solid"/>
          </a:ln>
        </p:spPr>
      </p:sp>
      <p:sp>
        <p:nvSpPr>
          <p:cNvPr id="7" name="Text 3"/>
          <p:cNvSpPr/>
          <p:nvPr/>
        </p:nvSpPr>
        <p:spPr>
          <a:xfrm>
            <a:off x="768096" y="4828032"/>
            <a:ext cx="502920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Price per sq.ft distribution</a:t>
            </a:r>
            <a:endParaRPr lang="en-US" sz="1250" dirty="0"/>
          </a:p>
        </p:txBody>
      </p:sp>
      <p:sp>
        <p:nvSpPr>
          <p:cNvPr id="8" name="Text 4"/>
          <p:cNvSpPr/>
          <p:nvPr/>
        </p:nvSpPr>
        <p:spPr>
          <a:xfrm>
            <a:off x="768096" y="5102352"/>
            <a:ext cx="5084064" cy="91440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The distribution is positively skewed (skewness = 3.086), with the majority of properties concentrated below the mean of ₹6,015 and a long right tail. This supports the use of the median as the representative measure.</a:t>
            </a:r>
            <a:endParaRPr lang="en-US" sz="1150" dirty="0"/>
          </a:p>
        </p:txBody>
      </p:sp>
      <p:sp>
        <p:nvSpPr>
          <p:cNvPr id="9" name="Shape 5"/>
          <p:cNvSpPr/>
          <p:nvPr/>
        </p:nvSpPr>
        <p:spPr>
          <a:xfrm>
            <a:off x="6272784" y="4681728"/>
            <a:ext cx="5321808" cy="1463040"/>
          </a:xfrm>
          <a:prstGeom prst="roundRect">
            <a:avLst>
              <a:gd name="adj" fmla="val 3750"/>
            </a:avLst>
          </a:prstGeom>
          <a:solidFill>
            <a:srgbClr val="F4F6F9"/>
          </a:solidFill>
          <a:ln w="12700">
            <a:solidFill>
              <a:srgbClr val="D6DCE5"/>
            </a:solidFill>
            <a:prstDash val="solid"/>
          </a:ln>
        </p:spPr>
      </p:sp>
      <p:sp>
        <p:nvSpPr>
          <p:cNvPr id="10" name="Text 6"/>
          <p:cNvSpPr/>
          <p:nvPr/>
        </p:nvSpPr>
        <p:spPr>
          <a:xfrm>
            <a:off x="6473952" y="4828032"/>
            <a:ext cx="49377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Area versus price</a:t>
            </a:r>
            <a:endParaRPr lang="en-US" sz="1250" dirty="0"/>
          </a:p>
        </p:txBody>
      </p:sp>
      <p:sp>
        <p:nvSpPr>
          <p:cNvPr id="11" name="Text 7"/>
          <p:cNvSpPr/>
          <p:nvPr/>
        </p:nvSpPr>
        <p:spPr>
          <a:xfrm>
            <a:off x="6473952" y="5102352"/>
            <a:ext cx="4919472" cy="91440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Price increases with built-up area, but the relationship shows widening dispersion at larger areas, indicating that area alone does not determine price. The Pearson correlation between area and price per sq.ft is 0.311.</a:t>
            </a:r>
            <a:endParaRPr lang="en-US" sz="115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10</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EXPLORATORY DATA ANALYSIS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Configuration and Location Analysis</a:t>
            </a:r>
            <a:endParaRPr lang="en-US" sz="3000" dirty="0"/>
          </a:p>
        </p:txBody>
      </p:sp>
      <p:graphicFrame>
        <p:nvGraphicFramePr>
          <p:cNvPr id="4" name="Chart 0" descr=""/>
          <p:cNvGraphicFramePr/>
          <p:nvPr/>
        </p:nvGraphicFramePr>
        <p:xfrm>
          <a:off x="566928" y="1316736"/>
          <a:ext cx="5486400" cy="3346704"/>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72784" y="1316736"/>
          <a:ext cx="5321808" cy="3346704"/>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66928" y="4809744"/>
            <a:ext cx="5486400" cy="1335024"/>
          </a:xfrm>
          <a:prstGeom prst="roundRect">
            <a:avLst>
              <a:gd name="adj" fmla="val 4110"/>
            </a:avLst>
          </a:prstGeom>
          <a:solidFill>
            <a:srgbClr val="F4F6F9"/>
          </a:solidFill>
          <a:ln w="12700">
            <a:solidFill>
              <a:srgbClr val="D6DCE5"/>
            </a:solidFill>
            <a:prstDash val="solid"/>
          </a:ln>
        </p:spPr>
      </p:sp>
      <p:sp>
        <p:nvSpPr>
          <p:cNvPr id="7" name="Text 3"/>
          <p:cNvSpPr/>
          <p:nvPr/>
        </p:nvSpPr>
        <p:spPr>
          <a:xfrm>
            <a:off x="768096" y="4937760"/>
            <a:ext cx="502920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Configuration</a:t>
            </a:r>
            <a:endParaRPr lang="en-US" sz="1250" dirty="0"/>
          </a:p>
        </p:txBody>
      </p:sp>
      <p:sp>
        <p:nvSpPr>
          <p:cNvPr id="8" name="Text 4"/>
          <p:cNvSpPr/>
          <p:nvPr/>
        </p:nvSpPr>
        <p:spPr>
          <a:xfrm>
            <a:off x="768096" y="5175504"/>
            <a:ext cx="5084064" cy="859536"/>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Median price rises consistently with configuration:</a:t>
            </a:r>
            <a:endParaRPr lang="en-US" sz="1100" dirty="0"/>
          </a:p>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1 BHK — ₹33.0 L   ·   2 BHK — ₹53.5 L   ·   3 BHK — ₹88.0 L   ·   4 BHK — ₹211.0 L   ·   5 BHK — ₹240.0 L.</a:t>
            </a:r>
            <a:endParaRPr lang="en-US" sz="1100" dirty="0"/>
          </a:p>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Median price roughly doubles between 3 and 4 BHK, indicating a non-linear relationship with configuration.</a:t>
            </a:r>
            <a:endParaRPr lang="en-US" sz="1100" dirty="0"/>
          </a:p>
        </p:txBody>
      </p:sp>
      <p:sp>
        <p:nvSpPr>
          <p:cNvPr id="9" name="Shape 5"/>
          <p:cNvSpPr/>
          <p:nvPr/>
        </p:nvSpPr>
        <p:spPr>
          <a:xfrm>
            <a:off x="6272784" y="4809744"/>
            <a:ext cx="5321808" cy="1335024"/>
          </a:xfrm>
          <a:prstGeom prst="roundRect">
            <a:avLst>
              <a:gd name="adj" fmla="val 4110"/>
            </a:avLst>
          </a:prstGeom>
          <a:solidFill>
            <a:srgbClr val="F4F6F9"/>
          </a:solidFill>
          <a:ln w="12700">
            <a:solidFill>
              <a:srgbClr val="D6DCE5"/>
            </a:solidFill>
            <a:prstDash val="solid"/>
          </a:ln>
        </p:spPr>
      </p:sp>
      <p:sp>
        <p:nvSpPr>
          <p:cNvPr id="10" name="Text 6"/>
          <p:cNvSpPr/>
          <p:nvPr/>
        </p:nvSpPr>
        <p:spPr>
          <a:xfrm>
            <a:off x="6473952" y="4937760"/>
            <a:ext cx="49377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Location</a:t>
            </a:r>
            <a:endParaRPr lang="en-US" sz="1250" dirty="0"/>
          </a:p>
        </p:txBody>
      </p:sp>
      <p:sp>
        <p:nvSpPr>
          <p:cNvPr id="11" name="Text 7"/>
          <p:cNvSpPr/>
          <p:nvPr/>
        </p:nvSpPr>
        <p:spPr>
          <a:xfrm>
            <a:off x="6473952" y="5175504"/>
            <a:ext cx="4919472" cy="859536"/>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Calibri" pitchFamily="34" charset="0"/>
                <a:ea typeface="Calibri" pitchFamily="34" charset="-122"/>
                <a:cs typeface="Calibri" pitchFamily="34" charset="-120"/>
              </a:rPr>
              <a:t>Median price per sq.ft differs substantially across the most represented localities, indicating that locality captures variation not explained by the physical attributes alone. Location may reflect differences in accessibility, infrastructure and local market conditions; this is an association and does not establish causation.</a:t>
            </a:r>
            <a:endParaRPr lang="en-US" sz="1100" dirty="0"/>
          </a:p>
        </p:txBody>
      </p:sp>
      <p:sp>
        <p:nvSpPr>
          <p:cNvPr id="12" name="Text 8"/>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11</a:t>
            </a:r>
            <a:endParaRPr lang="en-US" sz="1000" dirty="0"/>
          </a:p>
        </p:txBody>
      </p:sp>
      <p:sp>
        <p:nvSpPr>
          <p:cNvPr id="13" name="Text 9"/>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FEATURE RELATIONSHIPS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Correlation Analysis</a:t>
            </a:r>
            <a:endParaRPr lang="en-US" sz="3000" dirty="0"/>
          </a:p>
        </p:txBody>
      </p:sp>
      <p:sp>
        <p:nvSpPr>
          <p:cNvPr id="4" name="Text 2"/>
          <p:cNvSpPr/>
          <p:nvPr/>
        </p:nvSpPr>
        <p:spPr>
          <a:xfrm>
            <a:off x="566928" y="1444752"/>
            <a:ext cx="5029200" cy="256032"/>
          </a:xfrm>
          <a:prstGeom prst="rect">
            <a:avLst/>
          </a:prstGeom>
          <a:noFill/>
          <a:ln/>
        </p:spPr>
        <p:txBody>
          <a:bodyPr wrap="square" lIns="0" tIns="0" rIns="0" bIns="0" rtlCol="0" anchor="ctr"/>
          <a:lstStyle/>
          <a:p>
            <a:pPr indent="0" marL="0">
              <a:buNone/>
            </a:pPr>
            <a:r>
              <a:rPr lang="en-US" sz="1150" b="1" dirty="0">
                <a:solidFill>
                  <a:srgbClr val="1B365D"/>
                </a:solidFill>
                <a:latin typeface="Calibri" pitchFamily="34" charset="0"/>
                <a:ea typeface="Calibri" pitchFamily="34" charset="-122"/>
                <a:cs typeface="Calibri" pitchFamily="34" charset="-120"/>
              </a:rPr>
              <a:t>Correlation matrix — numerical variables (Pearson 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55648"/>
          <a:ext cx="5029200" cy="914400"/>
        </p:xfrm>
        <a:graphic>
          <a:graphicData uri="http://schemas.openxmlformats.org/drawingml/2006/table">
            <a:tbl>
              <a:tblPr/>
              <a:tblGrid>
                <a:gridCol w="1188720"/>
                <a:gridCol w="768096"/>
                <a:gridCol w="768096"/>
                <a:gridCol w="768096"/>
                <a:gridCol w="768096"/>
                <a:gridCol w="768096"/>
              </a:tblGrid>
              <a:tr h="384048">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BHK</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Bathrooms</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Balcony</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Price/sq.ft</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84048">
                <a:tc>
                  <a:txBody>
                    <a:bodyPr/>
                    <a:lstStyle/>
                    <a:p>
                      <a:pPr algn="l" indent="0" marL="0">
                        <a:buNone/>
                      </a:pPr>
                      <a:r>
                        <a:rPr lang="en-US" sz="1000" b="1" dirty="0">
                          <a:solidFill>
                            <a:srgbClr val="1B365D"/>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0.64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0.66</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r>
              <a:tr h="384048">
                <a:tc>
                  <a:txBody>
                    <a:bodyPr/>
                    <a:lstStyle/>
                    <a:p>
                      <a:pPr algn="l" indent="0" marL="0">
                        <a:buNone/>
                      </a:pPr>
                      <a:r>
                        <a:rPr lang="en-US" sz="1000" b="1" dirty="0">
                          <a:solidFill>
                            <a:srgbClr val="1B365D"/>
                          </a:solidFill>
                          <a:latin typeface="Calibri" pitchFamily="34" charset="0"/>
                          <a:ea typeface="Calibri" pitchFamily="34" charset="-122"/>
                          <a:cs typeface="Calibri" pitchFamily="34" charset="-120"/>
                        </a:rPr>
                        <a:t>BHK</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0.64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0.87</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r>
              <a:tr h="384048">
                <a:tc>
                  <a:txBody>
                    <a:bodyPr/>
                    <a:lstStyle/>
                    <a:p>
                      <a:pPr algn="l" indent="0" marL="0">
                        <a:buNone/>
                      </a:pPr>
                      <a:r>
                        <a:rPr lang="en-US" sz="1000" b="1" dirty="0">
                          <a:solidFill>
                            <a:srgbClr val="1B365D"/>
                          </a:solidFill>
                          <a:latin typeface="Calibri" pitchFamily="34" charset="0"/>
                          <a:ea typeface="Calibri" pitchFamily="34" charset="-122"/>
                          <a:cs typeface="Calibri" pitchFamily="34" charset="-120"/>
                        </a:rPr>
                        <a:t>Bathrooms</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0.66</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0.87</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9FB3D1"/>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0.35</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C7D4E6"/>
                    </a:solidFill>
                  </a:tcPr>
                </a:tc>
              </a:tr>
              <a:tr h="384048">
                <a:tc>
                  <a:txBody>
                    <a:bodyPr/>
                    <a:lstStyle/>
                    <a:p>
                      <a:pPr algn="l" indent="0" marL="0">
                        <a:buNone/>
                      </a:pPr>
                      <a:r>
                        <a:rPr lang="en-US" sz="1000" b="1" dirty="0">
                          <a:solidFill>
                            <a:srgbClr val="1B365D"/>
                          </a:solidFill>
                          <a:latin typeface="Calibri" pitchFamily="34" charset="0"/>
                          <a:ea typeface="Calibri" pitchFamily="34" charset="-122"/>
                          <a:cs typeface="Calibri" pitchFamily="34" charset="-120"/>
                        </a:rPr>
                        <a:t>Balcony</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ctr" indent="0" marL="0">
                        <a:buNone/>
                      </a:pPr>
                      <a:r>
                        <a:rPr lang="en-US" sz="1000" dirty="0">
                          <a:solidFill>
                            <a:srgbClr val="5C6675"/>
                          </a:solidFill>
                          <a:latin typeface="Calibri" pitchFamily="34" charset="0"/>
                          <a:ea typeface="Calibri" pitchFamily="34" charset="-122"/>
                          <a:cs typeface="Calibri" pitchFamily="34" charset="-120"/>
                        </a:rPr>
                        <a:t>0.03</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B365D"/>
                          </a:solidFill>
                          <a:latin typeface="Calibri" pitchFamily="34" charset="0"/>
                          <a:ea typeface="Calibri" pitchFamily="34" charset="-122"/>
                          <a:cs typeface="Calibri" pitchFamily="34" charset="-120"/>
                        </a:rPr>
                        <a:t>Price/sq.ft</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3EAF3"/>
                    </a:solidFill>
                  </a:tcPr>
                </a:tc>
                <a:tc>
                  <a:txBody>
                    <a:bodyPr/>
                    <a:lstStyle/>
                    <a:p>
                      <a:pPr algn="ctr" indent="0" marL="0">
                        <a:buNone/>
                      </a:pPr>
                      <a:r>
                        <a:rPr lang="en-US" sz="1000" dirty="0">
                          <a:solidFill>
                            <a:srgbClr val="1F2430"/>
                          </a:solidFill>
                          <a:latin typeface="Calibri" pitchFamily="34" charset="0"/>
                          <a:ea typeface="Calibri" pitchFamily="34" charset="-122"/>
                          <a:cs typeface="Calibri" pitchFamily="34" charset="-120"/>
                        </a:rPr>
                        <a:t>0.35</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C7D4E6"/>
                    </a:solidFill>
                  </a:tcPr>
                </a:tc>
                <a:tc>
                  <a:txBody>
                    <a:bodyPr/>
                    <a:lstStyle/>
                    <a:p>
                      <a:pPr algn="ctr" indent="0" marL="0">
                        <a:buNone/>
                      </a:pPr>
                      <a:r>
                        <a:rPr lang="en-US" sz="1000" dirty="0">
                          <a:solidFill>
                            <a:srgbClr val="5C6675"/>
                          </a:solidFill>
                          <a:latin typeface="Calibri" pitchFamily="34" charset="0"/>
                          <a:ea typeface="Calibri" pitchFamily="34" charset="-122"/>
                          <a:cs typeface="Calibri" pitchFamily="34" charset="-120"/>
                        </a:rPr>
                        <a:t>0.03</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870448" y="1755648"/>
          <a:ext cx="5724144" cy="914400"/>
        </p:xfrm>
        <a:graphic>
          <a:graphicData uri="http://schemas.openxmlformats.org/drawingml/2006/table">
            <a:tbl>
              <a:tblPr/>
              <a:tblGrid>
                <a:gridCol w="3566160"/>
                <a:gridCol w="2157984"/>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Pearson r with price per sq.ft</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Bathrooms</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0.353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Built-up area</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0.311</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Configuration (BHK)</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29184">
                <a:tc>
                  <a:txBody>
                    <a:bodyPr/>
                    <a:lstStyle/>
                    <a:p>
                      <a:pPr algn="l" indent="0" marL="0">
                        <a:buNone/>
                      </a:pPr>
                      <a:r>
                        <a:rPr lang="en-US" sz="1200" b="1" dirty="0">
                          <a:solidFill>
                            <a:srgbClr val="1B365D"/>
                          </a:solidFill>
                          <a:latin typeface="Calibri" pitchFamily="34" charset="0"/>
                          <a:ea typeface="Calibri" pitchFamily="34" charset="-122"/>
                          <a:cs typeface="Calibri" pitchFamily="34" charset="-120"/>
                        </a:rPr>
                        <a:t>Balcony</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r" indent="0" marL="0">
                        <a:buNone/>
                      </a:pPr>
                      <a:r>
                        <a:rPr lang="en-US" sz="1200" dirty="0">
                          <a:solidFill>
                            <a:srgbClr val="1F2430"/>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7" name="Text 3"/>
          <p:cNvSpPr/>
          <p:nvPr/>
        </p:nvSpPr>
        <p:spPr>
          <a:xfrm>
            <a:off x="5870448" y="3584448"/>
            <a:ext cx="5724144" cy="274320"/>
          </a:xfrm>
          <a:prstGeom prst="rect">
            <a:avLst/>
          </a:prstGeom>
          <a:noFill/>
          <a:ln/>
        </p:spPr>
        <p:txBody>
          <a:bodyPr wrap="square" lIns="0" tIns="0" rIns="0" bIns="0" rtlCol="0" anchor="ctr"/>
          <a:lstStyle/>
          <a:p>
            <a:pPr indent="0" marL="0">
              <a:buNone/>
            </a:pPr>
            <a:r>
              <a:rPr lang="en-US" sz="1500" b="1" dirty="0">
                <a:solidFill>
                  <a:srgbClr val="1B365D"/>
                </a:solidFill>
                <a:latin typeface="Cambria" pitchFamily="34" charset="0"/>
                <a:ea typeface="Cambria" pitchFamily="34" charset="-122"/>
                <a:cs typeface="Cambria" pitchFamily="34" charset="-120"/>
              </a:rPr>
              <a:t>Interpretation</a:t>
            </a:r>
            <a:endParaRPr lang="en-US" sz="1500" dirty="0"/>
          </a:p>
        </p:txBody>
      </p:sp>
      <p:sp>
        <p:nvSpPr>
          <p:cNvPr id="8" name="Text 4"/>
          <p:cNvSpPr/>
          <p:nvPr/>
        </p:nvSpPr>
        <p:spPr>
          <a:xfrm>
            <a:off x="5870448" y="3950208"/>
            <a:ext cx="5724144" cy="19202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80" dirty="0">
                <a:solidFill>
                  <a:srgbClr val="1F2430"/>
                </a:solidFill>
                <a:latin typeface="Calibri" pitchFamily="34" charset="0"/>
                <a:ea typeface="Calibri" pitchFamily="34" charset="-122"/>
                <a:cs typeface="Calibri" pitchFamily="34" charset="-120"/>
              </a:rPr>
              <a:t>No single numerical variable is strongly correlated with the target; the highest is bathrooms at r = 0.353.</a:t>
            </a:r>
            <a:endParaRPr lang="en-US" sz="1180" dirty="0"/>
          </a:p>
          <a:p>
            <a:pPr marL="342900" indent="-342900">
              <a:lnSpc>
                <a:spcPts val="1600"/>
              </a:lnSpc>
              <a:spcAft>
                <a:spcPts val="800"/>
              </a:spcAft>
              <a:buSzPct val="100000"/>
              <a:buChar char="•"/>
            </a:pPr>
            <a:r>
              <a:rPr lang="en-US" sz="1180" dirty="0">
                <a:solidFill>
                  <a:srgbClr val="1F2430"/>
                </a:solidFill>
                <a:latin typeface="Calibri" pitchFamily="34" charset="0"/>
                <a:ea typeface="Calibri" pitchFamily="34" charset="-122"/>
                <a:cs typeface="Calibri" pitchFamily="34" charset="-120"/>
              </a:rPr>
              <a:t>This indicates that price per sq.ft is not explained by any one attribute in isolation, which supports the use of multivariate models over simple linear estimation.</a:t>
            </a:r>
            <a:endParaRPr lang="en-US" sz="1180" dirty="0"/>
          </a:p>
          <a:p>
            <a:pPr marL="342900" indent="-342900">
              <a:lnSpc>
                <a:spcPts val="1600"/>
              </a:lnSpc>
              <a:spcAft>
                <a:spcPts val="800"/>
              </a:spcAft>
              <a:buSzPct val="100000"/>
              <a:buChar char="•"/>
            </a:pPr>
            <a:r>
              <a:rPr lang="en-US" sz="1180" dirty="0">
                <a:solidFill>
                  <a:srgbClr val="1F2430"/>
                </a:solidFill>
                <a:latin typeface="Calibri" pitchFamily="34" charset="0"/>
                <a:ea typeface="Calibri" pitchFamily="34" charset="-122"/>
                <a:cs typeface="Calibri" pitchFamily="34" charset="-120"/>
              </a:rPr>
              <a:t>Area, configuration and bathrooms are themselves inter-related, so multicollinearity is expected among the input variables and will be considered during feature selection.</a:t>
            </a:r>
            <a:endParaRPr lang="en-US" sz="1180" dirty="0"/>
          </a:p>
          <a:p>
            <a:pPr marL="342900" indent="-342900">
              <a:lnSpc>
                <a:spcPts val="1600"/>
              </a:lnSpc>
              <a:spcAft>
                <a:spcPts val="800"/>
              </a:spcAft>
              <a:buSzPct val="100000"/>
              <a:buChar char="•"/>
            </a:pPr>
            <a:r>
              <a:rPr lang="en-US" sz="1180" dirty="0">
                <a:solidFill>
                  <a:srgbClr val="1F2430"/>
                </a:solidFill>
                <a:latin typeface="Calibri" pitchFamily="34" charset="0"/>
                <a:ea typeface="Calibri" pitchFamily="34" charset="-122"/>
                <a:cs typeface="Calibri" pitchFamily="34" charset="-120"/>
              </a:rPr>
              <a:t>Correlation measures linear association only. It does not capture non-linear relationships, and it does not establish causation.</a:t>
            </a:r>
            <a:endParaRPr lang="en-US" sz="1180" dirty="0"/>
          </a:p>
        </p:txBody>
      </p:sp>
      <p:sp>
        <p:nvSpPr>
          <p:cNvPr id="10" name="Text 5"/>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12</a:t>
            </a:r>
            <a:endParaRPr lang="en-US" sz="1000" dirty="0"/>
          </a:p>
        </p:txBody>
      </p:sp>
      <p:sp>
        <p:nvSpPr>
          <p:cNvPr id="11" name="Text 6"/>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PROPOSED FEATURES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Feature Engineering</a:t>
            </a:r>
            <a:endParaRPr lang="en-US" sz="3000" dirty="0"/>
          </a:p>
        </p:txBody>
      </p:sp>
      <p:sp>
        <p:nvSpPr>
          <p:cNvPr id="4" name="Shape 2"/>
          <p:cNvSpPr/>
          <p:nvPr/>
        </p:nvSpPr>
        <p:spPr>
          <a:xfrm>
            <a:off x="566928" y="1371600"/>
            <a:ext cx="3310128" cy="621792"/>
          </a:xfrm>
          <a:prstGeom prst="roundRect">
            <a:avLst>
              <a:gd name="adj" fmla="val 8824"/>
            </a:avLst>
          </a:prstGeom>
          <a:solidFill>
            <a:srgbClr val="F4F6F9"/>
          </a:solidFill>
          <a:ln w="17780">
            <a:solidFill>
              <a:srgbClr val="1B365D"/>
            </a:solidFill>
            <a:prstDash val="solid"/>
          </a:ln>
        </p:spPr>
      </p:sp>
      <p:sp>
        <p:nvSpPr>
          <p:cNvPr id="5" name="Text 3"/>
          <p:cNvSpPr/>
          <p:nvPr/>
        </p:nvSpPr>
        <p:spPr>
          <a:xfrm>
            <a:off x="566928" y="1371600"/>
            <a:ext cx="3310128" cy="621792"/>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Raw Data</a:t>
            </a:r>
            <a:endParaRPr lang="en-US" sz="1400" dirty="0"/>
          </a:p>
        </p:txBody>
      </p:sp>
      <p:sp>
        <p:nvSpPr>
          <p:cNvPr id="6" name="Shape 4"/>
          <p:cNvSpPr/>
          <p:nvPr/>
        </p:nvSpPr>
        <p:spPr>
          <a:xfrm>
            <a:off x="3968496" y="1682496"/>
            <a:ext cx="438912" cy="0"/>
          </a:xfrm>
          <a:prstGeom prst="line">
            <a:avLst/>
          </a:prstGeom>
          <a:noFill/>
          <a:ln w="19050">
            <a:solidFill>
              <a:srgbClr val="5C6675"/>
            </a:solidFill>
            <a:prstDash val="solid"/>
            <a:tailEnd type="triangle"/>
          </a:ln>
        </p:spPr>
      </p:sp>
      <p:sp>
        <p:nvSpPr>
          <p:cNvPr id="7" name="Shape 5"/>
          <p:cNvSpPr/>
          <p:nvPr/>
        </p:nvSpPr>
        <p:spPr>
          <a:xfrm>
            <a:off x="4498848" y="1371600"/>
            <a:ext cx="3310128" cy="621792"/>
          </a:xfrm>
          <a:prstGeom prst="roundRect">
            <a:avLst>
              <a:gd name="adj" fmla="val 8824"/>
            </a:avLst>
          </a:prstGeom>
          <a:solidFill>
            <a:srgbClr val="FDF6EF"/>
          </a:solidFill>
          <a:ln w="17780">
            <a:solidFill>
              <a:srgbClr val="C2703A"/>
            </a:solidFill>
            <a:prstDash val="solid"/>
          </a:ln>
        </p:spPr>
      </p:sp>
      <p:sp>
        <p:nvSpPr>
          <p:cNvPr id="8" name="Text 6"/>
          <p:cNvSpPr/>
          <p:nvPr/>
        </p:nvSpPr>
        <p:spPr>
          <a:xfrm>
            <a:off x="4498848" y="1371600"/>
            <a:ext cx="3310128" cy="621792"/>
          </a:xfrm>
          <a:prstGeom prst="rect">
            <a:avLst/>
          </a:prstGeom>
          <a:noFill/>
          <a:ln/>
        </p:spPr>
        <p:txBody>
          <a:bodyPr wrap="square" lIns="0" tIns="0" rIns="0" bIns="0" rtlCol="0" anchor="ctr"/>
          <a:lstStyle/>
          <a:p>
            <a:pPr algn="ctr" indent="0" marL="0">
              <a:buNone/>
            </a:pPr>
            <a:r>
              <a:rPr lang="en-US" sz="1400" b="1" dirty="0">
                <a:solidFill>
                  <a:srgbClr val="C2703A"/>
                </a:solidFill>
                <a:latin typeface="Calibri" pitchFamily="34" charset="0"/>
                <a:ea typeface="Calibri" pitchFamily="34" charset="-122"/>
                <a:cs typeface="Calibri" pitchFamily="34" charset="-120"/>
              </a:rPr>
              <a:t>Feature Engineering</a:t>
            </a:r>
            <a:endParaRPr lang="en-US" sz="1400" dirty="0"/>
          </a:p>
        </p:txBody>
      </p:sp>
      <p:sp>
        <p:nvSpPr>
          <p:cNvPr id="9" name="Shape 7"/>
          <p:cNvSpPr/>
          <p:nvPr/>
        </p:nvSpPr>
        <p:spPr>
          <a:xfrm>
            <a:off x="7900416" y="1682496"/>
            <a:ext cx="438912" cy="0"/>
          </a:xfrm>
          <a:prstGeom prst="line">
            <a:avLst/>
          </a:prstGeom>
          <a:noFill/>
          <a:ln w="19050">
            <a:solidFill>
              <a:srgbClr val="5C6675"/>
            </a:solidFill>
            <a:prstDash val="solid"/>
            <a:tailEnd type="triangle"/>
          </a:ln>
        </p:spPr>
      </p:sp>
      <p:sp>
        <p:nvSpPr>
          <p:cNvPr id="10" name="Shape 8"/>
          <p:cNvSpPr/>
          <p:nvPr/>
        </p:nvSpPr>
        <p:spPr>
          <a:xfrm>
            <a:off x="8430768" y="1371600"/>
            <a:ext cx="3310128" cy="621792"/>
          </a:xfrm>
          <a:prstGeom prst="roundRect">
            <a:avLst>
              <a:gd name="adj" fmla="val 8824"/>
            </a:avLst>
          </a:prstGeom>
          <a:solidFill>
            <a:srgbClr val="F4F6F9"/>
          </a:solidFill>
          <a:ln w="17780">
            <a:solidFill>
              <a:srgbClr val="1B365D"/>
            </a:solidFill>
            <a:prstDash val="solid"/>
          </a:ln>
        </p:spPr>
      </p:sp>
      <p:sp>
        <p:nvSpPr>
          <p:cNvPr id="11" name="Text 9"/>
          <p:cNvSpPr/>
          <p:nvPr/>
        </p:nvSpPr>
        <p:spPr>
          <a:xfrm>
            <a:off x="8430768" y="1371600"/>
            <a:ext cx="3310128" cy="621792"/>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ML-Ready Features</a:t>
            </a:r>
            <a:endParaRPr lang="en-US" sz="1400" dirty="0"/>
          </a:p>
        </p:txBody>
      </p:sp>
      <p:sp>
        <p:nvSpPr>
          <p:cNvPr id="12" name="Shape 10"/>
          <p:cNvSpPr/>
          <p:nvPr/>
        </p:nvSpPr>
        <p:spPr>
          <a:xfrm>
            <a:off x="566928" y="2286000"/>
            <a:ext cx="3493008" cy="2834640"/>
          </a:xfrm>
          <a:prstGeom prst="roundRect">
            <a:avLst>
              <a:gd name="adj" fmla="val 1935"/>
            </a:avLst>
          </a:prstGeom>
          <a:solidFill>
            <a:srgbClr val="F4F6F9"/>
          </a:solidFill>
          <a:ln w="12700">
            <a:solidFill>
              <a:srgbClr val="D6DCE5"/>
            </a:solidFill>
            <a:prstDash val="solid"/>
          </a:ln>
        </p:spPr>
      </p:sp>
      <p:sp>
        <p:nvSpPr>
          <p:cNvPr id="13" name="Text 11"/>
          <p:cNvSpPr/>
          <p:nvPr/>
        </p:nvSpPr>
        <p:spPr>
          <a:xfrm>
            <a:off x="786384"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property features</a:t>
            </a:r>
            <a:endParaRPr lang="en-US" sz="1300" dirty="0"/>
          </a:p>
        </p:txBody>
      </p:sp>
      <p:sp>
        <p:nvSpPr>
          <p:cNvPr id="14" name="Text 12"/>
          <p:cNvSpPr/>
          <p:nvPr/>
        </p:nvSpPr>
        <p:spPr>
          <a:xfrm>
            <a:off x="786384"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Price per sq.ft — target normalisation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Area per room</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Bathrooms per room</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Property age (where date data exists)</a:t>
            </a:r>
            <a:endParaRPr lang="en-US" sz="1150" dirty="0"/>
          </a:p>
        </p:txBody>
      </p:sp>
      <p:sp>
        <p:nvSpPr>
          <p:cNvPr id="15" name="Shape 13"/>
          <p:cNvSpPr/>
          <p:nvPr/>
        </p:nvSpPr>
        <p:spPr>
          <a:xfrm>
            <a:off x="4297680" y="2286000"/>
            <a:ext cx="3493008" cy="2834640"/>
          </a:xfrm>
          <a:prstGeom prst="roundRect">
            <a:avLst>
              <a:gd name="adj" fmla="val 1935"/>
            </a:avLst>
          </a:prstGeom>
          <a:solidFill>
            <a:srgbClr val="F4F6F9"/>
          </a:solidFill>
          <a:ln w="12700">
            <a:solidFill>
              <a:srgbClr val="D6DCE5"/>
            </a:solidFill>
            <a:prstDash val="solid"/>
          </a:ln>
        </p:spPr>
      </p:sp>
      <p:sp>
        <p:nvSpPr>
          <p:cNvPr id="16" name="Text 14"/>
          <p:cNvSpPr/>
          <p:nvPr/>
        </p:nvSpPr>
        <p:spPr>
          <a:xfrm>
            <a:off x="4517136"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location features</a:t>
            </a:r>
            <a:endParaRPr lang="en-US" sz="1300" dirty="0"/>
          </a:p>
        </p:txBody>
      </p:sp>
      <p:sp>
        <p:nvSpPr>
          <p:cNvPr id="17" name="Text 15"/>
          <p:cNvSpPr/>
          <p:nvPr/>
        </p:nvSpPr>
        <p:spPr>
          <a:xfrm>
            <a:off x="4517136"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Locality-level median price</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Locality-level record count</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Administrative ward and zone</a:t>
            </a:r>
            <a:endParaRPr lang="en-US" sz="1150" dirty="0"/>
          </a:p>
        </p:txBody>
      </p:sp>
      <p:sp>
        <p:nvSpPr>
          <p:cNvPr id="18" name="Shape 16"/>
          <p:cNvSpPr/>
          <p:nvPr/>
        </p:nvSpPr>
        <p:spPr>
          <a:xfrm>
            <a:off x="8028432" y="2286000"/>
            <a:ext cx="3493008" cy="2834640"/>
          </a:xfrm>
          <a:prstGeom prst="roundRect">
            <a:avLst>
              <a:gd name="adj" fmla="val 1935"/>
            </a:avLst>
          </a:prstGeom>
          <a:solidFill>
            <a:srgbClr val="F4F6F9"/>
          </a:solidFill>
          <a:ln w="12700">
            <a:solidFill>
              <a:srgbClr val="D6DCE5"/>
            </a:solidFill>
            <a:prstDash val="solid"/>
          </a:ln>
        </p:spPr>
      </p:sp>
      <p:sp>
        <p:nvSpPr>
          <p:cNvPr id="19" name="Text 17"/>
          <p:cNvSpPr/>
          <p:nvPr/>
        </p:nvSpPr>
        <p:spPr>
          <a:xfrm>
            <a:off x="8247888" y="2468880"/>
            <a:ext cx="3108960" cy="274320"/>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Derived accessibility features</a:t>
            </a:r>
            <a:endParaRPr lang="en-US" sz="1300" dirty="0"/>
          </a:p>
        </p:txBody>
      </p:sp>
      <p:sp>
        <p:nvSpPr>
          <p:cNvPr id="20" name="Text 18"/>
          <p:cNvSpPr/>
          <p:nvPr/>
        </p:nvSpPr>
        <p:spPr>
          <a:xfrm>
            <a:off x="8247888" y="2798064"/>
            <a:ext cx="3072384" cy="21031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metro station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railway station</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bus stop</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Distance to nearest hospital and school</a:t>
            </a:r>
            <a:endParaRPr lang="en-US" sz="1150" dirty="0"/>
          </a:p>
          <a:p>
            <a:pPr marL="342900" indent="-342900">
              <a:lnSpc>
                <a:spcPts val="1500"/>
              </a:lnSpc>
              <a:spcAft>
                <a:spcPts val="600"/>
              </a:spcAft>
              <a:buSzPct val="100000"/>
              <a:buChar char="•"/>
            </a:pPr>
            <a:r>
              <a:rPr lang="en-US" sz="1150" dirty="0">
                <a:solidFill>
                  <a:srgbClr val="1F2430"/>
                </a:solidFill>
                <a:latin typeface="Calibri" pitchFamily="34" charset="0"/>
                <a:ea typeface="Calibri" pitchFamily="34" charset="-122"/>
                <a:cs typeface="Calibri" pitchFamily="34" charset="-120"/>
              </a:rPr>
              <a:t>Count of amenities within a fixed radius</a:t>
            </a:r>
            <a:endParaRPr lang="en-US" sz="1150" dirty="0"/>
          </a:p>
        </p:txBody>
      </p:sp>
      <p:sp>
        <p:nvSpPr>
          <p:cNvPr id="21" name="Text 19"/>
          <p:cNvSpPr/>
          <p:nvPr/>
        </p:nvSpPr>
        <p:spPr>
          <a:xfrm>
            <a:off x="566928" y="5340096"/>
            <a:ext cx="11027664" cy="548640"/>
          </a:xfrm>
          <a:prstGeom prst="rect">
            <a:avLst/>
          </a:prstGeom>
          <a:noFill/>
          <a:ln/>
        </p:spPr>
        <p:txBody>
          <a:bodyPr wrap="square" lIns="0" tIns="0" rIns="0" bIns="0" rtlCol="0" anchor="ctr"/>
          <a:lstStyle/>
          <a:p>
            <a:pPr indent="0" marL="0">
              <a:lnSpc>
                <a:spcPts val="1700"/>
              </a:lnSpc>
              <a:buNone/>
            </a:pPr>
            <a:r>
              <a:rPr lang="en-US" sz="1200" i="1" dirty="0">
                <a:solidFill>
                  <a:srgbClr val="5C6675"/>
                </a:solidFill>
                <a:latin typeface="Calibri" pitchFamily="34" charset="0"/>
                <a:ea typeface="Calibri" pitchFamily="34" charset="-122"/>
                <a:cs typeface="Calibri" pitchFamily="34" charset="-120"/>
              </a:rPr>
              <a:t>The final feature set will depend on data availability and on the results of preprocessing. Features derived from the target variable will be excluded to avoid target leakage.</a:t>
            </a:r>
            <a:endParaRPr lang="en-US" sz="1200" dirty="0"/>
          </a:p>
        </p:txBody>
      </p:sp>
      <p:sp>
        <p:nvSpPr>
          <p:cNvPr id="22"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13</a:t>
            </a:r>
            <a:endParaRPr lang="en-US" sz="1000" dirty="0"/>
          </a:p>
        </p:txBody>
      </p:sp>
      <p:sp>
        <p:nvSpPr>
          <p:cNvPr id="23"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WORKFLOW</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Proposed Machine Learning Methodology</a:t>
            </a:r>
            <a:endParaRPr lang="en-US" sz="3000" dirty="0"/>
          </a:p>
        </p:txBody>
      </p:sp>
      <p:sp>
        <p:nvSpPr>
          <p:cNvPr id="4" name="Shape 2"/>
          <p:cNvSpPr/>
          <p:nvPr/>
        </p:nvSpPr>
        <p:spPr>
          <a:xfrm>
            <a:off x="566928" y="1481328"/>
            <a:ext cx="3200400" cy="566928"/>
          </a:xfrm>
          <a:prstGeom prst="roundRect">
            <a:avLst>
              <a:gd name="adj" fmla="val 8065"/>
            </a:avLst>
          </a:prstGeom>
          <a:solidFill>
            <a:srgbClr val="F4F6F9"/>
          </a:solidFill>
          <a:ln w="15240">
            <a:solidFill>
              <a:srgbClr val="D6DCE5"/>
            </a:solidFill>
            <a:prstDash val="solid"/>
          </a:ln>
        </p:spPr>
      </p:sp>
      <p:sp>
        <p:nvSpPr>
          <p:cNvPr id="5" name="Text 3"/>
          <p:cNvSpPr/>
          <p:nvPr/>
        </p:nvSpPr>
        <p:spPr>
          <a:xfrm>
            <a:off x="713232" y="1481328"/>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  Dataset</a:t>
            </a:r>
            <a:endParaRPr lang="en-US" sz="1250" dirty="0"/>
          </a:p>
        </p:txBody>
      </p:sp>
      <p:sp>
        <p:nvSpPr>
          <p:cNvPr id="6" name="Shape 4"/>
          <p:cNvSpPr/>
          <p:nvPr/>
        </p:nvSpPr>
        <p:spPr>
          <a:xfrm>
            <a:off x="2167128" y="2084832"/>
            <a:ext cx="0" cy="201168"/>
          </a:xfrm>
          <a:prstGeom prst="line">
            <a:avLst/>
          </a:prstGeom>
          <a:noFill/>
          <a:ln w="15240">
            <a:solidFill>
              <a:srgbClr val="5C6675"/>
            </a:solidFill>
            <a:prstDash val="solid"/>
            <a:tailEnd type="triangle"/>
          </a:ln>
        </p:spPr>
      </p:sp>
      <p:sp>
        <p:nvSpPr>
          <p:cNvPr id="7" name="Shape 5"/>
          <p:cNvSpPr/>
          <p:nvPr/>
        </p:nvSpPr>
        <p:spPr>
          <a:xfrm>
            <a:off x="566928" y="2322576"/>
            <a:ext cx="3200400" cy="566928"/>
          </a:xfrm>
          <a:prstGeom prst="roundRect">
            <a:avLst>
              <a:gd name="adj" fmla="val 8065"/>
            </a:avLst>
          </a:prstGeom>
          <a:solidFill>
            <a:srgbClr val="F4F6F9"/>
          </a:solidFill>
          <a:ln w="15240">
            <a:solidFill>
              <a:srgbClr val="D6DCE5"/>
            </a:solidFill>
            <a:prstDash val="solid"/>
          </a:ln>
        </p:spPr>
      </p:sp>
      <p:sp>
        <p:nvSpPr>
          <p:cNvPr id="8" name="Text 6"/>
          <p:cNvSpPr/>
          <p:nvPr/>
        </p:nvSpPr>
        <p:spPr>
          <a:xfrm>
            <a:off x="713232"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2.  Data Cleaning</a:t>
            </a:r>
            <a:endParaRPr lang="en-US" sz="1250" dirty="0"/>
          </a:p>
        </p:txBody>
      </p:sp>
      <p:sp>
        <p:nvSpPr>
          <p:cNvPr id="9" name="Shape 7"/>
          <p:cNvSpPr/>
          <p:nvPr/>
        </p:nvSpPr>
        <p:spPr>
          <a:xfrm>
            <a:off x="2167128" y="2926080"/>
            <a:ext cx="0" cy="201168"/>
          </a:xfrm>
          <a:prstGeom prst="line">
            <a:avLst/>
          </a:prstGeom>
          <a:noFill/>
          <a:ln w="15240">
            <a:solidFill>
              <a:srgbClr val="5C6675"/>
            </a:solidFill>
            <a:prstDash val="solid"/>
            <a:tailEnd type="triangle"/>
          </a:ln>
        </p:spPr>
      </p:sp>
      <p:sp>
        <p:nvSpPr>
          <p:cNvPr id="10" name="Shape 8"/>
          <p:cNvSpPr/>
          <p:nvPr/>
        </p:nvSpPr>
        <p:spPr>
          <a:xfrm>
            <a:off x="566928" y="3163824"/>
            <a:ext cx="3200400" cy="566928"/>
          </a:xfrm>
          <a:prstGeom prst="roundRect">
            <a:avLst>
              <a:gd name="adj" fmla="val 8065"/>
            </a:avLst>
          </a:prstGeom>
          <a:solidFill>
            <a:srgbClr val="F4F6F9"/>
          </a:solidFill>
          <a:ln w="15240">
            <a:solidFill>
              <a:srgbClr val="D6DCE5"/>
            </a:solidFill>
            <a:prstDash val="solid"/>
          </a:ln>
        </p:spPr>
      </p:sp>
      <p:sp>
        <p:nvSpPr>
          <p:cNvPr id="11" name="Text 9"/>
          <p:cNvSpPr/>
          <p:nvPr/>
        </p:nvSpPr>
        <p:spPr>
          <a:xfrm>
            <a:off x="713232" y="3163824"/>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3.  Exploratory Data Analysis</a:t>
            </a:r>
            <a:endParaRPr lang="en-US" sz="1250" dirty="0"/>
          </a:p>
        </p:txBody>
      </p:sp>
      <p:sp>
        <p:nvSpPr>
          <p:cNvPr id="12" name="Shape 10"/>
          <p:cNvSpPr/>
          <p:nvPr/>
        </p:nvSpPr>
        <p:spPr>
          <a:xfrm>
            <a:off x="2167128" y="3767328"/>
            <a:ext cx="0" cy="201168"/>
          </a:xfrm>
          <a:prstGeom prst="line">
            <a:avLst/>
          </a:prstGeom>
          <a:noFill/>
          <a:ln w="15240">
            <a:solidFill>
              <a:srgbClr val="5C6675"/>
            </a:solidFill>
            <a:prstDash val="solid"/>
            <a:tailEnd type="triangle"/>
          </a:ln>
        </p:spPr>
      </p:sp>
      <p:sp>
        <p:nvSpPr>
          <p:cNvPr id="13" name="Shape 11"/>
          <p:cNvSpPr/>
          <p:nvPr/>
        </p:nvSpPr>
        <p:spPr>
          <a:xfrm>
            <a:off x="566928" y="4005072"/>
            <a:ext cx="3200400" cy="566928"/>
          </a:xfrm>
          <a:prstGeom prst="roundRect">
            <a:avLst>
              <a:gd name="adj" fmla="val 8065"/>
            </a:avLst>
          </a:prstGeom>
          <a:solidFill>
            <a:srgbClr val="F4F6F9"/>
          </a:solidFill>
          <a:ln w="15240">
            <a:solidFill>
              <a:srgbClr val="D6DCE5"/>
            </a:solidFill>
            <a:prstDash val="solid"/>
          </a:ln>
        </p:spPr>
      </p:sp>
      <p:sp>
        <p:nvSpPr>
          <p:cNvPr id="14" name="Text 12"/>
          <p:cNvSpPr/>
          <p:nvPr/>
        </p:nvSpPr>
        <p:spPr>
          <a:xfrm>
            <a:off x="713232" y="4005072"/>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4.  Feature Engineering</a:t>
            </a:r>
            <a:endParaRPr lang="en-US" sz="1250" dirty="0"/>
          </a:p>
        </p:txBody>
      </p:sp>
      <p:sp>
        <p:nvSpPr>
          <p:cNvPr id="15" name="Shape 13"/>
          <p:cNvSpPr/>
          <p:nvPr/>
        </p:nvSpPr>
        <p:spPr>
          <a:xfrm>
            <a:off x="2167128" y="4608576"/>
            <a:ext cx="0" cy="201168"/>
          </a:xfrm>
          <a:prstGeom prst="line">
            <a:avLst/>
          </a:prstGeom>
          <a:noFill/>
          <a:ln w="15240">
            <a:solidFill>
              <a:srgbClr val="5C6675"/>
            </a:solidFill>
            <a:prstDash val="solid"/>
            <a:tailEnd type="triangle"/>
          </a:ln>
        </p:spPr>
      </p:sp>
      <p:sp>
        <p:nvSpPr>
          <p:cNvPr id="16" name="Shape 14"/>
          <p:cNvSpPr/>
          <p:nvPr/>
        </p:nvSpPr>
        <p:spPr>
          <a:xfrm>
            <a:off x="566928" y="4846320"/>
            <a:ext cx="3200400" cy="566928"/>
          </a:xfrm>
          <a:prstGeom prst="roundRect">
            <a:avLst>
              <a:gd name="adj" fmla="val 8065"/>
            </a:avLst>
          </a:prstGeom>
          <a:solidFill>
            <a:srgbClr val="F4F6F9"/>
          </a:solidFill>
          <a:ln w="15240">
            <a:solidFill>
              <a:srgbClr val="D6DCE5"/>
            </a:solidFill>
            <a:prstDash val="solid"/>
          </a:ln>
        </p:spPr>
      </p:sp>
      <p:sp>
        <p:nvSpPr>
          <p:cNvPr id="17" name="Text 15"/>
          <p:cNvSpPr/>
          <p:nvPr/>
        </p:nvSpPr>
        <p:spPr>
          <a:xfrm>
            <a:off x="713232" y="4846320"/>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5.  Feature Selection</a:t>
            </a:r>
            <a:endParaRPr lang="en-US" sz="1250" dirty="0"/>
          </a:p>
        </p:txBody>
      </p:sp>
      <p:sp>
        <p:nvSpPr>
          <p:cNvPr id="18" name="Shape 16"/>
          <p:cNvSpPr/>
          <p:nvPr/>
        </p:nvSpPr>
        <p:spPr>
          <a:xfrm>
            <a:off x="4315968" y="1481328"/>
            <a:ext cx="3200400" cy="566928"/>
          </a:xfrm>
          <a:prstGeom prst="roundRect">
            <a:avLst>
              <a:gd name="adj" fmla="val 8065"/>
            </a:avLst>
          </a:prstGeom>
          <a:solidFill>
            <a:srgbClr val="F4F6F9"/>
          </a:solidFill>
          <a:ln w="15240">
            <a:solidFill>
              <a:srgbClr val="D6DCE5"/>
            </a:solidFill>
            <a:prstDash val="solid"/>
          </a:ln>
        </p:spPr>
      </p:sp>
      <p:sp>
        <p:nvSpPr>
          <p:cNvPr id="19" name="Text 17"/>
          <p:cNvSpPr/>
          <p:nvPr/>
        </p:nvSpPr>
        <p:spPr>
          <a:xfrm>
            <a:off x="4462272" y="1481328"/>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6.  Train / Validation / Test Split</a:t>
            </a:r>
            <a:endParaRPr lang="en-US" sz="1250" dirty="0"/>
          </a:p>
        </p:txBody>
      </p:sp>
      <p:sp>
        <p:nvSpPr>
          <p:cNvPr id="20" name="Shape 18"/>
          <p:cNvSpPr/>
          <p:nvPr/>
        </p:nvSpPr>
        <p:spPr>
          <a:xfrm>
            <a:off x="5916168" y="2084832"/>
            <a:ext cx="0" cy="201168"/>
          </a:xfrm>
          <a:prstGeom prst="line">
            <a:avLst/>
          </a:prstGeom>
          <a:noFill/>
          <a:ln w="15240">
            <a:solidFill>
              <a:srgbClr val="5C6675"/>
            </a:solidFill>
            <a:prstDash val="solid"/>
            <a:tailEnd type="triangle"/>
          </a:ln>
        </p:spPr>
      </p:sp>
      <p:sp>
        <p:nvSpPr>
          <p:cNvPr id="21" name="Shape 19"/>
          <p:cNvSpPr/>
          <p:nvPr/>
        </p:nvSpPr>
        <p:spPr>
          <a:xfrm>
            <a:off x="4315968" y="2322576"/>
            <a:ext cx="3200400" cy="566928"/>
          </a:xfrm>
          <a:prstGeom prst="roundRect">
            <a:avLst>
              <a:gd name="adj" fmla="val 8065"/>
            </a:avLst>
          </a:prstGeom>
          <a:solidFill>
            <a:srgbClr val="F4F6F9"/>
          </a:solidFill>
          <a:ln w="15240">
            <a:solidFill>
              <a:srgbClr val="D6DCE5"/>
            </a:solidFill>
            <a:prstDash val="solid"/>
          </a:ln>
        </p:spPr>
      </p:sp>
      <p:sp>
        <p:nvSpPr>
          <p:cNvPr id="22" name="Text 20"/>
          <p:cNvSpPr/>
          <p:nvPr/>
        </p:nvSpPr>
        <p:spPr>
          <a:xfrm>
            <a:off x="4462272"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7.  Model Training</a:t>
            </a:r>
            <a:endParaRPr lang="en-US" sz="1250" dirty="0"/>
          </a:p>
        </p:txBody>
      </p:sp>
      <p:sp>
        <p:nvSpPr>
          <p:cNvPr id="23" name="Shape 21"/>
          <p:cNvSpPr/>
          <p:nvPr/>
        </p:nvSpPr>
        <p:spPr>
          <a:xfrm>
            <a:off x="5916168" y="2926080"/>
            <a:ext cx="0" cy="201168"/>
          </a:xfrm>
          <a:prstGeom prst="line">
            <a:avLst/>
          </a:prstGeom>
          <a:noFill/>
          <a:ln w="15240">
            <a:solidFill>
              <a:srgbClr val="5C6675"/>
            </a:solidFill>
            <a:prstDash val="solid"/>
            <a:tailEnd type="triangle"/>
          </a:ln>
        </p:spPr>
      </p:sp>
      <p:sp>
        <p:nvSpPr>
          <p:cNvPr id="24" name="Shape 22"/>
          <p:cNvSpPr/>
          <p:nvPr/>
        </p:nvSpPr>
        <p:spPr>
          <a:xfrm>
            <a:off x="4315968" y="3163824"/>
            <a:ext cx="3200400" cy="566928"/>
          </a:xfrm>
          <a:prstGeom prst="roundRect">
            <a:avLst>
              <a:gd name="adj" fmla="val 8065"/>
            </a:avLst>
          </a:prstGeom>
          <a:solidFill>
            <a:srgbClr val="F4F6F9"/>
          </a:solidFill>
          <a:ln w="15240">
            <a:solidFill>
              <a:srgbClr val="D6DCE5"/>
            </a:solidFill>
            <a:prstDash val="solid"/>
          </a:ln>
        </p:spPr>
      </p:sp>
      <p:sp>
        <p:nvSpPr>
          <p:cNvPr id="25" name="Text 23"/>
          <p:cNvSpPr/>
          <p:nvPr/>
        </p:nvSpPr>
        <p:spPr>
          <a:xfrm>
            <a:off x="4462272" y="3163824"/>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8.  Cross Validation</a:t>
            </a:r>
            <a:endParaRPr lang="en-US" sz="1250" dirty="0"/>
          </a:p>
        </p:txBody>
      </p:sp>
      <p:sp>
        <p:nvSpPr>
          <p:cNvPr id="26" name="Shape 24"/>
          <p:cNvSpPr/>
          <p:nvPr/>
        </p:nvSpPr>
        <p:spPr>
          <a:xfrm>
            <a:off x="5916168" y="3767328"/>
            <a:ext cx="0" cy="201168"/>
          </a:xfrm>
          <a:prstGeom prst="line">
            <a:avLst/>
          </a:prstGeom>
          <a:noFill/>
          <a:ln w="15240">
            <a:solidFill>
              <a:srgbClr val="5C6675"/>
            </a:solidFill>
            <a:prstDash val="solid"/>
            <a:tailEnd type="triangle"/>
          </a:ln>
        </p:spPr>
      </p:sp>
      <p:sp>
        <p:nvSpPr>
          <p:cNvPr id="27" name="Shape 25"/>
          <p:cNvSpPr/>
          <p:nvPr/>
        </p:nvSpPr>
        <p:spPr>
          <a:xfrm>
            <a:off x="4315968" y="4005072"/>
            <a:ext cx="3200400" cy="566928"/>
          </a:xfrm>
          <a:prstGeom prst="roundRect">
            <a:avLst>
              <a:gd name="adj" fmla="val 8065"/>
            </a:avLst>
          </a:prstGeom>
          <a:solidFill>
            <a:srgbClr val="F4F6F9"/>
          </a:solidFill>
          <a:ln w="15240">
            <a:solidFill>
              <a:srgbClr val="D6DCE5"/>
            </a:solidFill>
            <a:prstDash val="solid"/>
          </a:ln>
        </p:spPr>
      </p:sp>
      <p:sp>
        <p:nvSpPr>
          <p:cNvPr id="28" name="Text 26"/>
          <p:cNvSpPr/>
          <p:nvPr/>
        </p:nvSpPr>
        <p:spPr>
          <a:xfrm>
            <a:off x="4462272" y="4005072"/>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9.  Hyperparameter Tuning</a:t>
            </a:r>
            <a:endParaRPr lang="en-US" sz="1250" dirty="0"/>
          </a:p>
        </p:txBody>
      </p:sp>
      <p:sp>
        <p:nvSpPr>
          <p:cNvPr id="29" name="Shape 27"/>
          <p:cNvSpPr/>
          <p:nvPr/>
        </p:nvSpPr>
        <p:spPr>
          <a:xfrm>
            <a:off x="5916168" y="4608576"/>
            <a:ext cx="0" cy="201168"/>
          </a:xfrm>
          <a:prstGeom prst="line">
            <a:avLst/>
          </a:prstGeom>
          <a:noFill/>
          <a:ln w="15240">
            <a:solidFill>
              <a:srgbClr val="5C6675"/>
            </a:solidFill>
            <a:prstDash val="solid"/>
            <a:tailEnd type="triangle"/>
          </a:ln>
        </p:spPr>
      </p:sp>
      <p:sp>
        <p:nvSpPr>
          <p:cNvPr id="30" name="Shape 28"/>
          <p:cNvSpPr/>
          <p:nvPr/>
        </p:nvSpPr>
        <p:spPr>
          <a:xfrm>
            <a:off x="4315968" y="4846320"/>
            <a:ext cx="3200400" cy="566928"/>
          </a:xfrm>
          <a:prstGeom prst="roundRect">
            <a:avLst>
              <a:gd name="adj" fmla="val 8065"/>
            </a:avLst>
          </a:prstGeom>
          <a:solidFill>
            <a:srgbClr val="F4F6F9"/>
          </a:solidFill>
          <a:ln w="15240">
            <a:solidFill>
              <a:srgbClr val="D6DCE5"/>
            </a:solidFill>
            <a:prstDash val="solid"/>
          </a:ln>
        </p:spPr>
      </p:sp>
      <p:sp>
        <p:nvSpPr>
          <p:cNvPr id="31" name="Text 29"/>
          <p:cNvSpPr/>
          <p:nvPr/>
        </p:nvSpPr>
        <p:spPr>
          <a:xfrm>
            <a:off x="4462272" y="4846320"/>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10.  Model Evaluation</a:t>
            </a:r>
            <a:endParaRPr lang="en-US" sz="1250" dirty="0"/>
          </a:p>
        </p:txBody>
      </p:sp>
      <p:sp>
        <p:nvSpPr>
          <p:cNvPr id="32" name="Shape 30"/>
          <p:cNvSpPr/>
          <p:nvPr/>
        </p:nvSpPr>
        <p:spPr>
          <a:xfrm>
            <a:off x="8083296" y="1481328"/>
            <a:ext cx="3200400" cy="566928"/>
          </a:xfrm>
          <a:prstGeom prst="roundRect">
            <a:avLst>
              <a:gd name="adj" fmla="val 8065"/>
            </a:avLst>
          </a:prstGeom>
          <a:solidFill>
            <a:srgbClr val="1B365D"/>
          </a:solidFill>
          <a:ln w="15240">
            <a:solidFill>
              <a:srgbClr val="1B365D"/>
            </a:solidFill>
            <a:prstDash val="solid"/>
          </a:ln>
        </p:spPr>
      </p:sp>
      <p:sp>
        <p:nvSpPr>
          <p:cNvPr id="33" name="Text 31"/>
          <p:cNvSpPr/>
          <p:nvPr/>
        </p:nvSpPr>
        <p:spPr>
          <a:xfrm>
            <a:off x="8229600" y="1481328"/>
            <a:ext cx="29260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11.  Best Performing Model</a:t>
            </a:r>
            <a:endParaRPr lang="en-US" sz="1250" dirty="0"/>
          </a:p>
        </p:txBody>
      </p:sp>
      <p:sp>
        <p:nvSpPr>
          <p:cNvPr id="34" name="Shape 32"/>
          <p:cNvSpPr/>
          <p:nvPr/>
        </p:nvSpPr>
        <p:spPr>
          <a:xfrm>
            <a:off x="9683496" y="2084832"/>
            <a:ext cx="0" cy="201168"/>
          </a:xfrm>
          <a:prstGeom prst="line">
            <a:avLst/>
          </a:prstGeom>
          <a:noFill/>
          <a:ln w="15240">
            <a:solidFill>
              <a:srgbClr val="5C6675"/>
            </a:solidFill>
            <a:prstDash val="solid"/>
            <a:tailEnd type="triangle"/>
          </a:ln>
        </p:spPr>
      </p:sp>
      <p:sp>
        <p:nvSpPr>
          <p:cNvPr id="35" name="Shape 33"/>
          <p:cNvSpPr/>
          <p:nvPr/>
        </p:nvSpPr>
        <p:spPr>
          <a:xfrm>
            <a:off x="8083296" y="2322576"/>
            <a:ext cx="3200400" cy="566928"/>
          </a:xfrm>
          <a:prstGeom prst="roundRect">
            <a:avLst>
              <a:gd name="adj" fmla="val 8065"/>
            </a:avLst>
          </a:prstGeom>
          <a:solidFill>
            <a:srgbClr val="F4F6F9"/>
          </a:solidFill>
          <a:ln w="15240">
            <a:solidFill>
              <a:srgbClr val="D6DCE5"/>
            </a:solidFill>
            <a:prstDash val="solid"/>
          </a:ln>
        </p:spPr>
      </p:sp>
      <p:sp>
        <p:nvSpPr>
          <p:cNvPr id="36" name="Text 34"/>
          <p:cNvSpPr/>
          <p:nvPr/>
        </p:nvSpPr>
        <p:spPr>
          <a:xfrm>
            <a:off x="8229600" y="2322576"/>
            <a:ext cx="2926080" cy="566928"/>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12.  Prediction</a:t>
            </a:r>
            <a:endParaRPr lang="en-US" sz="1250" dirty="0"/>
          </a:p>
        </p:txBody>
      </p:sp>
      <p:sp>
        <p:nvSpPr>
          <p:cNvPr id="37" name="Shape 35"/>
          <p:cNvSpPr/>
          <p:nvPr/>
        </p:nvSpPr>
        <p:spPr>
          <a:xfrm>
            <a:off x="9683496" y="2926080"/>
            <a:ext cx="0" cy="201168"/>
          </a:xfrm>
          <a:prstGeom prst="line">
            <a:avLst/>
          </a:prstGeom>
          <a:noFill/>
          <a:ln w="15240">
            <a:solidFill>
              <a:srgbClr val="5C6675"/>
            </a:solidFill>
            <a:prstDash val="solid"/>
            <a:tailEnd type="triangle"/>
          </a:ln>
        </p:spPr>
      </p:sp>
      <p:sp>
        <p:nvSpPr>
          <p:cNvPr id="38" name="Shape 36"/>
          <p:cNvSpPr/>
          <p:nvPr/>
        </p:nvSpPr>
        <p:spPr>
          <a:xfrm>
            <a:off x="8083296" y="3163824"/>
            <a:ext cx="3200400" cy="566928"/>
          </a:xfrm>
          <a:prstGeom prst="roundRect">
            <a:avLst>
              <a:gd name="adj" fmla="val 8065"/>
            </a:avLst>
          </a:prstGeom>
          <a:solidFill>
            <a:srgbClr val="1B365D"/>
          </a:solidFill>
          <a:ln w="15240">
            <a:solidFill>
              <a:srgbClr val="1B365D"/>
            </a:solidFill>
            <a:prstDash val="solid"/>
          </a:ln>
        </p:spPr>
      </p:sp>
      <p:sp>
        <p:nvSpPr>
          <p:cNvPr id="39" name="Text 37"/>
          <p:cNvSpPr/>
          <p:nvPr/>
        </p:nvSpPr>
        <p:spPr>
          <a:xfrm>
            <a:off x="8229600" y="3163824"/>
            <a:ext cx="29260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13.  Explainability</a:t>
            </a:r>
            <a:endParaRPr lang="en-US" sz="1250" dirty="0"/>
          </a:p>
        </p:txBody>
      </p:sp>
      <p:sp>
        <p:nvSpPr>
          <p:cNvPr id="40" name="Shape 38"/>
          <p:cNvSpPr/>
          <p:nvPr/>
        </p:nvSpPr>
        <p:spPr>
          <a:xfrm>
            <a:off x="8083296" y="4114800"/>
            <a:ext cx="3529584" cy="1700784"/>
          </a:xfrm>
          <a:prstGeom prst="roundRect">
            <a:avLst>
              <a:gd name="adj" fmla="val 3226"/>
            </a:avLst>
          </a:prstGeom>
          <a:solidFill>
            <a:srgbClr val="FDF6EF"/>
          </a:solidFill>
          <a:ln w="12700">
            <a:solidFill>
              <a:srgbClr val="D6DCE5"/>
            </a:solidFill>
            <a:prstDash val="solid"/>
          </a:ln>
        </p:spPr>
      </p:sp>
      <p:sp>
        <p:nvSpPr>
          <p:cNvPr id="41" name="Text 39"/>
          <p:cNvSpPr/>
          <p:nvPr/>
        </p:nvSpPr>
        <p:spPr>
          <a:xfrm>
            <a:off x="8284464" y="4261104"/>
            <a:ext cx="3108960" cy="256032"/>
          </a:xfrm>
          <a:prstGeom prst="rect">
            <a:avLst/>
          </a:prstGeom>
          <a:noFill/>
          <a:ln/>
        </p:spPr>
        <p:txBody>
          <a:bodyPr wrap="square" lIns="0" tIns="0" rIns="0" bIns="0" rtlCol="0" anchor="ctr"/>
          <a:lstStyle/>
          <a:p>
            <a:pPr indent="0" marL="0">
              <a:buNone/>
            </a:pPr>
            <a:r>
              <a:rPr lang="en-US" sz="1250" b="1" dirty="0">
                <a:solidFill>
                  <a:srgbClr val="C2703A"/>
                </a:solidFill>
                <a:latin typeface="Calibri" pitchFamily="34" charset="0"/>
                <a:ea typeface="Calibri" pitchFamily="34" charset="-122"/>
                <a:cs typeface="Calibri" pitchFamily="34" charset="-120"/>
              </a:rPr>
              <a:t>Evaluation protocol</a:t>
            </a:r>
            <a:endParaRPr lang="en-US" sz="1250" dirty="0"/>
          </a:p>
        </p:txBody>
      </p:sp>
      <p:sp>
        <p:nvSpPr>
          <p:cNvPr id="42" name="Text 40"/>
          <p:cNvSpPr/>
          <p:nvPr/>
        </p:nvSpPr>
        <p:spPr>
          <a:xfrm>
            <a:off x="8284464" y="4535424"/>
            <a:ext cx="3127248" cy="11887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All candidate models will be trained and evaluated under an identical preprocessing pipeline and data split, so that the comparison reflects the algorithm rather than differences in preparation.</a:t>
            </a:r>
            <a:endParaRPr lang="en-US" sz="1150" dirty="0"/>
          </a:p>
        </p:txBody>
      </p:sp>
      <p:sp>
        <p:nvSpPr>
          <p:cNvPr id="43" name="Text 4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14</a:t>
            </a:r>
            <a:endParaRPr lang="en-US" sz="1000" dirty="0"/>
          </a:p>
        </p:txBody>
      </p:sp>
      <p:sp>
        <p:nvSpPr>
          <p:cNvPr id="44" name="Text 4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REGRESSION MODELS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Candidate Machine Learning Algorithms</a:t>
            </a:r>
            <a:endParaRPr lang="en-US" sz="3000" dirty="0"/>
          </a:p>
        </p:txBody>
      </p:sp>
      <p:sp>
        <p:nvSpPr>
          <p:cNvPr id="4" name="Text 2"/>
          <p:cNvSpPr/>
          <p:nvPr/>
        </p:nvSpPr>
        <p:spPr>
          <a:xfrm>
            <a:off x="566928" y="1335024"/>
            <a:ext cx="11027664" cy="274320"/>
          </a:xfrm>
          <a:prstGeom prst="rect">
            <a:avLst/>
          </a:prstGeom>
          <a:noFill/>
          <a:ln/>
        </p:spPr>
        <p:txBody>
          <a:bodyPr wrap="square" lIns="0" tIns="0" rIns="0" bIns="0" rtlCol="0" anchor="ctr"/>
          <a:lstStyle/>
          <a:p>
            <a:pPr indent="0" marL="0">
              <a:buNone/>
            </a:pPr>
            <a:r>
              <a:rPr lang="en-US" sz="1250" i="1" dirty="0">
                <a:solidFill>
                  <a:srgbClr val="5C6675"/>
                </a:solidFill>
                <a:latin typeface="Calibri" pitchFamily="34" charset="0"/>
                <a:ea typeface="Calibri" pitchFamily="34" charset="-122"/>
                <a:cs typeface="Calibri" pitchFamily="34" charset="-120"/>
              </a:rPr>
              <a:t>Four regression algorithms are proposed. The intention is to compare them under a common protocol rather than to assume in advance which will perform best.</a:t>
            </a:r>
            <a:endParaRPr lang="en-US" sz="1250" dirty="0"/>
          </a:p>
        </p:txBody>
      </p:sp>
      <p:sp>
        <p:nvSpPr>
          <p:cNvPr id="5" name="Shape 3"/>
          <p:cNvSpPr/>
          <p:nvPr/>
        </p:nvSpPr>
        <p:spPr>
          <a:xfrm>
            <a:off x="566928" y="1737360"/>
            <a:ext cx="5376672" cy="2029968"/>
          </a:xfrm>
          <a:prstGeom prst="roundRect">
            <a:avLst>
              <a:gd name="adj" fmla="val 2703"/>
            </a:avLst>
          </a:prstGeom>
          <a:solidFill>
            <a:srgbClr val="F4F6F9"/>
          </a:solidFill>
          <a:ln w="12700">
            <a:solidFill>
              <a:srgbClr val="D6DCE5"/>
            </a:solidFill>
            <a:prstDash val="solid"/>
          </a:ln>
        </p:spPr>
      </p:sp>
      <p:sp>
        <p:nvSpPr>
          <p:cNvPr id="6" name="Shape 4"/>
          <p:cNvSpPr/>
          <p:nvPr/>
        </p:nvSpPr>
        <p:spPr>
          <a:xfrm>
            <a:off x="786384" y="1938528"/>
            <a:ext cx="365760" cy="365760"/>
          </a:xfrm>
          <a:prstGeom prst="ellipse">
            <a:avLst/>
          </a:prstGeom>
          <a:solidFill>
            <a:srgbClr val="1B365D"/>
          </a:solidFill>
          <a:ln w="12700">
            <a:solidFill>
              <a:srgbClr val="1B365D"/>
            </a:solidFill>
            <a:prstDash val="solid"/>
          </a:ln>
        </p:spPr>
      </p:sp>
      <p:sp>
        <p:nvSpPr>
          <p:cNvPr id="7" name="Text 5"/>
          <p:cNvSpPr/>
          <p:nvPr/>
        </p:nvSpPr>
        <p:spPr>
          <a:xfrm>
            <a:off x="786384"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61872" y="1920240"/>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Linear Regression</a:t>
            </a:r>
            <a:endParaRPr lang="en-US" sz="1400" dirty="0"/>
          </a:p>
        </p:txBody>
      </p:sp>
      <p:sp>
        <p:nvSpPr>
          <p:cNvPr id="9" name="Text 7"/>
          <p:cNvSpPr/>
          <p:nvPr/>
        </p:nvSpPr>
        <p:spPr>
          <a:xfrm>
            <a:off x="1261872" y="2176272"/>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Baseline model</a:t>
            </a:r>
            <a:endParaRPr lang="en-US" sz="1050" dirty="0"/>
          </a:p>
        </p:txBody>
      </p:sp>
      <p:sp>
        <p:nvSpPr>
          <p:cNvPr id="10" name="Text 8"/>
          <p:cNvSpPr/>
          <p:nvPr/>
        </p:nvSpPr>
        <p:spPr>
          <a:xfrm>
            <a:off x="786384" y="2487168"/>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Fits a linear relationship between the input features and the target. Included as a reference point against which the more complex models are judged.</a:t>
            </a:r>
            <a:endParaRPr lang="en-US" sz="1150" dirty="0"/>
          </a:p>
        </p:txBody>
      </p:sp>
      <p:sp>
        <p:nvSpPr>
          <p:cNvPr id="11" name="Text 9"/>
          <p:cNvSpPr/>
          <p:nvPr/>
        </p:nvSpPr>
        <p:spPr>
          <a:xfrm>
            <a:off x="786384" y="3310128"/>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Assumes linearity and independence of predictors.</a:t>
            </a:r>
            <a:endParaRPr lang="en-US" sz="1050" dirty="0"/>
          </a:p>
        </p:txBody>
      </p:sp>
      <p:sp>
        <p:nvSpPr>
          <p:cNvPr id="12" name="Shape 10"/>
          <p:cNvSpPr/>
          <p:nvPr/>
        </p:nvSpPr>
        <p:spPr>
          <a:xfrm>
            <a:off x="6181344" y="1737360"/>
            <a:ext cx="5376672" cy="2029968"/>
          </a:xfrm>
          <a:prstGeom prst="roundRect">
            <a:avLst>
              <a:gd name="adj" fmla="val 2703"/>
            </a:avLst>
          </a:prstGeom>
          <a:solidFill>
            <a:srgbClr val="F4F6F9"/>
          </a:solidFill>
          <a:ln w="12700">
            <a:solidFill>
              <a:srgbClr val="D6DCE5"/>
            </a:solidFill>
            <a:prstDash val="solid"/>
          </a:ln>
        </p:spPr>
      </p:sp>
      <p:sp>
        <p:nvSpPr>
          <p:cNvPr id="13" name="Shape 11"/>
          <p:cNvSpPr/>
          <p:nvPr/>
        </p:nvSpPr>
        <p:spPr>
          <a:xfrm>
            <a:off x="6400800" y="1938528"/>
            <a:ext cx="365760" cy="365760"/>
          </a:xfrm>
          <a:prstGeom prst="ellipse">
            <a:avLst/>
          </a:prstGeom>
          <a:solidFill>
            <a:srgbClr val="1B365D"/>
          </a:solidFill>
          <a:ln w="12700">
            <a:solidFill>
              <a:srgbClr val="1B365D"/>
            </a:solidFill>
            <a:prstDash val="solid"/>
          </a:ln>
        </p:spPr>
      </p:sp>
      <p:sp>
        <p:nvSpPr>
          <p:cNvPr id="14" name="Text 12"/>
          <p:cNvSpPr/>
          <p:nvPr/>
        </p:nvSpPr>
        <p:spPr>
          <a:xfrm>
            <a:off x="6400800"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6876288" y="1920240"/>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Random Forest Regressor</a:t>
            </a:r>
            <a:endParaRPr lang="en-US" sz="1400" dirty="0"/>
          </a:p>
        </p:txBody>
      </p:sp>
      <p:sp>
        <p:nvSpPr>
          <p:cNvPr id="16" name="Text 14"/>
          <p:cNvSpPr/>
          <p:nvPr/>
        </p:nvSpPr>
        <p:spPr>
          <a:xfrm>
            <a:off x="6876288" y="2176272"/>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Bagging ensemble</a:t>
            </a:r>
            <a:endParaRPr lang="en-US" sz="1050" dirty="0"/>
          </a:p>
        </p:txBody>
      </p:sp>
      <p:sp>
        <p:nvSpPr>
          <p:cNvPr id="17" name="Text 15"/>
          <p:cNvSpPr/>
          <p:nvPr/>
        </p:nvSpPr>
        <p:spPr>
          <a:xfrm>
            <a:off x="6400800" y="2487168"/>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Averages the predictions of many decision trees trained on bootstrap samples. Captures non-linear relationships and interactions between features.</a:t>
            </a:r>
            <a:endParaRPr lang="en-US" sz="1150" dirty="0"/>
          </a:p>
        </p:txBody>
      </p:sp>
      <p:sp>
        <p:nvSpPr>
          <p:cNvPr id="18" name="Text 16"/>
          <p:cNvSpPr/>
          <p:nvPr/>
        </p:nvSpPr>
        <p:spPr>
          <a:xfrm>
            <a:off x="6400800" y="3310128"/>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Less sensitive to outliers; harder to interpret directly.</a:t>
            </a:r>
            <a:endParaRPr lang="en-US" sz="1050" dirty="0"/>
          </a:p>
        </p:txBody>
      </p:sp>
      <p:sp>
        <p:nvSpPr>
          <p:cNvPr id="19" name="Shape 17"/>
          <p:cNvSpPr/>
          <p:nvPr/>
        </p:nvSpPr>
        <p:spPr>
          <a:xfrm>
            <a:off x="566928" y="3950208"/>
            <a:ext cx="5376672" cy="2029968"/>
          </a:xfrm>
          <a:prstGeom prst="roundRect">
            <a:avLst>
              <a:gd name="adj" fmla="val 2703"/>
            </a:avLst>
          </a:prstGeom>
          <a:solidFill>
            <a:srgbClr val="F4F6F9"/>
          </a:solidFill>
          <a:ln w="12700">
            <a:solidFill>
              <a:srgbClr val="D6DCE5"/>
            </a:solidFill>
            <a:prstDash val="solid"/>
          </a:ln>
        </p:spPr>
      </p:sp>
      <p:sp>
        <p:nvSpPr>
          <p:cNvPr id="20" name="Shape 18"/>
          <p:cNvSpPr/>
          <p:nvPr/>
        </p:nvSpPr>
        <p:spPr>
          <a:xfrm>
            <a:off x="786384" y="4151376"/>
            <a:ext cx="365760" cy="365760"/>
          </a:xfrm>
          <a:prstGeom prst="ellipse">
            <a:avLst/>
          </a:prstGeom>
          <a:solidFill>
            <a:srgbClr val="1B365D"/>
          </a:solidFill>
          <a:ln w="12700">
            <a:solidFill>
              <a:srgbClr val="1B365D"/>
            </a:solidFill>
            <a:prstDash val="solid"/>
          </a:ln>
        </p:spPr>
      </p:sp>
      <p:sp>
        <p:nvSpPr>
          <p:cNvPr id="21" name="Text 19"/>
          <p:cNvSpPr/>
          <p:nvPr/>
        </p:nvSpPr>
        <p:spPr>
          <a:xfrm>
            <a:off x="786384" y="4151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261872" y="4133088"/>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Gradient Boosting Regressor</a:t>
            </a:r>
            <a:endParaRPr lang="en-US" sz="1400" dirty="0"/>
          </a:p>
        </p:txBody>
      </p:sp>
      <p:sp>
        <p:nvSpPr>
          <p:cNvPr id="23" name="Text 21"/>
          <p:cNvSpPr/>
          <p:nvPr/>
        </p:nvSpPr>
        <p:spPr>
          <a:xfrm>
            <a:off x="1261872" y="4389120"/>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Sequential ensemble</a:t>
            </a:r>
            <a:endParaRPr lang="en-US" sz="1050" dirty="0"/>
          </a:p>
        </p:txBody>
      </p:sp>
      <p:sp>
        <p:nvSpPr>
          <p:cNvPr id="24" name="Text 22"/>
          <p:cNvSpPr/>
          <p:nvPr/>
        </p:nvSpPr>
        <p:spPr>
          <a:xfrm>
            <a:off x="786384" y="4700016"/>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Builds trees sequentially, with each tree fitted to the residual errors of the previous ones, progressively reducing prediction error.</a:t>
            </a:r>
            <a:endParaRPr lang="en-US" sz="1150" dirty="0"/>
          </a:p>
        </p:txBody>
      </p:sp>
      <p:sp>
        <p:nvSpPr>
          <p:cNvPr id="25" name="Text 23"/>
          <p:cNvSpPr/>
          <p:nvPr/>
        </p:nvSpPr>
        <p:spPr>
          <a:xfrm>
            <a:off x="786384" y="5522976"/>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Often accurate; sensitive to hyperparameter settings.</a:t>
            </a:r>
            <a:endParaRPr lang="en-US" sz="1050" dirty="0"/>
          </a:p>
        </p:txBody>
      </p:sp>
      <p:sp>
        <p:nvSpPr>
          <p:cNvPr id="26" name="Shape 24"/>
          <p:cNvSpPr/>
          <p:nvPr/>
        </p:nvSpPr>
        <p:spPr>
          <a:xfrm>
            <a:off x="6181344" y="3950208"/>
            <a:ext cx="5376672" cy="2029968"/>
          </a:xfrm>
          <a:prstGeom prst="roundRect">
            <a:avLst>
              <a:gd name="adj" fmla="val 2703"/>
            </a:avLst>
          </a:prstGeom>
          <a:solidFill>
            <a:srgbClr val="F4F6F9"/>
          </a:solidFill>
          <a:ln w="12700">
            <a:solidFill>
              <a:srgbClr val="D6DCE5"/>
            </a:solidFill>
            <a:prstDash val="solid"/>
          </a:ln>
        </p:spPr>
      </p:sp>
      <p:sp>
        <p:nvSpPr>
          <p:cNvPr id="27" name="Shape 25"/>
          <p:cNvSpPr/>
          <p:nvPr/>
        </p:nvSpPr>
        <p:spPr>
          <a:xfrm>
            <a:off x="6400800" y="4151376"/>
            <a:ext cx="365760" cy="365760"/>
          </a:xfrm>
          <a:prstGeom prst="ellipse">
            <a:avLst/>
          </a:prstGeom>
          <a:solidFill>
            <a:srgbClr val="1B365D"/>
          </a:solidFill>
          <a:ln w="12700">
            <a:solidFill>
              <a:srgbClr val="1B365D"/>
            </a:solidFill>
            <a:prstDash val="solid"/>
          </a:ln>
        </p:spPr>
      </p:sp>
      <p:sp>
        <p:nvSpPr>
          <p:cNvPr id="28" name="Text 26"/>
          <p:cNvSpPr/>
          <p:nvPr/>
        </p:nvSpPr>
        <p:spPr>
          <a:xfrm>
            <a:off x="6400800" y="4151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6876288" y="4133088"/>
            <a:ext cx="3291840" cy="256032"/>
          </a:xfrm>
          <a:prstGeom prst="rect">
            <a:avLst/>
          </a:prstGeom>
          <a:noFill/>
          <a:ln/>
        </p:spPr>
        <p:txBody>
          <a:bodyPr wrap="square" lIns="0" tIns="0" rIns="0" bIns="0" rtlCol="0" anchor="ctr"/>
          <a:lstStyle/>
          <a:p>
            <a:pPr indent="0" marL="0">
              <a:buNone/>
            </a:pPr>
            <a:r>
              <a:rPr lang="en-US" sz="1400" b="1" dirty="0">
                <a:solidFill>
                  <a:srgbClr val="1B365D"/>
                </a:solidFill>
                <a:latin typeface="Calibri" pitchFamily="34" charset="0"/>
                <a:ea typeface="Calibri" pitchFamily="34" charset="-122"/>
                <a:cs typeface="Calibri" pitchFamily="34" charset="-120"/>
              </a:rPr>
              <a:t>XGBoost Regressor</a:t>
            </a:r>
            <a:endParaRPr lang="en-US" sz="1400" dirty="0"/>
          </a:p>
        </p:txBody>
      </p:sp>
      <p:sp>
        <p:nvSpPr>
          <p:cNvPr id="30" name="Text 28"/>
          <p:cNvSpPr/>
          <p:nvPr/>
        </p:nvSpPr>
        <p:spPr>
          <a:xfrm>
            <a:off x="6876288" y="4389120"/>
            <a:ext cx="4480560" cy="219456"/>
          </a:xfrm>
          <a:prstGeom prst="rect">
            <a:avLst/>
          </a:prstGeom>
          <a:noFill/>
          <a:ln/>
        </p:spPr>
        <p:txBody>
          <a:bodyPr wrap="square" lIns="0" tIns="0" rIns="0" bIns="0" rtlCol="0" anchor="ctr"/>
          <a:lstStyle/>
          <a:p>
            <a:pPr indent="0" marL="0">
              <a:buNone/>
            </a:pPr>
            <a:r>
              <a:rPr lang="en-US" sz="1050" b="1" spc="60" kern="0" dirty="0">
                <a:solidFill>
                  <a:srgbClr val="C2703A"/>
                </a:solidFill>
                <a:latin typeface="Calibri" pitchFamily="34" charset="0"/>
                <a:ea typeface="Calibri" pitchFamily="34" charset="-122"/>
                <a:cs typeface="Calibri" pitchFamily="34" charset="-120"/>
              </a:rPr>
              <a:t>Regularised boosting</a:t>
            </a:r>
            <a:endParaRPr lang="en-US" sz="1050" dirty="0"/>
          </a:p>
        </p:txBody>
      </p:sp>
      <p:sp>
        <p:nvSpPr>
          <p:cNvPr id="31" name="Text 29"/>
          <p:cNvSpPr/>
          <p:nvPr/>
        </p:nvSpPr>
        <p:spPr>
          <a:xfrm>
            <a:off x="6400800" y="4700016"/>
            <a:ext cx="4937760" cy="768096"/>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Calibri" pitchFamily="34" charset="0"/>
                <a:ea typeface="Calibri" pitchFamily="34" charset="-122"/>
                <a:cs typeface="Calibri" pitchFamily="34" charset="-120"/>
              </a:rPr>
              <a:t>An optimised gradient boosting implementation with regularisation, widely used for structured and tabular datasets.</a:t>
            </a:r>
            <a:endParaRPr lang="en-US" sz="1150" dirty="0"/>
          </a:p>
        </p:txBody>
      </p:sp>
      <p:sp>
        <p:nvSpPr>
          <p:cNvPr id="32" name="Text 30"/>
          <p:cNvSpPr/>
          <p:nvPr/>
        </p:nvSpPr>
        <p:spPr>
          <a:xfrm>
            <a:off x="6400800" y="5522976"/>
            <a:ext cx="4937760" cy="310896"/>
          </a:xfrm>
          <a:prstGeom prst="rect">
            <a:avLst/>
          </a:prstGeom>
          <a:noFill/>
          <a:ln/>
        </p:spPr>
        <p:txBody>
          <a:bodyPr wrap="square" lIns="0" tIns="0" rIns="0" bIns="0" rtlCol="0" anchor="ctr"/>
          <a:lstStyle/>
          <a:p>
            <a:pPr indent="0" marL="0">
              <a:buNone/>
            </a:pPr>
            <a:r>
              <a:rPr lang="en-US" sz="1050" i="1" dirty="0">
                <a:solidFill>
                  <a:srgbClr val="5C6675"/>
                </a:solidFill>
                <a:latin typeface="Calibri" pitchFamily="34" charset="0"/>
                <a:ea typeface="Calibri" pitchFamily="34" charset="-122"/>
                <a:cs typeface="Calibri" pitchFamily="34" charset="-120"/>
              </a:rPr>
              <a:t>Efficient on tabular data; requires tuning.</a:t>
            </a:r>
            <a:endParaRPr lang="en-US" sz="1050" dirty="0"/>
          </a:p>
        </p:txBody>
      </p:sp>
      <p:sp>
        <p:nvSpPr>
          <p:cNvPr id="33" name="Text 3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15</a:t>
            </a:r>
            <a:endParaRPr lang="en-US" sz="1000" dirty="0"/>
          </a:p>
        </p:txBody>
      </p:sp>
      <p:sp>
        <p:nvSpPr>
          <p:cNvPr id="34" name="Text 3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METRICS AND COMPARISON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Model Evaluation</a:t>
            </a:r>
            <a:endParaRPr lang="en-US" sz="3000" dirty="0"/>
          </a:p>
        </p:txBody>
      </p:sp>
      <p:sp>
        <p:nvSpPr>
          <p:cNvPr id="4" name="Shape 2"/>
          <p:cNvSpPr/>
          <p:nvPr/>
        </p:nvSpPr>
        <p:spPr>
          <a:xfrm>
            <a:off x="566928" y="1389888"/>
            <a:ext cx="5486400" cy="932688"/>
          </a:xfrm>
          <a:prstGeom prst="roundRect">
            <a:avLst>
              <a:gd name="adj" fmla="val 5882"/>
            </a:avLst>
          </a:prstGeom>
          <a:solidFill>
            <a:srgbClr val="F4F6F9"/>
          </a:solidFill>
          <a:ln w="12700">
            <a:solidFill>
              <a:srgbClr val="D6DCE5"/>
            </a:solidFill>
            <a:prstDash val="solid"/>
          </a:ln>
        </p:spPr>
      </p:sp>
      <p:sp>
        <p:nvSpPr>
          <p:cNvPr id="5" name="Text 3"/>
          <p:cNvSpPr/>
          <p:nvPr/>
        </p:nvSpPr>
        <p:spPr>
          <a:xfrm>
            <a:off x="749808" y="1499616"/>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MAE</a:t>
            </a:r>
            <a:endParaRPr lang="en-US" sz="1900" dirty="0"/>
          </a:p>
        </p:txBody>
      </p:sp>
      <p:sp>
        <p:nvSpPr>
          <p:cNvPr id="6" name="Text 4"/>
          <p:cNvSpPr/>
          <p:nvPr/>
        </p:nvSpPr>
        <p:spPr>
          <a:xfrm>
            <a:off x="1810512" y="1508760"/>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Mean Absolute Error</a:t>
            </a:r>
            <a:endParaRPr lang="en-US" sz="1250" dirty="0"/>
          </a:p>
        </p:txBody>
      </p:sp>
      <p:sp>
        <p:nvSpPr>
          <p:cNvPr id="7" name="Text 5"/>
          <p:cNvSpPr/>
          <p:nvPr/>
        </p:nvSpPr>
        <p:spPr>
          <a:xfrm>
            <a:off x="1810512" y="1755648"/>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The average magnitude of the prediction error, expressed in the same unit as the target. Treats all errors equally.</a:t>
            </a:r>
            <a:endParaRPr lang="en-US" sz="1080" dirty="0"/>
          </a:p>
        </p:txBody>
      </p:sp>
      <p:sp>
        <p:nvSpPr>
          <p:cNvPr id="8" name="Shape 6"/>
          <p:cNvSpPr/>
          <p:nvPr/>
        </p:nvSpPr>
        <p:spPr>
          <a:xfrm>
            <a:off x="566928" y="2450592"/>
            <a:ext cx="5486400" cy="932688"/>
          </a:xfrm>
          <a:prstGeom prst="roundRect">
            <a:avLst>
              <a:gd name="adj" fmla="val 5882"/>
            </a:avLst>
          </a:prstGeom>
          <a:solidFill>
            <a:srgbClr val="F4F6F9"/>
          </a:solidFill>
          <a:ln w="12700">
            <a:solidFill>
              <a:srgbClr val="D6DCE5"/>
            </a:solidFill>
            <a:prstDash val="solid"/>
          </a:ln>
        </p:spPr>
      </p:sp>
      <p:sp>
        <p:nvSpPr>
          <p:cNvPr id="9" name="Text 7"/>
          <p:cNvSpPr/>
          <p:nvPr/>
        </p:nvSpPr>
        <p:spPr>
          <a:xfrm>
            <a:off x="749808" y="2560320"/>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RMSE</a:t>
            </a:r>
            <a:endParaRPr lang="en-US" sz="1900" dirty="0"/>
          </a:p>
        </p:txBody>
      </p:sp>
      <p:sp>
        <p:nvSpPr>
          <p:cNvPr id="10" name="Text 8"/>
          <p:cNvSpPr/>
          <p:nvPr/>
        </p:nvSpPr>
        <p:spPr>
          <a:xfrm>
            <a:off x="1810512" y="2569464"/>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Root Mean Squared Error</a:t>
            </a:r>
            <a:endParaRPr lang="en-US" sz="1250" dirty="0"/>
          </a:p>
        </p:txBody>
      </p:sp>
      <p:sp>
        <p:nvSpPr>
          <p:cNvPr id="11" name="Text 9"/>
          <p:cNvSpPr/>
          <p:nvPr/>
        </p:nvSpPr>
        <p:spPr>
          <a:xfrm>
            <a:off x="1810512" y="2816352"/>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Penalises larger errors more heavily than smaller ones, and is therefore sensitive to occasional large mistakes.</a:t>
            </a:r>
            <a:endParaRPr lang="en-US" sz="1080" dirty="0"/>
          </a:p>
        </p:txBody>
      </p:sp>
      <p:sp>
        <p:nvSpPr>
          <p:cNvPr id="12" name="Shape 10"/>
          <p:cNvSpPr/>
          <p:nvPr/>
        </p:nvSpPr>
        <p:spPr>
          <a:xfrm>
            <a:off x="566928" y="3511296"/>
            <a:ext cx="5486400" cy="932688"/>
          </a:xfrm>
          <a:prstGeom prst="roundRect">
            <a:avLst>
              <a:gd name="adj" fmla="val 5882"/>
            </a:avLst>
          </a:prstGeom>
          <a:solidFill>
            <a:srgbClr val="F4F6F9"/>
          </a:solidFill>
          <a:ln w="12700">
            <a:solidFill>
              <a:srgbClr val="D6DCE5"/>
            </a:solidFill>
            <a:prstDash val="solid"/>
          </a:ln>
        </p:spPr>
      </p:sp>
      <p:sp>
        <p:nvSpPr>
          <p:cNvPr id="13" name="Text 11"/>
          <p:cNvSpPr/>
          <p:nvPr/>
        </p:nvSpPr>
        <p:spPr>
          <a:xfrm>
            <a:off x="749808" y="3621024"/>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R²</a:t>
            </a:r>
            <a:endParaRPr lang="en-US" sz="1900" dirty="0"/>
          </a:p>
        </p:txBody>
      </p:sp>
      <p:sp>
        <p:nvSpPr>
          <p:cNvPr id="14" name="Text 12"/>
          <p:cNvSpPr/>
          <p:nvPr/>
        </p:nvSpPr>
        <p:spPr>
          <a:xfrm>
            <a:off x="1810512" y="3630168"/>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Coefficient of Determination</a:t>
            </a:r>
            <a:endParaRPr lang="en-US" sz="1250" dirty="0"/>
          </a:p>
        </p:txBody>
      </p:sp>
      <p:sp>
        <p:nvSpPr>
          <p:cNvPr id="15" name="Text 13"/>
          <p:cNvSpPr/>
          <p:nvPr/>
        </p:nvSpPr>
        <p:spPr>
          <a:xfrm>
            <a:off x="1810512" y="3877056"/>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The proportion of variance in the target explained by the model. A value of 0 corresponds to predicting the mean.</a:t>
            </a:r>
            <a:endParaRPr lang="en-US" sz="1080" dirty="0"/>
          </a:p>
        </p:txBody>
      </p:sp>
      <p:sp>
        <p:nvSpPr>
          <p:cNvPr id="16" name="Shape 14"/>
          <p:cNvSpPr/>
          <p:nvPr/>
        </p:nvSpPr>
        <p:spPr>
          <a:xfrm>
            <a:off x="566928" y="4572000"/>
            <a:ext cx="5486400" cy="932688"/>
          </a:xfrm>
          <a:prstGeom prst="roundRect">
            <a:avLst>
              <a:gd name="adj" fmla="val 5882"/>
            </a:avLst>
          </a:prstGeom>
          <a:solidFill>
            <a:srgbClr val="F4F6F9"/>
          </a:solidFill>
          <a:ln w="12700">
            <a:solidFill>
              <a:srgbClr val="D6DCE5"/>
            </a:solidFill>
            <a:prstDash val="solid"/>
          </a:ln>
        </p:spPr>
      </p:sp>
      <p:sp>
        <p:nvSpPr>
          <p:cNvPr id="17" name="Text 15"/>
          <p:cNvSpPr/>
          <p:nvPr/>
        </p:nvSpPr>
        <p:spPr>
          <a:xfrm>
            <a:off x="749808" y="4681728"/>
            <a:ext cx="1005840" cy="365760"/>
          </a:xfrm>
          <a:prstGeom prst="rect">
            <a:avLst/>
          </a:prstGeom>
          <a:noFill/>
          <a:ln/>
        </p:spPr>
        <p:txBody>
          <a:bodyPr wrap="square" lIns="0" tIns="0" rIns="0" bIns="0" rtlCol="0" anchor="ctr"/>
          <a:lstStyle/>
          <a:p>
            <a:pPr indent="0" marL="0">
              <a:buNone/>
            </a:pPr>
            <a:r>
              <a:rPr lang="en-US" sz="1900" b="1" dirty="0">
                <a:solidFill>
                  <a:srgbClr val="C2703A"/>
                </a:solidFill>
                <a:latin typeface="Cambria" pitchFamily="34" charset="0"/>
                <a:ea typeface="Cambria" pitchFamily="34" charset="-122"/>
                <a:cs typeface="Cambria" pitchFamily="34" charset="-120"/>
              </a:rPr>
              <a:t>MAPE</a:t>
            </a:r>
            <a:endParaRPr lang="en-US" sz="1900" dirty="0"/>
          </a:p>
        </p:txBody>
      </p:sp>
      <p:sp>
        <p:nvSpPr>
          <p:cNvPr id="18" name="Text 16"/>
          <p:cNvSpPr/>
          <p:nvPr/>
        </p:nvSpPr>
        <p:spPr>
          <a:xfrm>
            <a:off x="1810512" y="4690872"/>
            <a:ext cx="4023360" cy="237744"/>
          </a:xfrm>
          <a:prstGeom prst="rect">
            <a:avLst/>
          </a:prstGeom>
          <a:noFill/>
          <a:ln/>
        </p:spPr>
        <p:txBody>
          <a:bodyPr wrap="square" lIns="0" tIns="0" rIns="0" bIns="0" rtlCol="0" anchor="ctr"/>
          <a:lstStyle/>
          <a:p>
            <a:pPr indent="0" marL="0">
              <a:buNone/>
            </a:pPr>
            <a:r>
              <a:rPr lang="en-US" sz="1250" b="1" dirty="0">
                <a:solidFill>
                  <a:srgbClr val="1B365D"/>
                </a:solidFill>
                <a:latin typeface="Calibri" pitchFamily="34" charset="0"/>
                <a:ea typeface="Calibri" pitchFamily="34" charset="-122"/>
                <a:cs typeface="Calibri" pitchFamily="34" charset="-120"/>
              </a:rPr>
              <a:t>Mean Absolute Percentage Error</a:t>
            </a:r>
            <a:endParaRPr lang="en-US" sz="1250" dirty="0"/>
          </a:p>
        </p:txBody>
      </p:sp>
      <p:sp>
        <p:nvSpPr>
          <p:cNvPr id="19" name="Text 17"/>
          <p:cNvSpPr/>
          <p:nvPr/>
        </p:nvSpPr>
        <p:spPr>
          <a:xfrm>
            <a:off x="1810512" y="4937760"/>
            <a:ext cx="4059936" cy="493776"/>
          </a:xfrm>
          <a:prstGeom prst="rect">
            <a:avLst/>
          </a:prstGeom>
          <a:noFill/>
          <a:ln/>
        </p:spPr>
        <p:txBody>
          <a:bodyPr wrap="square" lIns="0" tIns="0" rIns="0" bIns="0" rtlCol="0" anchor="ctr"/>
          <a:lstStyle/>
          <a:p>
            <a:pPr indent="0" marL="0">
              <a:lnSpc>
                <a:spcPts val="1400"/>
              </a:lnSpc>
              <a:buNone/>
            </a:pPr>
            <a:r>
              <a:rPr lang="en-US" sz="1080" dirty="0">
                <a:solidFill>
                  <a:srgbClr val="5C6675"/>
                </a:solidFill>
                <a:latin typeface="Calibri" pitchFamily="34" charset="0"/>
                <a:ea typeface="Calibri" pitchFamily="34" charset="-122"/>
                <a:cs typeface="Calibri" pitchFamily="34" charset="-120"/>
              </a:rPr>
              <a:t>Expresses error as a percentage of the actual value, allowing comparison across differently priced properties.</a:t>
            </a:r>
            <a:endParaRPr lang="en-US" sz="108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72784" y="1389888"/>
          <a:ext cx="5321808" cy="914400"/>
        </p:xfrm>
        <a:graphic>
          <a:graphicData uri="http://schemas.openxmlformats.org/drawingml/2006/table">
            <a:tbl>
              <a:tblPr/>
              <a:tblGrid>
                <a:gridCol w="2084832"/>
                <a:gridCol w="1078992"/>
                <a:gridCol w="1078992"/>
                <a:gridCol w="1078992"/>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1B365D"/>
                    </a:solidFill>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Linear Regression</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Random Forest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Gradient Boosting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r h="384048">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XGBoost Regressor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c>
                  <a:txBody>
                    <a:bodyPr/>
                    <a:lstStyle/>
                    <a:p>
                      <a:pPr algn="l" indent="0" marL="0">
                        <a:buNone/>
                      </a:pPr>
                      <a:r>
                        <a:rPr lang="en-US" sz="1100" dirty="0">
                          <a:solidFill>
                            <a:srgbClr val="1F2430"/>
                          </a:solidFill>
                          <a:latin typeface="Calibri" pitchFamily="34" charset="0"/>
                          <a:ea typeface="Calibri" pitchFamily="34" charset="-122"/>
                          <a:cs typeface="Calibri" pitchFamily="34" charset="-120"/>
                        </a:rPr>
                        <a:t>To be calculated</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tcPr>
                </a:tc>
              </a:tr>
            </a:tbl>
          </a:graphicData>
        </a:graphic>
      </p:graphicFrame>
      <p:sp>
        <p:nvSpPr>
          <p:cNvPr id="21" name="Shape 18"/>
          <p:cNvSpPr/>
          <p:nvPr/>
        </p:nvSpPr>
        <p:spPr>
          <a:xfrm>
            <a:off x="6272784" y="3657600"/>
            <a:ext cx="5321808" cy="2395728"/>
          </a:xfrm>
          <a:prstGeom prst="roundRect">
            <a:avLst>
              <a:gd name="adj" fmla="val 2290"/>
            </a:avLst>
          </a:prstGeom>
          <a:solidFill>
            <a:srgbClr val="FDF6EF"/>
          </a:solidFill>
          <a:ln w="12700">
            <a:solidFill>
              <a:srgbClr val="D6DCE5"/>
            </a:solidFill>
            <a:prstDash val="solid"/>
          </a:ln>
        </p:spPr>
      </p:sp>
      <p:sp>
        <p:nvSpPr>
          <p:cNvPr id="22" name="Text 19"/>
          <p:cNvSpPr/>
          <p:nvPr/>
        </p:nvSpPr>
        <p:spPr>
          <a:xfrm>
            <a:off x="6473952" y="3822192"/>
            <a:ext cx="4937760" cy="256032"/>
          </a:xfrm>
          <a:prstGeom prst="rect">
            <a:avLst/>
          </a:prstGeom>
          <a:noFill/>
          <a:ln/>
        </p:spPr>
        <p:txBody>
          <a:bodyPr wrap="square" lIns="0" tIns="0" rIns="0" bIns="0" rtlCol="0" anchor="ctr"/>
          <a:lstStyle/>
          <a:p>
            <a:pPr indent="0" marL="0">
              <a:buNone/>
            </a:pPr>
            <a:r>
              <a:rPr lang="en-US" sz="1350" b="1" dirty="0">
                <a:solidFill>
                  <a:srgbClr val="C2703A"/>
                </a:solidFill>
                <a:latin typeface="Cambria" pitchFamily="34" charset="0"/>
                <a:ea typeface="Cambria" pitchFamily="34" charset="-122"/>
                <a:cs typeface="Cambria" pitchFamily="34" charset="-120"/>
              </a:rPr>
              <a:t>Note on the comparison</a:t>
            </a:r>
            <a:endParaRPr lang="en-US" sz="1350" dirty="0"/>
          </a:p>
        </p:txBody>
      </p:sp>
      <p:sp>
        <p:nvSpPr>
          <p:cNvPr id="23" name="Text 20"/>
          <p:cNvSpPr/>
          <p:nvPr/>
        </p:nvSpPr>
        <p:spPr>
          <a:xfrm>
            <a:off x="6473952" y="4114800"/>
            <a:ext cx="4937760" cy="1828800"/>
          </a:xfrm>
          <a:prstGeom prst="rect">
            <a:avLst/>
          </a:prstGeom>
          <a:noFill/>
          <a:ln/>
        </p:spPr>
        <p:txBody>
          <a:bodyPr wrap="square" lIns="0" tIns="0" rIns="0" bIns="0" rtlCol="0" anchor="ctr"/>
          <a:lstStyle/>
          <a:p>
            <a:pPr indent="0" marL="0">
              <a:lnSpc>
                <a:spcPts val="1600"/>
              </a:lnSpc>
              <a:buNone/>
            </a:pPr>
            <a:r>
              <a:rPr lang="en-US" sz="1130" dirty="0">
                <a:solidFill>
                  <a:srgbClr val="1F2430"/>
                </a:solidFill>
                <a:latin typeface="Calibri" pitchFamily="34" charset="0"/>
                <a:ea typeface="Calibri" pitchFamily="34" charset="-122"/>
                <a:cs typeface="Calibri" pitchFamily="34" charset="-120"/>
              </a:rPr>
              <a:t>Values are not reported in this review because model training has not yet been carried out. Results will be presented in the next review.</a:t>
            </a:r>
            <a:endParaRPr lang="en-US" sz="1130" dirty="0"/>
          </a:p>
          <a:p>
            <a:pPr indent="0" marL="0">
              <a:lnSpc>
                <a:spcPts val="1600"/>
              </a:lnSpc>
              <a:buNone/>
            </a:pPr>
            <a:endParaRPr lang="en-US" sz="1130" dirty="0"/>
          </a:p>
          <a:p>
            <a:pPr indent="0" marL="0">
              <a:lnSpc>
                <a:spcPts val="1600"/>
              </a:lnSpc>
              <a:buNone/>
            </a:pPr>
            <a:r>
              <a:rPr lang="en-US" sz="1130" dirty="0">
                <a:solidFill>
                  <a:srgbClr val="1F2430"/>
                </a:solidFill>
                <a:latin typeface="Calibri" pitchFamily="34" charset="0"/>
                <a:ea typeface="Calibri" pitchFamily="34" charset="-122"/>
                <a:cs typeface="Calibri" pitchFamily="34" charset="-120"/>
              </a:rPr>
              <a:t>Because properties in the same locality share price characteristics, a random train-test split can place closely related records on both sides of the split and overstate performance. A grouped split by locality will therefore be used alongside the random split, and both results will be reported.</a:t>
            </a:r>
            <a:endParaRPr lang="en-US" sz="1130" dirty="0"/>
          </a:p>
        </p:txBody>
      </p:sp>
      <p:sp>
        <p:nvSpPr>
          <p:cNvPr id="25" name="Text 2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16</a:t>
            </a:r>
            <a:endParaRPr lang="en-US" sz="1000" dirty="0"/>
          </a:p>
        </p:txBody>
      </p:sp>
      <p:sp>
        <p:nvSpPr>
          <p:cNvPr id="26" name="Text 2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EXPLAINABLE AI — PLANNED ANALYSIS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Understanding the Prediction</a:t>
            </a:r>
            <a:endParaRPr lang="en-US" sz="3000" dirty="0"/>
          </a:p>
        </p:txBody>
      </p:sp>
      <p:sp>
        <p:nvSpPr>
          <p:cNvPr id="4" name="Shape 2"/>
          <p:cNvSpPr/>
          <p:nvPr/>
        </p:nvSpPr>
        <p:spPr>
          <a:xfrm>
            <a:off x="566928" y="1371600"/>
            <a:ext cx="3200400" cy="658368"/>
          </a:xfrm>
          <a:prstGeom prst="roundRect">
            <a:avLst>
              <a:gd name="adj" fmla="val 8333"/>
            </a:avLst>
          </a:prstGeom>
          <a:solidFill>
            <a:srgbClr val="1B365D"/>
          </a:solidFill>
          <a:ln w="12700">
            <a:solidFill>
              <a:srgbClr val="1B365D"/>
            </a:solidFill>
            <a:prstDash val="solid"/>
          </a:ln>
        </p:spPr>
      </p:sp>
      <p:sp>
        <p:nvSpPr>
          <p:cNvPr id="5" name="Text 3"/>
          <p:cNvSpPr/>
          <p:nvPr/>
        </p:nvSpPr>
        <p:spPr>
          <a:xfrm>
            <a:off x="566928" y="1371600"/>
            <a:ext cx="32004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Property Price</a:t>
            </a:r>
            <a:endParaRPr lang="en-US" sz="1300" dirty="0"/>
          </a:p>
        </p:txBody>
      </p:sp>
      <p:sp>
        <p:nvSpPr>
          <p:cNvPr id="6" name="Shape 4"/>
          <p:cNvSpPr/>
          <p:nvPr/>
        </p:nvSpPr>
        <p:spPr>
          <a:xfrm>
            <a:off x="3858768" y="1700784"/>
            <a:ext cx="457200" cy="0"/>
          </a:xfrm>
          <a:prstGeom prst="line">
            <a:avLst/>
          </a:prstGeom>
          <a:noFill/>
          <a:ln w="19050">
            <a:solidFill>
              <a:srgbClr val="5C6675"/>
            </a:solidFill>
            <a:prstDash val="solid"/>
            <a:tailEnd type="triangle"/>
          </a:ln>
        </p:spPr>
      </p:sp>
      <p:sp>
        <p:nvSpPr>
          <p:cNvPr id="7" name="Shape 5"/>
          <p:cNvSpPr/>
          <p:nvPr/>
        </p:nvSpPr>
        <p:spPr>
          <a:xfrm>
            <a:off x="4315968" y="1371600"/>
            <a:ext cx="3931920" cy="658368"/>
          </a:xfrm>
          <a:prstGeom prst="roundRect">
            <a:avLst>
              <a:gd name="adj" fmla="val 8333"/>
            </a:avLst>
          </a:prstGeom>
          <a:solidFill>
            <a:srgbClr val="FDF6EF"/>
          </a:solidFill>
          <a:ln w="19050">
            <a:solidFill>
              <a:srgbClr val="C2703A"/>
            </a:solidFill>
            <a:prstDash val="solid"/>
          </a:ln>
        </p:spPr>
      </p:sp>
      <p:sp>
        <p:nvSpPr>
          <p:cNvPr id="8" name="Text 6"/>
          <p:cNvSpPr/>
          <p:nvPr/>
        </p:nvSpPr>
        <p:spPr>
          <a:xfrm>
            <a:off x="4315968" y="1371600"/>
            <a:ext cx="3931920" cy="658368"/>
          </a:xfrm>
          <a:prstGeom prst="rect">
            <a:avLst/>
          </a:prstGeom>
          <a:noFill/>
          <a:ln/>
        </p:spPr>
        <p:txBody>
          <a:bodyPr wrap="square" lIns="0" tIns="0" rIns="0" bIns="0" rtlCol="0" anchor="ctr"/>
          <a:lstStyle/>
          <a:p>
            <a:pPr algn="ctr" indent="0" marL="0">
              <a:buNone/>
            </a:pPr>
            <a:r>
              <a:rPr lang="en-US" sz="1300" b="1" dirty="0">
                <a:solidFill>
                  <a:srgbClr val="C2703A"/>
                </a:solidFill>
                <a:latin typeface="Calibri" pitchFamily="34" charset="0"/>
                <a:ea typeface="Calibri" pitchFamily="34" charset="-122"/>
                <a:cs typeface="Calibri" pitchFamily="34" charset="-120"/>
              </a:rPr>
              <a:t>Which features influenced it?</a:t>
            </a:r>
            <a:endParaRPr lang="en-US" sz="1300" dirty="0"/>
          </a:p>
        </p:txBody>
      </p:sp>
      <p:sp>
        <p:nvSpPr>
          <p:cNvPr id="9" name="Shape 7"/>
          <p:cNvSpPr/>
          <p:nvPr/>
        </p:nvSpPr>
        <p:spPr>
          <a:xfrm>
            <a:off x="8339328" y="1700784"/>
            <a:ext cx="457200" cy="0"/>
          </a:xfrm>
          <a:prstGeom prst="line">
            <a:avLst/>
          </a:prstGeom>
          <a:noFill/>
          <a:ln w="19050">
            <a:solidFill>
              <a:srgbClr val="5C6675"/>
            </a:solidFill>
            <a:prstDash val="solid"/>
            <a:tailEnd type="triangle"/>
          </a:ln>
        </p:spPr>
      </p:sp>
      <p:sp>
        <p:nvSpPr>
          <p:cNvPr id="10" name="Shape 8"/>
          <p:cNvSpPr/>
          <p:nvPr/>
        </p:nvSpPr>
        <p:spPr>
          <a:xfrm>
            <a:off x="8906256" y="1371600"/>
            <a:ext cx="2706624" cy="658368"/>
          </a:xfrm>
          <a:prstGeom prst="roundRect">
            <a:avLst>
              <a:gd name="adj" fmla="val 8333"/>
            </a:avLst>
          </a:prstGeom>
          <a:solidFill>
            <a:srgbClr val="F4F6F9"/>
          </a:solidFill>
          <a:ln w="15240">
            <a:solidFill>
              <a:srgbClr val="D6DCE5"/>
            </a:solidFill>
            <a:prstDash val="solid"/>
          </a:ln>
        </p:spPr>
      </p:sp>
      <p:sp>
        <p:nvSpPr>
          <p:cNvPr id="11" name="Text 9"/>
          <p:cNvSpPr/>
          <p:nvPr/>
        </p:nvSpPr>
        <p:spPr>
          <a:xfrm>
            <a:off x="8906256" y="1371600"/>
            <a:ext cx="2706624" cy="658368"/>
          </a:xfrm>
          <a:prstGeom prst="rect">
            <a:avLst/>
          </a:prstGeom>
          <a:noFill/>
          <a:ln/>
        </p:spPr>
        <p:txBody>
          <a:bodyPr wrap="square" lIns="0" tIns="0" rIns="0" bIns="0" rtlCol="0" anchor="ctr"/>
          <a:lstStyle/>
          <a:p>
            <a:pPr algn="ctr" indent="0" marL="0">
              <a:buNone/>
            </a:pPr>
            <a:r>
              <a:rPr lang="en-US" sz="1300" b="1" dirty="0">
                <a:solidFill>
                  <a:srgbClr val="1B365D"/>
                </a:solidFill>
                <a:latin typeface="Calibri" pitchFamily="34" charset="0"/>
                <a:ea typeface="Calibri" pitchFamily="34" charset="-122"/>
                <a:cs typeface="Calibri" pitchFamily="34" charset="-120"/>
              </a:rPr>
              <a:t>Ranked contributions</a:t>
            </a:r>
            <a:endParaRPr lang="en-US" sz="1300" dirty="0"/>
          </a:p>
        </p:txBody>
      </p:sp>
      <p:sp>
        <p:nvSpPr>
          <p:cNvPr id="12" name="Shape 10"/>
          <p:cNvSpPr/>
          <p:nvPr/>
        </p:nvSpPr>
        <p:spPr>
          <a:xfrm>
            <a:off x="566928" y="2395728"/>
            <a:ext cx="5486400" cy="1060704"/>
          </a:xfrm>
          <a:prstGeom prst="roundRect">
            <a:avLst>
              <a:gd name="adj" fmla="val 5172"/>
            </a:avLst>
          </a:prstGeom>
          <a:solidFill>
            <a:srgbClr val="F4F6F9"/>
          </a:solidFill>
          <a:ln w="12700">
            <a:solidFill>
              <a:srgbClr val="D6DCE5"/>
            </a:solidFill>
            <a:prstDash val="solid"/>
          </a:ln>
        </p:spPr>
      </p:sp>
      <p:sp>
        <p:nvSpPr>
          <p:cNvPr id="13" name="Text 11"/>
          <p:cNvSpPr/>
          <p:nvPr/>
        </p:nvSpPr>
        <p:spPr>
          <a:xfrm>
            <a:off x="786384" y="2542032"/>
            <a:ext cx="502920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Feature importance</a:t>
            </a:r>
            <a:endParaRPr lang="en-US" sz="1300" dirty="0"/>
          </a:p>
        </p:txBody>
      </p:sp>
      <p:sp>
        <p:nvSpPr>
          <p:cNvPr id="14" name="Text 12"/>
          <p:cNvSpPr/>
          <p:nvPr/>
        </p:nvSpPr>
        <p:spPr>
          <a:xfrm>
            <a:off x="786384" y="2816352"/>
            <a:ext cx="5065776" cy="566928"/>
          </a:xfrm>
          <a:prstGeom prst="rect">
            <a:avLst/>
          </a:prstGeom>
          <a:noFill/>
          <a:ln/>
        </p:spPr>
        <p:txBody>
          <a:bodyPr wrap="square" lIns="0" tIns="0" rIns="0" bIns="0" rtlCol="0" anchor="ctr"/>
          <a:lstStyle/>
          <a:p>
            <a:pPr indent="0" marL="0">
              <a:lnSpc>
                <a:spcPts val="1500"/>
              </a:lnSpc>
              <a:buNone/>
            </a:pPr>
            <a:r>
              <a:rPr lang="en-US" sz="1130" dirty="0">
                <a:solidFill>
                  <a:srgbClr val="5C6675"/>
                </a:solidFill>
                <a:latin typeface="Calibri" pitchFamily="34" charset="0"/>
                <a:ea typeface="Calibri" pitchFamily="34" charset="-122"/>
                <a:cs typeface="Calibri" pitchFamily="34" charset="-120"/>
              </a:rPr>
              <a:t>Measures how much model performance degrades when a feature's values are randomly permuted, indicating the model's reliance on that feature.</a:t>
            </a:r>
            <a:endParaRPr lang="en-US" sz="1130" dirty="0"/>
          </a:p>
        </p:txBody>
      </p:sp>
      <p:sp>
        <p:nvSpPr>
          <p:cNvPr id="15" name="Shape 13"/>
          <p:cNvSpPr/>
          <p:nvPr/>
        </p:nvSpPr>
        <p:spPr>
          <a:xfrm>
            <a:off x="566928" y="3621024"/>
            <a:ext cx="5486400" cy="1060704"/>
          </a:xfrm>
          <a:prstGeom prst="roundRect">
            <a:avLst>
              <a:gd name="adj" fmla="val 5172"/>
            </a:avLst>
          </a:prstGeom>
          <a:solidFill>
            <a:srgbClr val="F4F6F9"/>
          </a:solidFill>
          <a:ln w="12700">
            <a:solidFill>
              <a:srgbClr val="D6DCE5"/>
            </a:solidFill>
            <a:prstDash val="solid"/>
          </a:ln>
        </p:spPr>
      </p:sp>
      <p:sp>
        <p:nvSpPr>
          <p:cNvPr id="16" name="Text 14"/>
          <p:cNvSpPr/>
          <p:nvPr/>
        </p:nvSpPr>
        <p:spPr>
          <a:xfrm>
            <a:off x="786384" y="3767328"/>
            <a:ext cx="502920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SHAP (SHapley Additive exPlanations)</a:t>
            </a:r>
            <a:endParaRPr lang="en-US" sz="1300" dirty="0"/>
          </a:p>
        </p:txBody>
      </p:sp>
      <p:sp>
        <p:nvSpPr>
          <p:cNvPr id="17" name="Text 15"/>
          <p:cNvSpPr/>
          <p:nvPr/>
        </p:nvSpPr>
        <p:spPr>
          <a:xfrm>
            <a:off x="786384" y="4041648"/>
            <a:ext cx="5065776" cy="566928"/>
          </a:xfrm>
          <a:prstGeom prst="rect">
            <a:avLst/>
          </a:prstGeom>
          <a:noFill/>
          <a:ln/>
        </p:spPr>
        <p:txBody>
          <a:bodyPr wrap="square" lIns="0" tIns="0" rIns="0" bIns="0" rtlCol="0" anchor="ctr"/>
          <a:lstStyle/>
          <a:p>
            <a:pPr indent="0" marL="0">
              <a:lnSpc>
                <a:spcPts val="1500"/>
              </a:lnSpc>
              <a:buNone/>
            </a:pPr>
            <a:r>
              <a:rPr lang="en-US" sz="1130" dirty="0">
                <a:solidFill>
                  <a:srgbClr val="5C6675"/>
                </a:solidFill>
                <a:latin typeface="Calibri" pitchFamily="34" charset="0"/>
                <a:ea typeface="Calibri" pitchFamily="34" charset="-122"/>
                <a:cs typeface="Calibri" pitchFamily="34" charset="-120"/>
              </a:rPr>
              <a:t>Attributes a contribution value to each feature for an individual prediction, showing which attributes pushed the estimate above or below the baseline.</a:t>
            </a:r>
            <a:endParaRPr lang="en-US" sz="1130" dirty="0"/>
          </a:p>
        </p:txBody>
      </p:sp>
      <p:sp>
        <p:nvSpPr>
          <p:cNvPr id="18" name="Shape 16"/>
          <p:cNvSpPr/>
          <p:nvPr/>
        </p:nvSpPr>
        <p:spPr>
          <a:xfrm>
            <a:off x="6272784" y="2395728"/>
            <a:ext cx="5321808" cy="2432304"/>
          </a:xfrm>
          <a:prstGeom prst="roundRect">
            <a:avLst>
              <a:gd name="adj" fmla="val 2256"/>
            </a:avLst>
          </a:prstGeom>
          <a:solidFill>
            <a:srgbClr val="F4F6F9"/>
          </a:solidFill>
          <a:ln w="12700">
            <a:solidFill>
              <a:srgbClr val="D6DCE5"/>
            </a:solidFill>
            <a:prstDash val="solid"/>
          </a:ln>
        </p:spPr>
      </p:sp>
      <p:sp>
        <p:nvSpPr>
          <p:cNvPr id="19" name="Text 17"/>
          <p:cNvSpPr/>
          <p:nvPr/>
        </p:nvSpPr>
        <p:spPr>
          <a:xfrm>
            <a:off x="6473952" y="2560320"/>
            <a:ext cx="4937760" cy="256032"/>
          </a:xfrm>
          <a:prstGeom prst="rect">
            <a:avLst/>
          </a:prstGeom>
          <a:noFill/>
          <a:ln/>
        </p:spPr>
        <p:txBody>
          <a:bodyPr wrap="square" lIns="0" tIns="0" rIns="0" bIns="0" rtlCol="0" anchor="ctr"/>
          <a:lstStyle/>
          <a:p>
            <a:pPr indent="0" marL="0">
              <a:buNone/>
            </a:pPr>
            <a:r>
              <a:rPr lang="en-US" sz="1300" b="1" dirty="0">
                <a:solidFill>
                  <a:srgbClr val="1B365D"/>
                </a:solidFill>
                <a:latin typeface="Calibri" pitchFamily="34" charset="0"/>
                <a:ea typeface="Calibri" pitchFamily="34" charset="-122"/>
                <a:cs typeface="Calibri" pitchFamily="34" charset="-120"/>
              </a:rPr>
              <a:t>Features expected to be examined</a:t>
            </a:r>
            <a:endParaRPr lang="en-US" sz="1300" dirty="0"/>
          </a:p>
        </p:txBody>
      </p:sp>
      <p:sp>
        <p:nvSpPr>
          <p:cNvPr id="20" name="Text 18"/>
          <p:cNvSpPr/>
          <p:nvPr/>
        </p:nvSpPr>
        <p:spPr>
          <a:xfrm>
            <a:off x="6473952" y="2871216"/>
            <a:ext cx="4937760" cy="18288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Built-up area</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Locality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Configuration (BHK)</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Connectivity and accessibility</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Property age</a:t>
            </a:r>
            <a:endParaRPr lang="en-US" sz="1200" dirty="0"/>
          </a:p>
          <a:p>
            <a:pPr marL="342900" indent="-342900">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Amenity availability</a:t>
            </a:r>
            <a:endParaRPr lang="en-US" sz="1200" dirty="0"/>
          </a:p>
        </p:txBody>
      </p:sp>
      <p:sp>
        <p:nvSpPr>
          <p:cNvPr id="21" name="Shape 19"/>
          <p:cNvSpPr/>
          <p:nvPr/>
        </p:nvSpPr>
        <p:spPr>
          <a:xfrm>
            <a:off x="566928" y="5029200"/>
            <a:ext cx="11027664" cy="786384"/>
          </a:xfrm>
          <a:prstGeom prst="roundRect">
            <a:avLst>
              <a:gd name="adj" fmla="val 6977"/>
            </a:avLst>
          </a:prstGeom>
          <a:solidFill>
            <a:srgbClr val="FDF6EF"/>
          </a:solidFill>
          <a:ln w="17780">
            <a:solidFill>
              <a:srgbClr val="C2703A"/>
            </a:solidFill>
            <a:prstDash val="solid"/>
          </a:ln>
        </p:spPr>
      </p:sp>
      <p:sp>
        <p:nvSpPr>
          <p:cNvPr id="22" name="Text 20"/>
          <p:cNvSpPr/>
          <p:nvPr/>
        </p:nvSpPr>
        <p:spPr>
          <a:xfrm>
            <a:off x="841248" y="5029200"/>
            <a:ext cx="10479024" cy="786384"/>
          </a:xfrm>
          <a:prstGeom prst="rect">
            <a:avLst/>
          </a:prstGeom>
          <a:noFill/>
          <a:ln/>
        </p:spPr>
        <p:txBody>
          <a:bodyPr wrap="square" lIns="0" tIns="0" rIns="0" bIns="0" rtlCol="0" anchor="ctr"/>
          <a:lstStyle/>
          <a:p>
            <a:pPr indent="0" marL="0">
              <a:buNone/>
            </a:pPr>
            <a:r>
              <a:rPr lang="en-US" sz="1250" i="1" dirty="0">
                <a:solidFill>
                  <a:srgbClr val="8A4A22"/>
                </a:solidFill>
                <a:latin typeface="Calibri" pitchFamily="34" charset="0"/>
                <a:ea typeface="Calibri" pitchFamily="34" charset="-122"/>
                <a:cs typeface="Calibri" pitchFamily="34" charset="-120"/>
              </a:rPr>
              <a:t>This slide describes planned analysis. No explainability results are reported at this stage, as model training has not yet been completed.</a:t>
            </a:r>
            <a:endParaRPr lang="en-US" sz="1250" dirty="0"/>
          </a:p>
        </p:txBody>
      </p:sp>
      <p:sp>
        <p:nvSpPr>
          <p:cNvPr id="23" name="Text 21"/>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17</a:t>
            </a:r>
            <a:endParaRPr lang="en-US" sz="1000" dirty="0"/>
          </a:p>
        </p:txBody>
      </p:sp>
      <p:sp>
        <p:nvSpPr>
          <p:cNvPr id="24" name="Text 22"/>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TECHNICAL DESIGN</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Proposed System Architecture</a:t>
            </a:r>
            <a:endParaRPr lang="en-US" sz="3000" dirty="0"/>
          </a:p>
        </p:txBody>
      </p:sp>
      <p:sp>
        <p:nvSpPr>
          <p:cNvPr id="4" name="Shape 2"/>
          <p:cNvSpPr/>
          <p:nvPr/>
        </p:nvSpPr>
        <p:spPr>
          <a:xfrm>
            <a:off x="566928" y="1572768"/>
            <a:ext cx="2084832" cy="603504"/>
          </a:xfrm>
          <a:prstGeom prst="roundRect">
            <a:avLst>
              <a:gd name="adj" fmla="val 7576"/>
            </a:avLst>
          </a:prstGeom>
          <a:solidFill>
            <a:srgbClr val="1B365D"/>
          </a:solidFill>
          <a:ln w="17780">
            <a:solidFill>
              <a:srgbClr val="1B365D"/>
            </a:solidFill>
            <a:prstDash val="solid"/>
          </a:ln>
        </p:spPr>
      </p:sp>
      <p:sp>
        <p:nvSpPr>
          <p:cNvPr id="5" name="Text 3"/>
          <p:cNvSpPr/>
          <p:nvPr/>
        </p:nvSpPr>
        <p:spPr>
          <a:xfrm>
            <a:off x="566928"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Sources</a:t>
            </a:r>
            <a:endParaRPr lang="en-US" sz="1250" dirty="0"/>
          </a:p>
        </p:txBody>
      </p:sp>
      <p:sp>
        <p:nvSpPr>
          <p:cNvPr id="6" name="Shape 4"/>
          <p:cNvSpPr/>
          <p:nvPr/>
        </p:nvSpPr>
        <p:spPr>
          <a:xfrm>
            <a:off x="566928" y="2304288"/>
            <a:ext cx="2084832" cy="1810512"/>
          </a:xfrm>
          <a:prstGeom prst="roundRect">
            <a:avLst>
              <a:gd name="adj" fmla="val 3030"/>
            </a:avLst>
          </a:prstGeom>
          <a:solidFill>
            <a:srgbClr val="F4F6F9"/>
          </a:solidFill>
          <a:ln w="12700">
            <a:solidFill>
              <a:srgbClr val="D6DCE5"/>
            </a:solidFill>
            <a:prstDash val="solid"/>
          </a:ln>
        </p:spPr>
      </p:sp>
      <p:sp>
        <p:nvSpPr>
          <p:cNvPr id="7" name="Text 5"/>
          <p:cNvSpPr/>
          <p:nvPr/>
        </p:nvSpPr>
        <p:spPr>
          <a:xfrm>
            <a:off x="731520"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Property dataset (CSV)</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Location data</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GIS boundary data</a:t>
            </a:r>
            <a:endParaRPr lang="en-US" sz="1100" dirty="0"/>
          </a:p>
        </p:txBody>
      </p:sp>
      <p:sp>
        <p:nvSpPr>
          <p:cNvPr id="8" name="Shape 6"/>
          <p:cNvSpPr/>
          <p:nvPr/>
        </p:nvSpPr>
        <p:spPr>
          <a:xfrm>
            <a:off x="2679192" y="1874520"/>
            <a:ext cx="128016" cy="0"/>
          </a:xfrm>
          <a:prstGeom prst="line">
            <a:avLst/>
          </a:prstGeom>
          <a:noFill/>
          <a:ln w="17780">
            <a:solidFill>
              <a:srgbClr val="5C6675"/>
            </a:solidFill>
            <a:prstDash val="solid"/>
            <a:tailEnd type="triangle"/>
          </a:ln>
        </p:spPr>
      </p:sp>
      <p:sp>
        <p:nvSpPr>
          <p:cNvPr id="9" name="Shape 7"/>
          <p:cNvSpPr/>
          <p:nvPr/>
        </p:nvSpPr>
        <p:spPr>
          <a:xfrm>
            <a:off x="2834640" y="1572768"/>
            <a:ext cx="2084832" cy="603504"/>
          </a:xfrm>
          <a:prstGeom prst="roundRect">
            <a:avLst>
              <a:gd name="adj" fmla="val 7576"/>
            </a:avLst>
          </a:prstGeom>
          <a:solidFill>
            <a:srgbClr val="1B365D"/>
          </a:solidFill>
          <a:ln w="17780">
            <a:solidFill>
              <a:srgbClr val="1B365D"/>
            </a:solidFill>
            <a:prstDash val="solid"/>
          </a:ln>
        </p:spPr>
      </p:sp>
      <p:sp>
        <p:nvSpPr>
          <p:cNvPr id="10" name="Text 8"/>
          <p:cNvSpPr/>
          <p:nvPr/>
        </p:nvSpPr>
        <p:spPr>
          <a:xfrm>
            <a:off x="2834640"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Processing</a:t>
            </a:r>
            <a:endParaRPr lang="en-US" sz="1250" dirty="0"/>
          </a:p>
        </p:txBody>
      </p:sp>
      <p:sp>
        <p:nvSpPr>
          <p:cNvPr id="11" name="Shape 9"/>
          <p:cNvSpPr/>
          <p:nvPr/>
        </p:nvSpPr>
        <p:spPr>
          <a:xfrm>
            <a:off x="2834640" y="2304288"/>
            <a:ext cx="2084832" cy="1810512"/>
          </a:xfrm>
          <a:prstGeom prst="roundRect">
            <a:avLst>
              <a:gd name="adj" fmla="val 3030"/>
            </a:avLst>
          </a:prstGeom>
          <a:solidFill>
            <a:srgbClr val="F4F6F9"/>
          </a:solidFill>
          <a:ln w="12700">
            <a:solidFill>
              <a:srgbClr val="D6DCE5"/>
            </a:solidFill>
            <a:prstDash val="solid"/>
          </a:ln>
        </p:spPr>
      </p:sp>
      <p:sp>
        <p:nvSpPr>
          <p:cNvPr id="12" name="Text 10"/>
          <p:cNvSpPr/>
          <p:nvPr/>
        </p:nvSpPr>
        <p:spPr>
          <a:xfrm>
            <a:off x="2999232"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Python</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Pandas / NumPy</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GeoPandas</a:t>
            </a:r>
            <a:endParaRPr lang="en-US" sz="1100" dirty="0"/>
          </a:p>
        </p:txBody>
      </p:sp>
      <p:sp>
        <p:nvSpPr>
          <p:cNvPr id="13" name="Shape 11"/>
          <p:cNvSpPr/>
          <p:nvPr/>
        </p:nvSpPr>
        <p:spPr>
          <a:xfrm>
            <a:off x="4946904" y="1874520"/>
            <a:ext cx="128016" cy="0"/>
          </a:xfrm>
          <a:prstGeom prst="line">
            <a:avLst/>
          </a:prstGeom>
          <a:noFill/>
          <a:ln w="17780">
            <a:solidFill>
              <a:srgbClr val="5C6675"/>
            </a:solidFill>
            <a:prstDash val="solid"/>
            <a:tailEnd type="triangle"/>
          </a:ln>
        </p:spPr>
      </p:sp>
      <p:sp>
        <p:nvSpPr>
          <p:cNvPr id="14" name="Shape 12"/>
          <p:cNvSpPr/>
          <p:nvPr/>
        </p:nvSpPr>
        <p:spPr>
          <a:xfrm>
            <a:off x="5102352" y="1572768"/>
            <a:ext cx="2084832" cy="603504"/>
          </a:xfrm>
          <a:prstGeom prst="roundRect">
            <a:avLst>
              <a:gd name="adj" fmla="val 7576"/>
            </a:avLst>
          </a:prstGeom>
          <a:solidFill>
            <a:srgbClr val="C2703A"/>
          </a:solidFill>
          <a:ln w="17780">
            <a:solidFill>
              <a:srgbClr val="C2703A"/>
            </a:solidFill>
            <a:prstDash val="solid"/>
          </a:ln>
        </p:spPr>
      </p:sp>
      <p:sp>
        <p:nvSpPr>
          <p:cNvPr id="15" name="Text 13"/>
          <p:cNvSpPr/>
          <p:nvPr/>
        </p:nvSpPr>
        <p:spPr>
          <a:xfrm>
            <a:off x="5102352"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Machine Learning</a:t>
            </a:r>
            <a:endParaRPr lang="en-US" sz="1250" dirty="0"/>
          </a:p>
        </p:txBody>
      </p:sp>
      <p:sp>
        <p:nvSpPr>
          <p:cNvPr id="16" name="Shape 14"/>
          <p:cNvSpPr/>
          <p:nvPr/>
        </p:nvSpPr>
        <p:spPr>
          <a:xfrm>
            <a:off x="5102352" y="2304288"/>
            <a:ext cx="2084832" cy="1810512"/>
          </a:xfrm>
          <a:prstGeom prst="roundRect">
            <a:avLst>
              <a:gd name="adj" fmla="val 3030"/>
            </a:avLst>
          </a:prstGeom>
          <a:solidFill>
            <a:srgbClr val="F4F6F9"/>
          </a:solidFill>
          <a:ln w="12700">
            <a:solidFill>
              <a:srgbClr val="D6DCE5"/>
            </a:solidFill>
            <a:prstDash val="solid"/>
          </a:ln>
        </p:spPr>
      </p:sp>
      <p:sp>
        <p:nvSpPr>
          <p:cNvPr id="17" name="Text 15"/>
          <p:cNvSpPr/>
          <p:nvPr/>
        </p:nvSpPr>
        <p:spPr>
          <a:xfrm>
            <a:off x="5266944"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Preprocessing</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Feature engineering</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Model training and evaluation</a:t>
            </a:r>
            <a:endParaRPr lang="en-US" sz="1100" dirty="0"/>
          </a:p>
        </p:txBody>
      </p:sp>
      <p:sp>
        <p:nvSpPr>
          <p:cNvPr id="18" name="Shape 16"/>
          <p:cNvSpPr/>
          <p:nvPr/>
        </p:nvSpPr>
        <p:spPr>
          <a:xfrm>
            <a:off x="7214616" y="1874520"/>
            <a:ext cx="128016" cy="0"/>
          </a:xfrm>
          <a:prstGeom prst="line">
            <a:avLst/>
          </a:prstGeom>
          <a:noFill/>
          <a:ln w="17780">
            <a:solidFill>
              <a:srgbClr val="5C6675"/>
            </a:solidFill>
            <a:prstDash val="solid"/>
            <a:tailEnd type="triangle"/>
          </a:ln>
        </p:spPr>
      </p:sp>
      <p:sp>
        <p:nvSpPr>
          <p:cNvPr id="19" name="Shape 17"/>
          <p:cNvSpPr/>
          <p:nvPr/>
        </p:nvSpPr>
        <p:spPr>
          <a:xfrm>
            <a:off x="7370064" y="1572768"/>
            <a:ext cx="2084832" cy="603504"/>
          </a:xfrm>
          <a:prstGeom prst="roundRect">
            <a:avLst>
              <a:gd name="adj" fmla="val 7576"/>
            </a:avLst>
          </a:prstGeom>
          <a:solidFill>
            <a:srgbClr val="1B365D"/>
          </a:solidFill>
          <a:ln w="17780">
            <a:solidFill>
              <a:srgbClr val="1B365D"/>
            </a:solidFill>
            <a:prstDash val="solid"/>
          </a:ln>
        </p:spPr>
      </p:sp>
      <p:sp>
        <p:nvSpPr>
          <p:cNvPr id="20" name="Text 18"/>
          <p:cNvSpPr/>
          <p:nvPr/>
        </p:nvSpPr>
        <p:spPr>
          <a:xfrm>
            <a:off x="7370064" y="1572768"/>
            <a:ext cx="2084832"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Explainability</a:t>
            </a:r>
            <a:endParaRPr lang="en-US" sz="1250" dirty="0"/>
          </a:p>
        </p:txBody>
      </p:sp>
      <p:sp>
        <p:nvSpPr>
          <p:cNvPr id="21" name="Shape 19"/>
          <p:cNvSpPr/>
          <p:nvPr/>
        </p:nvSpPr>
        <p:spPr>
          <a:xfrm>
            <a:off x="7370064" y="2304288"/>
            <a:ext cx="2084832" cy="1810512"/>
          </a:xfrm>
          <a:prstGeom prst="roundRect">
            <a:avLst>
              <a:gd name="adj" fmla="val 3030"/>
            </a:avLst>
          </a:prstGeom>
          <a:solidFill>
            <a:srgbClr val="F4F6F9"/>
          </a:solidFill>
          <a:ln w="12700">
            <a:solidFill>
              <a:srgbClr val="D6DCE5"/>
            </a:solidFill>
            <a:prstDash val="solid"/>
          </a:ln>
        </p:spPr>
      </p:sp>
      <p:sp>
        <p:nvSpPr>
          <p:cNvPr id="22" name="Text 20"/>
          <p:cNvSpPr/>
          <p:nvPr/>
        </p:nvSpPr>
        <p:spPr>
          <a:xfrm>
            <a:off x="7534656"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Feature importance</a:t>
            </a:r>
            <a:endParaRPr lang="en-US" sz="1100" dirty="0"/>
          </a:p>
          <a:p>
            <a:pPr marL="342900" indent="-342900">
              <a:lnSpc>
                <a:spcPts val="1400"/>
              </a:lnSpc>
              <a:spcAft>
                <a:spcPts val="600"/>
              </a:spcAft>
              <a:buSzPct val="100000"/>
              <a:buChar char="•"/>
            </a:pPr>
            <a:r>
              <a:rPr lang="en-US" sz="1100" dirty="0">
                <a:solidFill>
                  <a:srgbClr val="1F2430"/>
                </a:solidFill>
                <a:latin typeface="Calibri" pitchFamily="34" charset="0"/>
                <a:ea typeface="Calibri" pitchFamily="34" charset="-122"/>
                <a:cs typeface="Calibri" pitchFamily="34" charset="-120"/>
              </a:rPr>
              <a:t>SHAP analysis</a:t>
            </a:r>
            <a:endParaRPr lang="en-US" sz="1100" dirty="0"/>
          </a:p>
        </p:txBody>
      </p:sp>
      <p:sp>
        <p:nvSpPr>
          <p:cNvPr id="23" name="Shape 21"/>
          <p:cNvSpPr/>
          <p:nvPr/>
        </p:nvSpPr>
        <p:spPr>
          <a:xfrm>
            <a:off x="9482328" y="1874520"/>
            <a:ext cx="128016" cy="0"/>
          </a:xfrm>
          <a:prstGeom prst="line">
            <a:avLst/>
          </a:prstGeom>
          <a:noFill/>
          <a:ln w="17780">
            <a:solidFill>
              <a:srgbClr val="5C6675"/>
            </a:solidFill>
            <a:prstDash val="solid"/>
            <a:tailEnd type="triangle"/>
          </a:ln>
        </p:spPr>
      </p:sp>
      <p:sp>
        <p:nvSpPr>
          <p:cNvPr id="24" name="Shape 22"/>
          <p:cNvSpPr/>
          <p:nvPr/>
        </p:nvSpPr>
        <p:spPr>
          <a:xfrm>
            <a:off x="9637776" y="1572768"/>
            <a:ext cx="2084832" cy="603504"/>
          </a:xfrm>
          <a:prstGeom prst="roundRect">
            <a:avLst>
              <a:gd name="adj" fmla="val 7576"/>
            </a:avLst>
          </a:prstGeom>
          <a:solidFill>
            <a:srgbClr val="FFFFFF"/>
          </a:solidFill>
          <a:ln w="17780">
            <a:solidFill>
              <a:srgbClr val="D6DCE5"/>
            </a:solidFill>
            <a:prstDash val="solid"/>
          </a:ln>
        </p:spPr>
      </p:sp>
      <p:sp>
        <p:nvSpPr>
          <p:cNvPr id="25" name="Text 23"/>
          <p:cNvSpPr/>
          <p:nvPr/>
        </p:nvSpPr>
        <p:spPr>
          <a:xfrm>
            <a:off x="9637776" y="1572768"/>
            <a:ext cx="2084832" cy="603504"/>
          </a:xfrm>
          <a:prstGeom prst="rect">
            <a:avLst/>
          </a:prstGeom>
          <a:noFill/>
          <a:ln/>
        </p:spPr>
        <p:txBody>
          <a:bodyPr wrap="square" lIns="0" tIns="0" rIns="0" bIns="0" rtlCol="0" anchor="ctr"/>
          <a:lstStyle/>
          <a:p>
            <a:pPr algn="ctr" indent="0" marL="0">
              <a:buNone/>
            </a:pPr>
            <a:r>
              <a:rPr lang="en-US" sz="1250" b="1" dirty="0">
                <a:solidFill>
                  <a:srgbClr val="5C6675"/>
                </a:solidFill>
                <a:latin typeface="Calibri" pitchFamily="34" charset="0"/>
                <a:ea typeface="Calibri" pitchFamily="34" charset="-122"/>
                <a:cs typeface="Calibri" pitchFamily="34" charset="-120"/>
              </a:rPr>
              <a:t>Future Application</a:t>
            </a:r>
            <a:endParaRPr lang="en-US" sz="1250" dirty="0"/>
          </a:p>
        </p:txBody>
      </p:sp>
      <p:sp>
        <p:nvSpPr>
          <p:cNvPr id="26" name="Shape 24"/>
          <p:cNvSpPr/>
          <p:nvPr/>
        </p:nvSpPr>
        <p:spPr>
          <a:xfrm>
            <a:off x="9637776" y="2304288"/>
            <a:ext cx="2084832" cy="1810512"/>
          </a:xfrm>
          <a:prstGeom prst="roundRect">
            <a:avLst>
              <a:gd name="adj" fmla="val 3030"/>
            </a:avLst>
          </a:prstGeom>
          <a:solidFill>
            <a:srgbClr val="FAFBFC"/>
          </a:solidFill>
          <a:ln w="12700">
            <a:solidFill>
              <a:srgbClr val="D6DCE5"/>
            </a:solidFill>
            <a:prstDash val="solid"/>
          </a:ln>
        </p:spPr>
      </p:sp>
      <p:sp>
        <p:nvSpPr>
          <p:cNvPr id="27" name="Text 25"/>
          <p:cNvSpPr/>
          <p:nvPr/>
        </p:nvSpPr>
        <p:spPr>
          <a:xfrm>
            <a:off x="9802368" y="2450592"/>
            <a:ext cx="1773936"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5C6675"/>
                </a:solidFill>
                <a:latin typeface="Calibri" pitchFamily="34" charset="0"/>
                <a:ea typeface="Calibri" pitchFamily="34" charset="-122"/>
                <a:cs typeface="Calibri" pitchFamily="34" charset="-120"/>
              </a:rPr>
              <a:t>Web-based interface</a:t>
            </a:r>
            <a:endParaRPr lang="en-US" sz="1100" dirty="0"/>
          </a:p>
          <a:p>
            <a:pPr marL="342900" indent="-342900">
              <a:lnSpc>
                <a:spcPts val="1400"/>
              </a:lnSpc>
              <a:spcAft>
                <a:spcPts val="600"/>
              </a:spcAft>
              <a:buSzPct val="100000"/>
              <a:buChar char="•"/>
            </a:pPr>
            <a:r>
              <a:rPr lang="en-US" sz="1100" dirty="0">
                <a:solidFill>
                  <a:srgbClr val="5C6675"/>
                </a:solidFill>
                <a:latin typeface="Calibri" pitchFamily="34" charset="0"/>
                <a:ea typeface="Calibri" pitchFamily="34" charset="-122"/>
                <a:cs typeface="Calibri" pitchFamily="34" charset="-120"/>
              </a:rPr>
              <a:t>Not developed in this phase</a:t>
            </a:r>
            <a:endParaRPr lang="en-US" sz="1100" dirty="0"/>
          </a:p>
        </p:txBody>
      </p:sp>
      <p:sp>
        <p:nvSpPr>
          <p:cNvPr id="28" name="Shape 26"/>
          <p:cNvSpPr/>
          <p:nvPr/>
        </p:nvSpPr>
        <p:spPr>
          <a:xfrm>
            <a:off x="566928" y="4389120"/>
            <a:ext cx="11027664" cy="1463040"/>
          </a:xfrm>
          <a:prstGeom prst="roundRect">
            <a:avLst>
              <a:gd name="adj" fmla="val 3750"/>
            </a:avLst>
          </a:prstGeom>
          <a:solidFill>
            <a:srgbClr val="F4F6F9"/>
          </a:solidFill>
          <a:ln w="12700">
            <a:solidFill>
              <a:srgbClr val="D6DCE5"/>
            </a:solidFill>
            <a:prstDash val="solid"/>
          </a:ln>
        </p:spPr>
      </p:sp>
      <p:sp>
        <p:nvSpPr>
          <p:cNvPr id="29" name="Text 27"/>
          <p:cNvSpPr/>
          <p:nvPr/>
        </p:nvSpPr>
        <p:spPr>
          <a:xfrm>
            <a:off x="822960" y="4553712"/>
            <a:ext cx="5486400" cy="256032"/>
          </a:xfrm>
          <a:prstGeom prst="rect">
            <a:avLst/>
          </a:prstGeom>
          <a:noFill/>
          <a:ln/>
        </p:spPr>
        <p:txBody>
          <a:bodyPr wrap="square" lIns="0" tIns="0" rIns="0" bIns="0" rtlCol="0" anchor="ctr"/>
          <a:lstStyle/>
          <a:p>
            <a:pPr indent="0" marL="0">
              <a:buNone/>
            </a:pPr>
            <a:r>
              <a:rPr lang="en-US" sz="1400" b="1" dirty="0">
                <a:solidFill>
                  <a:srgbClr val="1B365D"/>
                </a:solidFill>
                <a:latin typeface="Cambria" pitchFamily="34" charset="0"/>
                <a:ea typeface="Cambria" pitchFamily="34" charset="-122"/>
                <a:cs typeface="Cambria" pitchFamily="34" charset="-120"/>
              </a:rPr>
              <a:t>Relationship between components</a:t>
            </a:r>
            <a:endParaRPr lang="en-US" sz="1400" dirty="0"/>
          </a:p>
        </p:txBody>
      </p:sp>
      <p:sp>
        <p:nvSpPr>
          <p:cNvPr id="30" name="Text 28"/>
          <p:cNvSpPr/>
          <p:nvPr/>
        </p:nvSpPr>
        <p:spPr>
          <a:xfrm>
            <a:off x="822960" y="4846320"/>
            <a:ext cx="10515600" cy="914400"/>
          </a:xfrm>
          <a:prstGeom prst="rect">
            <a:avLst/>
          </a:prstGeom>
          <a:noFill/>
          <a:ln/>
        </p:spPr>
        <p:txBody>
          <a:bodyPr wrap="square" lIns="0" tIns="0" rIns="0" bIns="0" rtlCol="0" anchor="ctr"/>
          <a:lstStyle/>
          <a:p>
            <a:pPr indent="0" marL="0">
              <a:lnSpc>
                <a:spcPts val="1700"/>
              </a:lnSpc>
              <a:buNone/>
            </a:pPr>
            <a:r>
              <a:rPr lang="en-US" sz="1200" dirty="0">
                <a:solidFill>
                  <a:srgbClr val="1F2430"/>
                </a:solidFill>
                <a:latin typeface="Calibri" pitchFamily="34" charset="0"/>
                <a:ea typeface="Calibri" pitchFamily="34" charset="-122"/>
                <a:cs typeface="Calibri" pitchFamily="34" charset="-120"/>
              </a:rPr>
              <a:t>Property records supply the labelled examples for supervised learning, while location and GIS data are used to derive accessibility features that are not present in the original dataset. These layers feed a single preprocessing and model-training pipeline. Explainability operates on the trained model rather than on the raw data. The web interface is shown for completeness and is not part of the current phase.</a:t>
            </a:r>
            <a:endParaRPr lang="en-US" sz="1200" dirty="0"/>
          </a:p>
        </p:txBody>
      </p:sp>
      <p:sp>
        <p:nvSpPr>
          <p:cNvPr id="31" name="Text 29"/>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18</a:t>
            </a:r>
            <a:endParaRPr lang="en-US" sz="1000" dirty="0"/>
          </a:p>
        </p:txBody>
      </p:sp>
      <p:sp>
        <p:nvSpPr>
          <p:cNvPr id="32" name="Text 30"/>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00" b="1" spc="160" kern="0" dirty="0">
                <a:solidFill>
                  <a:srgbClr val="C2703A"/>
                </a:solidFill>
                <a:latin typeface="Calibri" pitchFamily="34" charset="0"/>
                <a:ea typeface="Calibri" pitchFamily="34" charset="-122"/>
                <a:cs typeface="Calibri" pitchFamily="34" charset="-120"/>
              </a:rPr>
              <a:t>DELIVERABLES</a:t>
            </a:r>
            <a:endParaRPr lang="en-US" sz="1100" dirty="0"/>
          </a:p>
        </p:txBody>
      </p:sp>
      <p:sp>
        <p:nvSpPr>
          <p:cNvPr id="3" name="Text 1"/>
          <p:cNvSpPr/>
          <p:nvPr/>
        </p:nvSpPr>
        <p:spPr>
          <a:xfrm>
            <a:off x="566928" y="566928"/>
            <a:ext cx="11027664" cy="566928"/>
          </a:xfrm>
          <a:prstGeom prst="rect">
            <a:avLst/>
          </a:prstGeom>
          <a:noFill/>
          <a:ln/>
        </p:spPr>
        <p:txBody>
          <a:bodyPr wrap="square" lIns="0" tIns="0" rIns="0" bIns="0" rtlCol="0" anchor="ctr"/>
          <a:lstStyle/>
          <a:p>
            <a:pPr indent="0" marL="0">
              <a:buNone/>
            </a:pPr>
            <a:r>
              <a:rPr lang="en-US" sz="3000" b="1" dirty="0">
                <a:solidFill>
                  <a:srgbClr val="1B365D"/>
                </a:solidFill>
                <a:latin typeface="Cambria" pitchFamily="34" charset="0"/>
                <a:ea typeface="Cambria" pitchFamily="34" charset="-122"/>
                <a:cs typeface="Cambria" pitchFamily="34" charset="-120"/>
              </a:rPr>
              <a:t>Expected Outcome and Future Scope</a:t>
            </a:r>
            <a:endParaRPr lang="en-US" sz="3000" dirty="0"/>
          </a:p>
        </p:txBody>
      </p:sp>
      <p:sp>
        <p:nvSpPr>
          <p:cNvPr id="4" name="Shape 2"/>
          <p:cNvSpPr/>
          <p:nvPr/>
        </p:nvSpPr>
        <p:spPr>
          <a:xfrm>
            <a:off x="566928" y="1389888"/>
            <a:ext cx="5394960" cy="4480560"/>
          </a:xfrm>
          <a:prstGeom prst="roundRect">
            <a:avLst>
              <a:gd name="adj" fmla="val 1224"/>
            </a:avLst>
          </a:prstGeom>
          <a:solidFill>
            <a:srgbClr val="F4F6F9"/>
          </a:solidFill>
          <a:ln w="12700">
            <a:solidFill>
              <a:srgbClr val="D6DCE5"/>
            </a:solidFill>
            <a:prstDash val="solid"/>
          </a:ln>
        </p:spPr>
      </p:sp>
      <p:sp>
        <p:nvSpPr>
          <p:cNvPr id="5" name="Text 3"/>
          <p:cNvSpPr/>
          <p:nvPr/>
        </p:nvSpPr>
        <p:spPr>
          <a:xfrm>
            <a:off x="822960" y="1591056"/>
            <a:ext cx="4846320" cy="292608"/>
          </a:xfrm>
          <a:prstGeom prst="rect">
            <a:avLst/>
          </a:prstGeom>
          <a:noFill/>
          <a:ln/>
        </p:spPr>
        <p:txBody>
          <a:bodyPr wrap="square" lIns="0" tIns="0" rIns="0" bIns="0" rtlCol="0" anchor="ctr"/>
          <a:lstStyle/>
          <a:p>
            <a:pPr indent="0" marL="0">
              <a:buNone/>
            </a:pPr>
            <a:r>
              <a:rPr lang="en-US" sz="1600" b="1" dirty="0">
                <a:solidFill>
                  <a:srgbClr val="1B365D"/>
                </a:solidFill>
                <a:latin typeface="Cambria" pitchFamily="34" charset="0"/>
                <a:ea typeface="Cambria" pitchFamily="34" charset="-122"/>
                <a:cs typeface="Cambria" pitchFamily="34" charset="-120"/>
              </a:rPr>
              <a:t>Expected Outcome</a:t>
            </a:r>
            <a:endParaRPr lang="en-US" sz="1600" dirty="0"/>
          </a:p>
        </p:txBody>
      </p:sp>
      <p:sp>
        <p:nvSpPr>
          <p:cNvPr id="6" name="Shape 4"/>
          <p:cNvSpPr/>
          <p:nvPr/>
        </p:nvSpPr>
        <p:spPr>
          <a:xfrm>
            <a:off x="822960" y="2048256"/>
            <a:ext cx="329184" cy="329184"/>
          </a:xfrm>
          <a:prstGeom prst="ellipse">
            <a:avLst/>
          </a:prstGeom>
          <a:solidFill>
            <a:srgbClr val="1B365D"/>
          </a:solidFill>
          <a:ln w="12700">
            <a:solidFill>
              <a:srgbClr val="1B365D"/>
            </a:solidFill>
            <a:prstDash val="solid"/>
          </a:ln>
        </p:spPr>
      </p:sp>
      <p:sp>
        <p:nvSpPr>
          <p:cNvPr id="7" name="Text 5"/>
          <p:cNvSpPr/>
          <p:nvPr/>
        </p:nvSpPr>
        <p:spPr>
          <a:xfrm>
            <a:off x="822960" y="20482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0160" y="2020824"/>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cleaned and statistically analysed property dataset</a:t>
            </a:r>
            <a:endParaRPr lang="en-US" sz="1180" dirty="0"/>
          </a:p>
        </p:txBody>
      </p:sp>
      <p:sp>
        <p:nvSpPr>
          <p:cNvPr id="9" name="Shape 7"/>
          <p:cNvSpPr/>
          <p:nvPr/>
        </p:nvSpPr>
        <p:spPr>
          <a:xfrm>
            <a:off x="822960" y="2651760"/>
            <a:ext cx="329184" cy="329184"/>
          </a:xfrm>
          <a:prstGeom prst="ellipse">
            <a:avLst/>
          </a:prstGeom>
          <a:solidFill>
            <a:srgbClr val="1B365D"/>
          </a:solidFill>
          <a:ln w="12700">
            <a:solidFill>
              <a:srgbClr val="1B365D"/>
            </a:solidFill>
            <a:prstDash val="solid"/>
          </a:ln>
        </p:spPr>
      </p:sp>
      <p:sp>
        <p:nvSpPr>
          <p:cNvPr id="10" name="Text 8"/>
          <p:cNvSpPr/>
          <p:nvPr/>
        </p:nvSpPr>
        <p:spPr>
          <a:xfrm>
            <a:off x="822960" y="2651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80160" y="2624328"/>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documented set of property and location features</a:t>
            </a:r>
            <a:endParaRPr lang="en-US" sz="1180" dirty="0"/>
          </a:p>
        </p:txBody>
      </p:sp>
      <p:sp>
        <p:nvSpPr>
          <p:cNvPr id="12" name="Shape 10"/>
          <p:cNvSpPr/>
          <p:nvPr/>
        </p:nvSpPr>
        <p:spPr>
          <a:xfrm>
            <a:off x="822960" y="3255264"/>
            <a:ext cx="329184" cy="329184"/>
          </a:xfrm>
          <a:prstGeom prst="ellipse">
            <a:avLst/>
          </a:prstGeom>
          <a:solidFill>
            <a:srgbClr val="1B365D"/>
          </a:solidFill>
          <a:ln w="12700">
            <a:solidFill>
              <a:srgbClr val="1B365D"/>
            </a:solidFill>
            <a:prstDash val="solid"/>
          </a:ln>
        </p:spPr>
      </p:sp>
      <p:sp>
        <p:nvSpPr>
          <p:cNvPr id="13" name="Text 11"/>
          <p:cNvSpPr/>
          <p:nvPr/>
        </p:nvSpPr>
        <p:spPr>
          <a:xfrm>
            <a:off x="82296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80160" y="3227832"/>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comparison of four regression algorithms under a common evaluation protocol</a:t>
            </a:r>
            <a:endParaRPr lang="en-US" sz="1180" dirty="0"/>
          </a:p>
        </p:txBody>
      </p:sp>
      <p:sp>
        <p:nvSpPr>
          <p:cNvPr id="15" name="Shape 13"/>
          <p:cNvSpPr/>
          <p:nvPr/>
        </p:nvSpPr>
        <p:spPr>
          <a:xfrm>
            <a:off x="822960" y="3858768"/>
            <a:ext cx="329184" cy="329184"/>
          </a:xfrm>
          <a:prstGeom prst="ellipse">
            <a:avLst/>
          </a:prstGeom>
          <a:solidFill>
            <a:srgbClr val="1B365D"/>
          </a:solidFill>
          <a:ln w="12700">
            <a:solidFill>
              <a:srgbClr val="1B365D"/>
            </a:solidFill>
            <a:prstDash val="solid"/>
          </a:ln>
        </p:spPr>
      </p:sp>
      <p:sp>
        <p:nvSpPr>
          <p:cNvPr id="16" name="Text 14"/>
          <p:cNvSpPr/>
          <p:nvPr/>
        </p:nvSpPr>
        <p:spPr>
          <a:xfrm>
            <a:off x="822960" y="3858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280160" y="3831336"/>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Reported performance using MAE, RMSE and R²</a:t>
            </a:r>
            <a:endParaRPr lang="en-US" sz="1180" dirty="0"/>
          </a:p>
        </p:txBody>
      </p:sp>
      <p:sp>
        <p:nvSpPr>
          <p:cNvPr id="18" name="Shape 16"/>
          <p:cNvSpPr/>
          <p:nvPr/>
        </p:nvSpPr>
        <p:spPr>
          <a:xfrm>
            <a:off x="822960" y="4462272"/>
            <a:ext cx="329184" cy="329184"/>
          </a:xfrm>
          <a:prstGeom prst="ellipse">
            <a:avLst/>
          </a:prstGeom>
          <a:solidFill>
            <a:srgbClr val="1B365D"/>
          </a:solidFill>
          <a:ln w="12700">
            <a:solidFill>
              <a:srgbClr val="1B365D"/>
            </a:solidFill>
            <a:prstDash val="solid"/>
          </a:ln>
        </p:spPr>
      </p:sp>
      <p:sp>
        <p:nvSpPr>
          <p:cNvPr id="19" name="Text 17"/>
          <p:cNvSpPr/>
          <p:nvPr/>
        </p:nvSpPr>
        <p:spPr>
          <a:xfrm>
            <a:off x="822960" y="44622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280160" y="4434840"/>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A selected model for property price prediction</a:t>
            </a:r>
            <a:endParaRPr lang="en-US" sz="1180" dirty="0"/>
          </a:p>
        </p:txBody>
      </p:sp>
      <p:sp>
        <p:nvSpPr>
          <p:cNvPr id="21" name="Shape 19"/>
          <p:cNvSpPr/>
          <p:nvPr/>
        </p:nvSpPr>
        <p:spPr>
          <a:xfrm>
            <a:off x="822960" y="5065776"/>
            <a:ext cx="329184" cy="329184"/>
          </a:xfrm>
          <a:prstGeom prst="ellipse">
            <a:avLst/>
          </a:prstGeom>
          <a:solidFill>
            <a:srgbClr val="1B365D"/>
          </a:solidFill>
          <a:ln w="12700">
            <a:solidFill>
              <a:srgbClr val="1B365D"/>
            </a:solidFill>
            <a:prstDash val="solid"/>
          </a:ln>
        </p:spPr>
      </p:sp>
      <p:sp>
        <p:nvSpPr>
          <p:cNvPr id="22" name="Text 20"/>
          <p:cNvSpPr/>
          <p:nvPr/>
        </p:nvSpPr>
        <p:spPr>
          <a:xfrm>
            <a:off x="822960" y="50657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280160" y="5038344"/>
            <a:ext cx="4572000" cy="45720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Interpretable information on the features influencing predictions</a:t>
            </a:r>
            <a:endParaRPr lang="en-US" sz="1180" dirty="0"/>
          </a:p>
        </p:txBody>
      </p:sp>
      <p:sp>
        <p:nvSpPr>
          <p:cNvPr id="24" name="Shape 22"/>
          <p:cNvSpPr/>
          <p:nvPr/>
        </p:nvSpPr>
        <p:spPr>
          <a:xfrm>
            <a:off x="6272784" y="1389888"/>
            <a:ext cx="5321808" cy="4480560"/>
          </a:xfrm>
          <a:prstGeom prst="roundRect">
            <a:avLst>
              <a:gd name="adj" fmla="val 1224"/>
            </a:avLst>
          </a:prstGeom>
          <a:solidFill>
            <a:srgbClr val="FDF6EF"/>
          </a:solidFill>
          <a:ln w="12700">
            <a:solidFill>
              <a:srgbClr val="D6DCE5"/>
            </a:solidFill>
            <a:prstDash val="solid"/>
          </a:ln>
        </p:spPr>
      </p:sp>
      <p:sp>
        <p:nvSpPr>
          <p:cNvPr id="25" name="Text 23"/>
          <p:cNvSpPr/>
          <p:nvPr/>
        </p:nvSpPr>
        <p:spPr>
          <a:xfrm>
            <a:off x="6528816" y="1591056"/>
            <a:ext cx="4846320" cy="292608"/>
          </a:xfrm>
          <a:prstGeom prst="rect">
            <a:avLst/>
          </a:prstGeom>
          <a:noFill/>
          <a:ln/>
        </p:spPr>
        <p:txBody>
          <a:bodyPr wrap="square" lIns="0" tIns="0" rIns="0" bIns="0" rtlCol="0" anchor="ctr"/>
          <a:lstStyle/>
          <a:p>
            <a:pPr indent="0" marL="0">
              <a:buNone/>
            </a:pPr>
            <a:r>
              <a:rPr lang="en-US" sz="1600" b="1" dirty="0">
                <a:solidFill>
                  <a:srgbClr val="C2703A"/>
                </a:solidFill>
                <a:latin typeface="Cambria" pitchFamily="34" charset="0"/>
                <a:ea typeface="Cambria" pitchFamily="34" charset="-122"/>
                <a:cs typeface="Cambria" pitchFamily="34" charset="-120"/>
              </a:rPr>
              <a:t>Future Scope</a:t>
            </a:r>
            <a:endParaRPr lang="en-US" sz="1600" dirty="0"/>
          </a:p>
        </p:txBody>
      </p:sp>
      <p:sp>
        <p:nvSpPr>
          <p:cNvPr id="26" name="Text 24"/>
          <p:cNvSpPr/>
          <p:nvPr/>
        </p:nvSpPr>
        <p:spPr>
          <a:xfrm>
            <a:off x="6528816" y="2048256"/>
            <a:ext cx="4864608" cy="310896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GIS integration for accessibility and boundary-based features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Incorporation of updated property information</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Development of a web-based application interface</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Decision support for prospective buyers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Investment and appreciation analysis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Development feasibility analysis for builders</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Extension of the methodology to an additional city, with a separately trained model</a:t>
            </a:r>
            <a:endParaRPr lang="en-US" sz="1220" dirty="0"/>
          </a:p>
          <a:p>
            <a:pPr marL="342900" indent="-342900">
              <a:lnSpc>
                <a:spcPts val="1600"/>
              </a:lnSpc>
              <a:spcAft>
                <a:spcPts val="900"/>
              </a:spcAft>
              <a:buSzPct val="100000"/>
              <a:buChar char="•"/>
            </a:pPr>
            <a:r>
              <a:rPr lang="en-US" sz="1220" dirty="0">
                <a:solidFill>
                  <a:srgbClr val="1F2430"/>
                </a:solidFill>
                <a:latin typeface="Calibri" pitchFamily="34" charset="0"/>
                <a:ea typeface="Calibri" pitchFamily="34" charset="-122"/>
                <a:cs typeface="Calibri" pitchFamily="34" charset="-120"/>
              </a:rPr>
              <a:t>Additional urban and location intelligence layers</a:t>
            </a:r>
            <a:endParaRPr lang="en-US" sz="1220" dirty="0"/>
          </a:p>
        </p:txBody>
      </p:sp>
      <p:sp>
        <p:nvSpPr>
          <p:cNvPr id="27" name="Text 25"/>
          <p:cNvSpPr/>
          <p:nvPr/>
        </p:nvSpPr>
        <p:spPr>
          <a:xfrm>
            <a:off x="6528816" y="5358384"/>
            <a:ext cx="4864608" cy="365760"/>
          </a:xfrm>
          <a:prstGeom prst="rect">
            <a:avLst/>
          </a:prstGeom>
          <a:noFill/>
          <a:ln/>
        </p:spPr>
        <p:txBody>
          <a:bodyPr wrap="square" lIns="0" tIns="0" rIns="0" bIns="0" rtlCol="0" anchor="ctr"/>
          <a:lstStyle/>
          <a:p>
            <a:pPr indent="0" marL="0">
              <a:buNone/>
            </a:pPr>
            <a:r>
              <a:rPr lang="en-US" sz="1080" i="1" dirty="0">
                <a:solidFill>
                  <a:srgbClr val="5C6675"/>
                </a:solidFill>
                <a:latin typeface="Calibri" pitchFamily="34" charset="0"/>
                <a:ea typeface="Calibri" pitchFamily="34" charset="-122"/>
                <a:cs typeface="Calibri" pitchFamily="34" charset="-120"/>
              </a:rPr>
              <a:t>These components are proposed for subsequent phases and are not implemented at this stage.</a:t>
            </a:r>
            <a:endParaRPr lang="en-US" sz="1080" dirty="0"/>
          </a:p>
        </p:txBody>
      </p:sp>
      <p:sp>
        <p:nvSpPr>
          <p:cNvPr id="28" name="Text 26"/>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19</a:t>
            </a:r>
            <a:endParaRPr lang="en-US" sz="1000" dirty="0"/>
          </a:p>
        </p:txBody>
      </p:sp>
      <p:sp>
        <p:nvSpPr>
          <p:cNvPr id="29" name="Text 27"/>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10241280" y="-1097280"/>
            <a:ext cx="3474720" cy="3474720"/>
          </a:xfrm>
          <a:prstGeom prst="ellipse">
            <a:avLst/>
          </a:prstGeom>
          <a:solidFill>
            <a:srgbClr val="12243F"/>
          </a:solidFill>
          <a:ln w="12700">
            <a:solidFill>
              <a:srgbClr val="12243F"/>
            </a:solidFill>
            <a:prstDash val="solid"/>
          </a:ln>
        </p:spPr>
      </p:sp>
      <p:sp>
        <p:nvSpPr>
          <p:cNvPr id="3" name="Text 1"/>
          <p:cNvSpPr/>
          <p:nvPr/>
        </p:nvSpPr>
        <p:spPr>
          <a:xfrm>
            <a:off x="566928" y="841248"/>
            <a:ext cx="8229600" cy="274320"/>
          </a:xfrm>
          <a:prstGeom prst="rect">
            <a:avLst/>
          </a:prstGeom>
          <a:noFill/>
          <a:ln/>
        </p:spPr>
        <p:txBody>
          <a:bodyPr wrap="square" lIns="0" tIns="0" rIns="0" bIns="0" rtlCol="0" anchor="ctr"/>
          <a:lstStyle/>
          <a:p>
            <a:pPr indent="0" marL="0">
              <a:buNone/>
            </a:pPr>
            <a:r>
              <a:rPr lang="en-US" sz="1150" b="1" spc="180" kern="0" dirty="0">
                <a:solidFill>
                  <a:srgbClr val="E8B98C"/>
                </a:solidFill>
                <a:latin typeface="Calibri" pitchFamily="34" charset="0"/>
                <a:ea typeface="Calibri" pitchFamily="34" charset="-122"/>
                <a:cs typeface="Calibri" pitchFamily="34" charset="-120"/>
              </a:rPr>
              <a:t>CONCLUSION</a:t>
            </a:r>
            <a:endParaRPr lang="en-US" sz="1150" dirty="0"/>
          </a:p>
        </p:txBody>
      </p:sp>
      <p:sp>
        <p:nvSpPr>
          <p:cNvPr id="4" name="Text 2"/>
          <p:cNvSpPr/>
          <p:nvPr/>
        </p:nvSpPr>
        <p:spPr>
          <a:xfrm>
            <a:off x="566928" y="1170432"/>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66928" y="1975104"/>
            <a:ext cx="10424160" cy="1005840"/>
          </a:xfrm>
          <a:prstGeom prst="rect">
            <a:avLst/>
          </a:prstGeom>
          <a:noFill/>
          <a:ln/>
        </p:spPr>
        <p:txBody>
          <a:bodyPr wrap="square" lIns="0" tIns="0" rIns="0" bIns="0" rtlCol="0" anchor="ctr"/>
          <a:lstStyle/>
          <a:p>
            <a:pPr indent="0" marL="0">
              <a:lnSpc>
                <a:spcPts val="2300"/>
              </a:lnSpc>
              <a:buNone/>
            </a:pPr>
            <a:r>
              <a:rPr lang="en-US" sz="1450" dirty="0">
                <a:solidFill>
                  <a:srgbClr val="D6E0EE"/>
                </a:solidFill>
                <a:latin typeface="Calibri" pitchFamily="34" charset="0"/>
                <a:ea typeface="Calibri" pitchFamily="34" charset="-122"/>
                <a:cs typeface="Calibri" pitchFamily="34" charset="-120"/>
              </a:rPr>
              <a:t>The project addresses the problem of residential property price estimation using machine learning. The work carried out in this phase focuses on understanding the dataset through statistical analysis and exploratory data analysis, identifying the variables relevant to the target, and defining a regression-based machine learning methodology.</a:t>
            </a:r>
            <a:endParaRPr lang="en-US" sz="1450" dirty="0"/>
          </a:p>
        </p:txBody>
      </p:sp>
      <p:sp>
        <p:nvSpPr>
          <p:cNvPr id="6" name="Text 4"/>
          <p:cNvSpPr/>
          <p:nvPr/>
        </p:nvSpPr>
        <p:spPr>
          <a:xfrm>
            <a:off x="566928" y="3072384"/>
            <a:ext cx="10424160" cy="1097280"/>
          </a:xfrm>
          <a:prstGeom prst="rect">
            <a:avLst/>
          </a:prstGeom>
          <a:noFill/>
          <a:ln/>
        </p:spPr>
        <p:txBody>
          <a:bodyPr wrap="square" lIns="0" tIns="0" rIns="0" bIns="0" rtlCol="0" anchor="ctr"/>
          <a:lstStyle/>
          <a:p>
            <a:pPr indent="0" marL="0">
              <a:lnSpc>
                <a:spcPts val="2300"/>
              </a:lnSpc>
              <a:buNone/>
            </a:pPr>
            <a:r>
              <a:rPr lang="en-US" sz="1450" dirty="0">
                <a:solidFill>
                  <a:srgbClr val="D6E0EE"/>
                </a:solidFill>
                <a:latin typeface="Calibri" pitchFamily="34" charset="0"/>
                <a:ea typeface="Calibri" pitchFamily="34" charset="-122"/>
                <a:cs typeface="Calibri" pitchFamily="34" charset="-120"/>
              </a:rPr>
              <a:t>The analysis indicates that the target variable is positively skewed and that no single numerical attribute is strongly correlated with price, which supports the use of multivariate, non-linear regression models. The next stages will involve feature engineering, model development, comparison and evaluation, followed by integration into the proposed application.</a:t>
            </a:r>
            <a:endParaRPr lang="en-US" sz="1450" dirty="0"/>
          </a:p>
        </p:txBody>
      </p:sp>
      <p:sp>
        <p:nvSpPr>
          <p:cNvPr id="7" name="Shape 5"/>
          <p:cNvSpPr/>
          <p:nvPr/>
        </p:nvSpPr>
        <p:spPr>
          <a:xfrm>
            <a:off x="566928" y="4572000"/>
            <a:ext cx="2048256" cy="658368"/>
          </a:xfrm>
          <a:prstGeom prst="roundRect">
            <a:avLst>
              <a:gd name="adj" fmla="val 6944"/>
            </a:avLst>
          </a:prstGeom>
          <a:solidFill>
            <a:srgbClr val="12243F"/>
          </a:solidFill>
          <a:ln w="15240">
            <a:solidFill>
              <a:srgbClr val="35507A"/>
            </a:solidFill>
            <a:prstDash val="solid"/>
          </a:ln>
        </p:spPr>
      </p:sp>
      <p:sp>
        <p:nvSpPr>
          <p:cNvPr id="8" name="Text 6"/>
          <p:cNvSpPr/>
          <p:nvPr/>
        </p:nvSpPr>
        <p:spPr>
          <a:xfrm>
            <a:off x="621792"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Property Data</a:t>
            </a:r>
            <a:endParaRPr lang="en-US" sz="1150" dirty="0"/>
          </a:p>
        </p:txBody>
      </p:sp>
      <p:sp>
        <p:nvSpPr>
          <p:cNvPr id="9" name="Text 7"/>
          <p:cNvSpPr/>
          <p:nvPr/>
        </p:nvSpPr>
        <p:spPr>
          <a:xfrm>
            <a:off x="2615184"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2834640" y="4572000"/>
            <a:ext cx="2048256" cy="658368"/>
          </a:xfrm>
          <a:prstGeom prst="roundRect">
            <a:avLst>
              <a:gd name="adj" fmla="val 6944"/>
            </a:avLst>
          </a:prstGeom>
          <a:solidFill>
            <a:srgbClr val="12243F"/>
          </a:solidFill>
          <a:ln w="15240">
            <a:solidFill>
              <a:srgbClr val="35507A"/>
            </a:solidFill>
            <a:prstDash val="solid"/>
          </a:ln>
        </p:spPr>
      </p:sp>
      <p:sp>
        <p:nvSpPr>
          <p:cNvPr id="11" name="Text 9"/>
          <p:cNvSpPr/>
          <p:nvPr/>
        </p:nvSpPr>
        <p:spPr>
          <a:xfrm>
            <a:off x="2889504"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Statistical Analysis</a:t>
            </a:r>
            <a:endParaRPr lang="en-US" sz="1150" dirty="0"/>
          </a:p>
        </p:txBody>
      </p:sp>
      <p:sp>
        <p:nvSpPr>
          <p:cNvPr id="12" name="Text 10"/>
          <p:cNvSpPr/>
          <p:nvPr/>
        </p:nvSpPr>
        <p:spPr>
          <a:xfrm>
            <a:off x="4882896"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5102352" y="4572000"/>
            <a:ext cx="2048256" cy="658368"/>
          </a:xfrm>
          <a:prstGeom prst="roundRect">
            <a:avLst>
              <a:gd name="adj" fmla="val 6944"/>
            </a:avLst>
          </a:prstGeom>
          <a:solidFill>
            <a:srgbClr val="FFFFFF"/>
          </a:solidFill>
          <a:ln w="15240">
            <a:solidFill>
              <a:srgbClr val="FFFFFF"/>
            </a:solidFill>
            <a:prstDash val="solid"/>
          </a:ln>
        </p:spPr>
      </p:sp>
      <p:sp>
        <p:nvSpPr>
          <p:cNvPr id="14" name="Text 12"/>
          <p:cNvSpPr/>
          <p:nvPr/>
        </p:nvSpPr>
        <p:spPr>
          <a:xfrm>
            <a:off x="5157216" y="4572000"/>
            <a:ext cx="1938528" cy="658368"/>
          </a:xfrm>
          <a:prstGeom prst="rect">
            <a:avLst/>
          </a:prstGeom>
          <a:noFill/>
          <a:ln/>
        </p:spPr>
        <p:txBody>
          <a:bodyPr wrap="square" lIns="0" tIns="0" rIns="0" bIns="0" rtlCol="0" anchor="ctr"/>
          <a:lstStyle/>
          <a:p>
            <a:pPr algn="ctr" indent="0" marL="0">
              <a:buNone/>
            </a:pPr>
            <a:r>
              <a:rPr lang="en-US" sz="1150" b="1" dirty="0">
                <a:solidFill>
                  <a:srgbClr val="1B365D"/>
                </a:solidFill>
                <a:latin typeface="Calibri" pitchFamily="34" charset="0"/>
                <a:ea typeface="Calibri" pitchFamily="34" charset="-122"/>
                <a:cs typeface="Calibri" pitchFamily="34" charset="-120"/>
              </a:rPr>
              <a:t>Machine Learning</a:t>
            </a:r>
            <a:endParaRPr lang="en-US" sz="1150" dirty="0"/>
          </a:p>
        </p:txBody>
      </p:sp>
      <p:sp>
        <p:nvSpPr>
          <p:cNvPr id="15" name="Text 13"/>
          <p:cNvSpPr/>
          <p:nvPr/>
        </p:nvSpPr>
        <p:spPr>
          <a:xfrm>
            <a:off x="7150608"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7370064" y="4572000"/>
            <a:ext cx="2048256" cy="658368"/>
          </a:xfrm>
          <a:prstGeom prst="roundRect">
            <a:avLst>
              <a:gd name="adj" fmla="val 6944"/>
            </a:avLst>
          </a:prstGeom>
          <a:solidFill>
            <a:srgbClr val="12243F"/>
          </a:solidFill>
          <a:ln w="15240">
            <a:solidFill>
              <a:srgbClr val="35507A"/>
            </a:solidFill>
            <a:prstDash val="solid"/>
          </a:ln>
        </p:spPr>
      </p:sp>
      <p:sp>
        <p:nvSpPr>
          <p:cNvPr id="17" name="Text 15"/>
          <p:cNvSpPr/>
          <p:nvPr/>
        </p:nvSpPr>
        <p:spPr>
          <a:xfrm>
            <a:off x="7424928"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Prediction</a:t>
            </a:r>
            <a:endParaRPr lang="en-US" sz="1150" dirty="0"/>
          </a:p>
        </p:txBody>
      </p:sp>
      <p:sp>
        <p:nvSpPr>
          <p:cNvPr id="18" name="Text 16"/>
          <p:cNvSpPr/>
          <p:nvPr/>
        </p:nvSpPr>
        <p:spPr>
          <a:xfrm>
            <a:off x="9418320" y="4572000"/>
            <a:ext cx="219456" cy="658368"/>
          </a:xfrm>
          <a:prstGeom prst="rect">
            <a:avLst/>
          </a:prstGeom>
          <a:noFill/>
          <a:ln/>
        </p:spPr>
        <p:txBody>
          <a:bodyPr wrap="square" lIns="0" tIns="0" rIns="0" bIns="0" rtlCol="0" anchor="ctr"/>
          <a:lstStyle/>
          <a:p>
            <a:pPr algn="ctr" indent="0" marL="0">
              <a:buNone/>
            </a:pPr>
            <a:r>
              <a:rPr lang="en-US" sz="1700" dirty="0">
                <a:solidFill>
                  <a:srgbClr val="6E86AC"/>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9637776" y="4572000"/>
            <a:ext cx="2048256" cy="658368"/>
          </a:xfrm>
          <a:prstGeom prst="roundRect">
            <a:avLst>
              <a:gd name="adj" fmla="val 6944"/>
            </a:avLst>
          </a:prstGeom>
          <a:solidFill>
            <a:srgbClr val="12243F"/>
          </a:solidFill>
          <a:ln w="15240">
            <a:solidFill>
              <a:srgbClr val="35507A"/>
            </a:solidFill>
            <a:prstDash val="solid"/>
          </a:ln>
        </p:spPr>
      </p:sp>
      <p:sp>
        <p:nvSpPr>
          <p:cNvPr id="20" name="Text 18"/>
          <p:cNvSpPr/>
          <p:nvPr/>
        </p:nvSpPr>
        <p:spPr>
          <a:xfrm>
            <a:off x="9692640" y="4572000"/>
            <a:ext cx="1938528" cy="658368"/>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Explainability</a:t>
            </a:r>
            <a:endParaRPr lang="en-US" sz="1150" dirty="0"/>
          </a:p>
        </p:txBody>
      </p:sp>
      <p:sp>
        <p:nvSpPr>
          <p:cNvPr id="21" name="Text 19"/>
          <p:cNvSpPr/>
          <p:nvPr/>
        </p:nvSpPr>
        <p:spPr>
          <a:xfrm>
            <a:off x="566928" y="5632704"/>
            <a:ext cx="457200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22" name="Text 20"/>
          <p:cNvSpPr/>
          <p:nvPr/>
        </p:nvSpPr>
        <p:spPr>
          <a:xfrm>
            <a:off x="11045952" y="6419088"/>
            <a:ext cx="548640" cy="256032"/>
          </a:xfrm>
          <a:prstGeom prst="rect">
            <a:avLst/>
          </a:prstGeom>
          <a:noFill/>
          <a:ln/>
        </p:spPr>
        <p:txBody>
          <a:bodyPr wrap="square" lIns="0" tIns="0" rIns="0" bIns="0" rtlCol="0" anchor="ctr"/>
          <a:lstStyle/>
          <a:p>
            <a:pPr algn="r" indent="0" marL="0">
              <a:buNone/>
            </a:pPr>
            <a:r>
              <a:rPr lang="en-US" sz="1000" dirty="0">
                <a:solidFill>
                  <a:srgbClr val="5C6675"/>
                </a:solidFill>
                <a:latin typeface="Calibri" pitchFamily="34" charset="0"/>
                <a:ea typeface="Calibri" pitchFamily="34" charset="-122"/>
                <a:cs typeface="Calibri" pitchFamily="34" charset="-120"/>
              </a:rPr>
              <a:t>20</a:t>
            </a:r>
            <a:endParaRPr lang="en-US" sz="1000" dirty="0"/>
          </a:p>
        </p:txBody>
      </p:sp>
      <p:sp>
        <p:nvSpPr>
          <p:cNvPr id="23" name="Text 21"/>
          <p:cNvSpPr/>
          <p:nvPr/>
        </p:nvSpPr>
        <p:spPr>
          <a:xfrm>
            <a:off x="566928" y="6419088"/>
            <a:ext cx="7315200" cy="256032"/>
          </a:xfrm>
          <a:prstGeom prst="rect">
            <a:avLst/>
          </a:prstGeom>
          <a:noFill/>
          <a:ln/>
        </p:spPr>
        <p:txBody>
          <a:bodyPr wrap="square" lIns="0" tIns="0" rIns="0" bIns="0" rtlCol="0" anchor="ctr"/>
          <a:lstStyle/>
          <a:p>
            <a:pPr indent="0" marL="0">
              <a:buNone/>
            </a:pPr>
            <a:r>
              <a:rPr lang="en-US" sz="1000" dirty="0">
                <a:solidFill>
                  <a:srgbClr val="5C6675"/>
                </a:solidFill>
                <a:latin typeface="Calibri" pitchFamily="34" charset="0"/>
                <a:ea typeface="Calibri" pitchFamily="34" charset="-122"/>
                <a:cs typeface="Calibri" pitchFamily="34" charset="-120"/>
              </a:rPr>
              <a:t>Project Review 1  ·  B.Tech CSE (AI &amp; ML)  ·  SRMIST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Bengaluru AI Property &amp; Urban Intelligence Platform — Review 1</dc:title>
  <dc:subject>PptxGenJS Presentation</dc:subject>
  <dc:creator>UJWAL M</dc:creator>
  <cp:lastModifiedBy>UJWAL M</cp:lastModifiedBy>
  <cp:revision>1</cp:revision>
  <dcterms:created xsi:type="dcterms:W3CDTF">2026-08-10T19:50:51Z</dcterms:created>
  <dcterms:modified xsi:type="dcterms:W3CDTF">2026-08-10T19:50:51Z</dcterms:modified>
</cp:coreProperties>
</file>